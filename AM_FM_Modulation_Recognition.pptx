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70" autoAdjust="0"/>
  </p:normalViewPr>
  <p:slideViewPr>
    <p:cSldViewPr snapToGrid="0" snapToObjects="1">
      <p:cViewPr varScale="1">
        <p:scale>
          <a:sx n="69" d="100"/>
          <a:sy n="69" d="100"/>
        </p:scale>
        <p:origin x="120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14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欢迎各位！今天我将为大家介绍基于2D CNN的AM/FM调制方式识别系统。这是一个将深度学习应用于无线通信信号处理的项目。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本次演讲将从以下几个方面展开：</a:t>
            </a:r>
          </a:p>
          <a:p>
            <a:r>
              <a:rPr lang="zh-CN" dirty="0"/>
              <a:t>• 首先介绍研究背景和目标</a:t>
            </a:r>
          </a:p>
          <a:p>
            <a:r>
              <a:rPr lang="zh-CN" dirty="0"/>
              <a:t>• 然后详细讲解系统架构和信号处理方法</a:t>
            </a:r>
          </a:p>
          <a:p>
            <a:r>
              <a:rPr lang="zh-CN" dirty="0"/>
              <a:t>• 接着介绍我们设计的2D CNN模型</a:t>
            </a:r>
          </a:p>
          <a:p>
            <a:r>
              <a:rPr lang="zh-CN" dirty="0"/>
              <a:t>• 最后展示实验结果和未来展望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自动调制识别（AMR）是无线通信信号检测与分类的核心技术。AM和FM是两种最基本的模拟调制方式，广泛应用于广播、电视等领域。</a:t>
            </a:r>
          </a:p>
          <a:p>
            <a:endParaRPr lang="zh-CN" dirty="0"/>
          </a:p>
          <a:p>
            <a:r>
              <a:rPr lang="zh-CN" dirty="0"/>
              <a:t>传统方法依赖人工特征提取，需要领域专家知识，泛化能力有限。而深度学习方法可以自动学习特征，无需人工设计，具有更强的泛化能力。</a:t>
            </a:r>
          </a:p>
          <a:p>
            <a:endParaRPr lang="zh-CN" dirty="0"/>
          </a:p>
          <a:p>
            <a:r>
              <a:rPr lang="zh-CN" dirty="0"/>
              <a:t>我们的核心思路是：将1D时间序列通过STFT转换为2D频谱图，然后利用CNN进行分类识别。</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我们的研究目标有四个方面：</a:t>
            </a:r>
          </a:p>
          <a:p>
            <a:r>
              <a:rPr lang="zh-CN" dirty="0"/>
              <a:t>1. 创新信号表示方法，将1D信号转换为2D频谱图</a:t>
            </a:r>
          </a:p>
          <a:p>
            <a:r>
              <a:rPr lang="zh-CN" dirty="0"/>
              <a:t>2. 设计高效的2D CNN识别模型，包含4层卷积和自适应池化</a:t>
            </a:r>
          </a:p>
          <a:p>
            <a:r>
              <a:rPr lang="zh-CN" dirty="0"/>
              <a:t>3. 评估模型在不同信噪比条件下的性能</a:t>
            </a:r>
          </a:p>
          <a:p>
            <a:r>
              <a:rPr lang="zh-CN" dirty="0"/>
              <a:t>4. 构建交互式Web演示系统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72A"/>
              </a:gs>
              <a:gs pos="50000">
                <a:srgbClr val="1E293B"/>
              </a:gs>
              <a:gs pos="100000">
                <a:srgbClr val="0B1120"/>
              </a:gs>
            </a:gsLst>
            <a:lin ang="2700000" scaled="1"/>
          </a:gradFill>
          <a:ln>
            <a:noFill/>
          </a:ln>
        </p:spPr>
      </p:sp>
      <p:sp>
        <p:nvSpPr>
          <p:cNvPr id="3" name="Rectangle 3"/>
          <p:cNvSpPr/>
          <p:nvPr/>
        </p:nvSpPr>
        <p:spPr>
          <a:xfrm>
            <a:off x="0" y="0"/>
            <a:ext cx="12192000" cy="6858000"/>
          </a:xfrm>
          <a:prstGeom prst="rect">
            <a:avLst/>
          </a:prstGeom>
          <a:gradFill>
            <a:gsLst>
              <a:gs pos="0">
                <a:srgbClr val="38BDF8">
                  <a:alpha val="15000"/>
                </a:srgbClr>
              </a:gs>
              <a:gs pos="100000">
                <a:srgbClr val="38BDF8">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818CF8">
                  <a:alpha val="12000"/>
                </a:srgbClr>
              </a:gs>
              <a:gs pos="100000">
                <a:srgbClr val="818CF8">
                  <a:alpha val="0"/>
                </a:srgbClr>
              </a:gs>
            </a:gsLst>
            <a:path path="circle">
              <a:fillToRect l="50000" t="50000" r="50000" b="50000"/>
            </a:path>
          </a:gradFill>
          <a:ln>
            <a:noFill/>
          </a:ln>
        </p:spPr>
      </p:sp>
      <p:sp>
        <p:nvSpPr>
          <p:cNvPr id="5" name="Rectangle 5"/>
          <p:cNvSpPr/>
          <p:nvPr/>
        </p:nvSpPr>
        <p:spPr>
          <a:xfrm>
            <a:off x="0" y="0"/>
            <a:ext cx="12192000" cy="6858000"/>
          </a:xfrm>
          <a:prstGeom prst="rect">
            <a:avLst/>
          </a:prstGeom>
          <a:gradFill>
            <a:gsLst>
              <a:gs pos="0">
                <a:srgbClr val="C084FC">
                  <a:alpha val="8000"/>
                </a:srgbClr>
              </a:gs>
              <a:gs pos="100000">
                <a:srgbClr val="C084FC">
                  <a:alpha val="0"/>
                </a:srgbClr>
              </a:gs>
            </a:gsLst>
            <a:path path="circle">
              <a:fillToRect l="50000" t="50000" r="50000" b="50000"/>
            </a:path>
          </a:gradFill>
          <a:ln>
            <a:noFill/>
          </a:ln>
        </p:spPr>
      </p:sp>
      <p:grpSp>
        <p:nvGrpSpPr>
          <p:cNvPr id="17" name="Group 17"/>
          <p:cNvGrpSpPr/>
          <p:nvPr/>
        </p:nvGrpSpPr>
        <p:grpSpPr>
          <a:xfrm>
            <a:off x="0" y="0"/>
            <a:ext cx="12192000" cy="6858000"/>
            <a:chOff x="0" y="0"/>
            <a:chExt cx="12192000" cy="6858000"/>
          </a:xfrm>
        </p:grpSpPr>
        <p:sp>
          <p:nvSpPr>
            <p:cNvPr id="6" name="Line 6"/>
            <p:cNvSpPr/>
            <p:nvPr/>
          </p:nvSpPr>
          <p:spPr>
            <a:xfrm>
              <a:off x="0" y="9525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7" name="Line 7"/>
            <p:cNvSpPr/>
            <p:nvPr/>
          </p:nvSpPr>
          <p:spPr>
            <a:xfrm>
              <a:off x="0" y="19050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8" name="Line 8"/>
            <p:cNvSpPr/>
            <p:nvPr/>
          </p:nvSpPr>
          <p:spPr>
            <a:xfrm>
              <a:off x="0" y="28575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9" name="Line 9"/>
            <p:cNvSpPr/>
            <p:nvPr/>
          </p:nvSpPr>
          <p:spPr>
            <a:xfrm>
              <a:off x="0" y="38100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10" name="Line 10"/>
            <p:cNvSpPr/>
            <p:nvPr/>
          </p:nvSpPr>
          <p:spPr>
            <a:xfrm>
              <a:off x="0" y="47625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11" name="Line 11"/>
            <p:cNvSpPr/>
            <p:nvPr/>
          </p:nvSpPr>
          <p:spPr>
            <a:xfrm>
              <a:off x="0" y="5715000"/>
              <a:ext cx="12192000" cy="9525"/>
            </a:xfrm>
            <a:custGeom>
              <a:avLst/>
              <a:gdLst/>
              <a:ahLst/>
              <a:cxnLst/>
              <a:rect l="l" t="t" r="r" b="b"/>
              <a:pathLst>
                <a:path w="12192000" h="9525">
                  <a:moveTo>
                    <a:pt x="0" y="0"/>
                  </a:moveTo>
                  <a:lnTo>
                    <a:pt x="12192000" y="0"/>
                  </a:lnTo>
                </a:path>
              </a:pathLst>
            </a:custGeom>
            <a:noFill/>
            <a:ln w="9525">
              <a:solidFill>
                <a:srgbClr val="38BDF8">
                  <a:alpha val="5000"/>
                </a:srgbClr>
              </a:solidFill>
            </a:ln>
          </p:spPr>
        </p:sp>
        <p:sp>
          <p:nvSpPr>
            <p:cNvPr id="12" name="Line 12"/>
            <p:cNvSpPr/>
            <p:nvPr/>
          </p:nvSpPr>
          <p:spPr>
            <a:xfrm>
              <a:off x="1905000" y="0"/>
              <a:ext cx="9525" cy="6858000"/>
            </a:xfrm>
            <a:custGeom>
              <a:avLst/>
              <a:gdLst/>
              <a:ahLst/>
              <a:cxnLst/>
              <a:rect l="l" t="t" r="r" b="b"/>
              <a:pathLst>
                <a:path w="9525" h="6858000">
                  <a:moveTo>
                    <a:pt x="0" y="0"/>
                  </a:moveTo>
                  <a:lnTo>
                    <a:pt x="0" y="6858000"/>
                  </a:lnTo>
                </a:path>
              </a:pathLst>
            </a:custGeom>
            <a:noFill/>
            <a:ln w="9525">
              <a:solidFill>
                <a:srgbClr val="38BDF8">
                  <a:alpha val="5000"/>
                </a:srgbClr>
              </a:solidFill>
            </a:ln>
          </p:spPr>
        </p:sp>
        <p:sp>
          <p:nvSpPr>
            <p:cNvPr id="13" name="Line 13"/>
            <p:cNvSpPr/>
            <p:nvPr/>
          </p:nvSpPr>
          <p:spPr>
            <a:xfrm>
              <a:off x="3810000" y="0"/>
              <a:ext cx="9525" cy="6858000"/>
            </a:xfrm>
            <a:custGeom>
              <a:avLst/>
              <a:gdLst/>
              <a:ahLst/>
              <a:cxnLst/>
              <a:rect l="l" t="t" r="r" b="b"/>
              <a:pathLst>
                <a:path w="9525" h="6858000">
                  <a:moveTo>
                    <a:pt x="0" y="0"/>
                  </a:moveTo>
                  <a:lnTo>
                    <a:pt x="0" y="6858000"/>
                  </a:lnTo>
                </a:path>
              </a:pathLst>
            </a:custGeom>
            <a:noFill/>
            <a:ln w="9525">
              <a:solidFill>
                <a:srgbClr val="38BDF8">
                  <a:alpha val="5000"/>
                </a:srgbClr>
              </a:solidFill>
            </a:ln>
          </p:spPr>
        </p:sp>
        <p:sp>
          <p:nvSpPr>
            <p:cNvPr id="14" name="Line 14"/>
            <p:cNvSpPr/>
            <p:nvPr/>
          </p:nvSpPr>
          <p:spPr>
            <a:xfrm>
              <a:off x="5715000" y="0"/>
              <a:ext cx="9525" cy="6858000"/>
            </a:xfrm>
            <a:custGeom>
              <a:avLst/>
              <a:gdLst/>
              <a:ahLst/>
              <a:cxnLst/>
              <a:rect l="l" t="t" r="r" b="b"/>
              <a:pathLst>
                <a:path w="9525" h="6858000">
                  <a:moveTo>
                    <a:pt x="0" y="0"/>
                  </a:moveTo>
                  <a:lnTo>
                    <a:pt x="0" y="6858000"/>
                  </a:lnTo>
                </a:path>
              </a:pathLst>
            </a:custGeom>
            <a:noFill/>
            <a:ln w="9525">
              <a:solidFill>
                <a:srgbClr val="38BDF8">
                  <a:alpha val="5000"/>
                </a:srgbClr>
              </a:solidFill>
            </a:ln>
          </p:spPr>
        </p:sp>
        <p:sp>
          <p:nvSpPr>
            <p:cNvPr id="15" name="Line 15"/>
            <p:cNvSpPr/>
            <p:nvPr/>
          </p:nvSpPr>
          <p:spPr>
            <a:xfrm>
              <a:off x="7620000" y="0"/>
              <a:ext cx="9525" cy="6858000"/>
            </a:xfrm>
            <a:custGeom>
              <a:avLst/>
              <a:gdLst/>
              <a:ahLst/>
              <a:cxnLst/>
              <a:rect l="l" t="t" r="r" b="b"/>
              <a:pathLst>
                <a:path w="9525" h="6858000">
                  <a:moveTo>
                    <a:pt x="0" y="0"/>
                  </a:moveTo>
                  <a:lnTo>
                    <a:pt x="0" y="6858000"/>
                  </a:lnTo>
                </a:path>
              </a:pathLst>
            </a:custGeom>
            <a:noFill/>
            <a:ln w="9525">
              <a:solidFill>
                <a:srgbClr val="38BDF8">
                  <a:alpha val="5000"/>
                </a:srgbClr>
              </a:solidFill>
            </a:ln>
          </p:spPr>
        </p:sp>
        <p:sp>
          <p:nvSpPr>
            <p:cNvPr id="16" name="Line 16"/>
            <p:cNvSpPr/>
            <p:nvPr/>
          </p:nvSpPr>
          <p:spPr>
            <a:xfrm>
              <a:off x="9525000" y="0"/>
              <a:ext cx="9525" cy="6858000"/>
            </a:xfrm>
            <a:custGeom>
              <a:avLst/>
              <a:gdLst/>
              <a:ahLst/>
              <a:cxnLst/>
              <a:rect l="l" t="t" r="r" b="b"/>
              <a:pathLst>
                <a:path w="9525" h="6858000">
                  <a:moveTo>
                    <a:pt x="0" y="0"/>
                  </a:moveTo>
                  <a:lnTo>
                    <a:pt x="0" y="6858000"/>
                  </a:lnTo>
                </a:path>
              </a:pathLst>
            </a:custGeom>
            <a:noFill/>
            <a:ln w="9525">
              <a:solidFill>
                <a:srgbClr val="38BDF8">
                  <a:alpha val="5000"/>
                </a:srgbClr>
              </a:solidFill>
            </a:ln>
          </p:spPr>
        </p:sp>
      </p:grpSp>
      <p:grpSp>
        <p:nvGrpSpPr>
          <p:cNvPr id="27" name="Group 27"/>
          <p:cNvGrpSpPr/>
          <p:nvPr/>
        </p:nvGrpSpPr>
        <p:grpSpPr>
          <a:xfrm>
            <a:off x="1876425" y="1404938"/>
            <a:ext cx="7679055" cy="911542"/>
            <a:chOff x="1876425" y="1404938"/>
            <a:chExt cx="7679055" cy="911542"/>
          </a:xfrm>
        </p:grpSpPr>
        <p:sp>
          <p:nvSpPr>
            <p:cNvPr id="18" name="Ellipse 18"/>
            <p:cNvSpPr/>
            <p:nvPr/>
          </p:nvSpPr>
          <p:spPr>
            <a:xfrm>
              <a:off x="1876425" y="1876425"/>
              <a:ext cx="57150" cy="57150"/>
            </a:xfrm>
            <a:prstGeom prst="ellipse">
              <a:avLst/>
            </a:prstGeom>
            <a:solidFill>
              <a:srgbClr val="38BDF8">
                <a:alpha val="40000"/>
              </a:srgbClr>
            </a:solidFill>
            <a:ln>
              <a:noFill/>
            </a:ln>
          </p:spPr>
        </p:sp>
        <p:sp>
          <p:nvSpPr>
            <p:cNvPr id="19" name="Ellipse 19"/>
            <p:cNvSpPr/>
            <p:nvPr/>
          </p:nvSpPr>
          <p:spPr>
            <a:xfrm>
              <a:off x="3786188" y="1404938"/>
              <a:ext cx="47625" cy="47625"/>
            </a:xfrm>
            <a:prstGeom prst="ellipse">
              <a:avLst/>
            </a:prstGeom>
            <a:solidFill>
              <a:srgbClr val="818CF8">
                <a:alpha val="40000"/>
              </a:srgbClr>
            </a:solidFill>
            <a:ln>
              <a:noFill/>
            </a:ln>
          </p:spPr>
        </p:sp>
        <p:sp>
          <p:nvSpPr>
            <p:cNvPr id="20" name="Ellipse 20"/>
            <p:cNvSpPr/>
            <p:nvPr/>
          </p:nvSpPr>
          <p:spPr>
            <a:xfrm>
              <a:off x="5681662" y="2062162"/>
              <a:ext cx="66675" cy="66675"/>
            </a:xfrm>
            <a:prstGeom prst="ellipse">
              <a:avLst/>
            </a:prstGeom>
            <a:solidFill>
              <a:srgbClr val="C084FC">
                <a:alpha val="40000"/>
              </a:srgbClr>
            </a:solidFill>
            <a:ln>
              <a:noFill/>
            </a:ln>
          </p:spPr>
        </p:sp>
        <p:sp>
          <p:nvSpPr>
            <p:cNvPr id="21" name="Ellipse 21"/>
            <p:cNvSpPr/>
            <p:nvPr/>
          </p:nvSpPr>
          <p:spPr>
            <a:xfrm>
              <a:off x="7593330" y="1687830"/>
              <a:ext cx="53340" cy="53340"/>
            </a:xfrm>
            <a:prstGeom prst="ellipse">
              <a:avLst/>
            </a:prstGeom>
            <a:solidFill>
              <a:srgbClr val="38BDF8">
                <a:alpha val="40000"/>
              </a:srgbClr>
            </a:solidFill>
            <a:ln>
              <a:noFill/>
            </a:ln>
          </p:spPr>
        </p:sp>
        <p:sp>
          <p:nvSpPr>
            <p:cNvPr id="22" name="Ellipse 22"/>
            <p:cNvSpPr/>
            <p:nvPr/>
          </p:nvSpPr>
          <p:spPr>
            <a:xfrm>
              <a:off x="9494520" y="2255520"/>
              <a:ext cx="60960" cy="60960"/>
            </a:xfrm>
            <a:prstGeom prst="ellipse">
              <a:avLst/>
            </a:prstGeom>
            <a:solidFill>
              <a:srgbClr val="818CF8">
                <a:alpha val="40000"/>
              </a:srgbClr>
            </a:solidFill>
            <a:ln>
              <a:noFill/>
            </a:ln>
          </p:spPr>
        </p:sp>
        <p:sp>
          <p:nvSpPr>
            <p:cNvPr id="23" name="Line 23"/>
            <p:cNvSpPr/>
            <p:nvPr/>
          </p:nvSpPr>
          <p:spPr>
            <a:xfrm>
              <a:off x="1905000" y="1428750"/>
              <a:ext cx="1905000" cy="476250"/>
            </a:xfrm>
            <a:custGeom>
              <a:avLst/>
              <a:gdLst/>
              <a:ahLst/>
              <a:cxnLst/>
              <a:rect l="l" t="t" r="r" b="b"/>
              <a:pathLst>
                <a:path w="1905000" h="476250">
                  <a:moveTo>
                    <a:pt x="0" y="476250"/>
                  </a:moveTo>
                  <a:lnTo>
                    <a:pt x="1905000" y="0"/>
                  </a:lnTo>
                </a:path>
              </a:pathLst>
            </a:custGeom>
            <a:noFill/>
            <a:ln w="9525">
              <a:solidFill>
                <a:srgbClr val="38BDF8">
                  <a:alpha val="30000"/>
                </a:srgbClr>
              </a:solidFill>
            </a:ln>
          </p:spPr>
        </p:sp>
        <p:sp>
          <p:nvSpPr>
            <p:cNvPr id="24" name="Line 24"/>
            <p:cNvSpPr/>
            <p:nvPr/>
          </p:nvSpPr>
          <p:spPr>
            <a:xfrm>
              <a:off x="3810000" y="1428750"/>
              <a:ext cx="1905000" cy="666750"/>
            </a:xfrm>
            <a:custGeom>
              <a:avLst/>
              <a:gdLst/>
              <a:ahLst/>
              <a:cxnLst/>
              <a:rect l="l" t="t" r="r" b="b"/>
              <a:pathLst>
                <a:path w="1905000" h="666750">
                  <a:moveTo>
                    <a:pt x="0" y="0"/>
                  </a:moveTo>
                  <a:lnTo>
                    <a:pt x="1905000" y="666750"/>
                  </a:lnTo>
                </a:path>
              </a:pathLst>
            </a:custGeom>
            <a:noFill/>
            <a:ln w="9525">
              <a:solidFill>
                <a:srgbClr val="818CF8">
                  <a:alpha val="30000"/>
                </a:srgbClr>
              </a:solidFill>
            </a:ln>
          </p:spPr>
        </p:sp>
        <p:sp>
          <p:nvSpPr>
            <p:cNvPr id="25" name="Line 25"/>
            <p:cNvSpPr/>
            <p:nvPr/>
          </p:nvSpPr>
          <p:spPr>
            <a:xfrm>
              <a:off x="5715000" y="1714500"/>
              <a:ext cx="1905000" cy="381000"/>
            </a:xfrm>
            <a:custGeom>
              <a:avLst/>
              <a:gdLst/>
              <a:ahLst/>
              <a:cxnLst/>
              <a:rect l="l" t="t" r="r" b="b"/>
              <a:pathLst>
                <a:path w="1905000" h="381000">
                  <a:moveTo>
                    <a:pt x="0" y="381000"/>
                  </a:moveTo>
                  <a:lnTo>
                    <a:pt x="1905000" y="0"/>
                  </a:lnTo>
                </a:path>
              </a:pathLst>
            </a:custGeom>
            <a:noFill/>
            <a:ln w="9525">
              <a:solidFill>
                <a:srgbClr val="C084FC">
                  <a:alpha val="30000"/>
                </a:srgbClr>
              </a:solidFill>
            </a:ln>
          </p:spPr>
        </p:sp>
        <p:sp>
          <p:nvSpPr>
            <p:cNvPr id="26" name="Line 26"/>
            <p:cNvSpPr/>
            <p:nvPr/>
          </p:nvSpPr>
          <p:spPr>
            <a:xfrm>
              <a:off x="7620000" y="1714500"/>
              <a:ext cx="1905000" cy="571500"/>
            </a:xfrm>
            <a:custGeom>
              <a:avLst/>
              <a:gdLst/>
              <a:ahLst/>
              <a:cxnLst/>
              <a:rect l="l" t="t" r="r" b="b"/>
              <a:pathLst>
                <a:path w="1905000" h="571500">
                  <a:moveTo>
                    <a:pt x="0" y="0"/>
                  </a:moveTo>
                  <a:lnTo>
                    <a:pt x="1905000" y="571500"/>
                  </a:lnTo>
                </a:path>
              </a:pathLst>
            </a:custGeom>
            <a:noFill/>
            <a:ln w="9525">
              <a:solidFill>
                <a:srgbClr val="38BDF8">
                  <a:alpha val="30000"/>
                </a:srgbClr>
              </a:solidFill>
            </a:ln>
          </p:spPr>
        </p:sp>
      </p:grpSp>
      <p:grpSp>
        <p:nvGrpSpPr>
          <p:cNvPr id="45" name="Group 45"/>
          <p:cNvGrpSpPr/>
          <p:nvPr/>
        </p:nvGrpSpPr>
        <p:grpSpPr>
          <a:xfrm>
            <a:off x="447675" y="4448175"/>
            <a:ext cx="6153150" cy="628650"/>
            <a:chOff x="447675" y="4448175"/>
            <a:chExt cx="6153150" cy="628650"/>
          </a:xfrm>
        </p:grpSpPr>
        <p:sp>
          <p:nvSpPr>
            <p:cNvPr id="28" name="Line 28"/>
            <p:cNvSpPr/>
            <p:nvPr/>
          </p:nvSpPr>
          <p:spPr>
            <a:xfrm>
              <a:off x="476250" y="4572000"/>
              <a:ext cx="762000" cy="190500"/>
            </a:xfrm>
            <a:custGeom>
              <a:avLst/>
              <a:gdLst/>
              <a:ahLst/>
              <a:cxnLst/>
              <a:rect l="l" t="t" r="r" b="b"/>
              <a:pathLst>
                <a:path w="762000" h="190500">
                  <a:moveTo>
                    <a:pt x="0" y="190500"/>
                  </a:moveTo>
                  <a:lnTo>
                    <a:pt x="762000" y="0"/>
                  </a:lnTo>
                </a:path>
              </a:pathLst>
            </a:custGeom>
            <a:noFill/>
            <a:ln w="19050">
              <a:solidFill>
                <a:srgbClr val="38BDF8">
                  <a:alpha val="25000"/>
                </a:srgbClr>
              </a:solidFill>
            </a:ln>
          </p:spPr>
        </p:sp>
        <p:sp>
          <p:nvSpPr>
            <p:cNvPr id="29" name="Line 29"/>
            <p:cNvSpPr/>
            <p:nvPr/>
          </p:nvSpPr>
          <p:spPr>
            <a:xfrm>
              <a:off x="1238250" y="4572000"/>
              <a:ext cx="762000" cy="428625"/>
            </a:xfrm>
            <a:custGeom>
              <a:avLst/>
              <a:gdLst/>
              <a:ahLst/>
              <a:cxnLst/>
              <a:rect l="l" t="t" r="r" b="b"/>
              <a:pathLst>
                <a:path w="762000" h="428625">
                  <a:moveTo>
                    <a:pt x="0" y="0"/>
                  </a:moveTo>
                  <a:lnTo>
                    <a:pt x="762000" y="428625"/>
                  </a:lnTo>
                </a:path>
              </a:pathLst>
            </a:custGeom>
            <a:noFill/>
            <a:ln w="19050">
              <a:solidFill>
                <a:srgbClr val="818CF8">
                  <a:alpha val="25000"/>
                </a:srgbClr>
              </a:solidFill>
            </a:ln>
          </p:spPr>
        </p:sp>
        <p:sp>
          <p:nvSpPr>
            <p:cNvPr id="30" name="Line 30"/>
            <p:cNvSpPr/>
            <p:nvPr/>
          </p:nvSpPr>
          <p:spPr>
            <a:xfrm>
              <a:off x="2000250" y="4619625"/>
              <a:ext cx="762000" cy="381000"/>
            </a:xfrm>
            <a:custGeom>
              <a:avLst/>
              <a:gdLst/>
              <a:ahLst/>
              <a:cxnLst/>
              <a:rect l="l" t="t" r="r" b="b"/>
              <a:pathLst>
                <a:path w="762000" h="381000">
                  <a:moveTo>
                    <a:pt x="0" y="381000"/>
                  </a:moveTo>
                  <a:lnTo>
                    <a:pt x="762000" y="0"/>
                  </a:lnTo>
                </a:path>
              </a:pathLst>
            </a:custGeom>
            <a:noFill/>
            <a:ln w="19050">
              <a:solidFill>
                <a:srgbClr val="C084FC">
                  <a:alpha val="25000"/>
                </a:srgbClr>
              </a:solidFill>
            </a:ln>
          </p:spPr>
        </p:sp>
        <p:sp>
          <p:nvSpPr>
            <p:cNvPr id="31" name="Line 31"/>
            <p:cNvSpPr/>
            <p:nvPr/>
          </p:nvSpPr>
          <p:spPr>
            <a:xfrm>
              <a:off x="2762250" y="4619625"/>
              <a:ext cx="762000" cy="428625"/>
            </a:xfrm>
            <a:custGeom>
              <a:avLst/>
              <a:gdLst/>
              <a:ahLst/>
              <a:cxnLst/>
              <a:rect l="l" t="t" r="r" b="b"/>
              <a:pathLst>
                <a:path w="762000" h="428625">
                  <a:moveTo>
                    <a:pt x="0" y="0"/>
                  </a:moveTo>
                  <a:lnTo>
                    <a:pt x="762000" y="428625"/>
                  </a:lnTo>
                </a:path>
              </a:pathLst>
            </a:custGeom>
            <a:noFill/>
            <a:ln w="19050">
              <a:solidFill>
                <a:srgbClr val="38BDF8">
                  <a:alpha val="25000"/>
                </a:srgbClr>
              </a:solidFill>
            </a:ln>
          </p:spPr>
        </p:sp>
        <p:sp>
          <p:nvSpPr>
            <p:cNvPr id="32" name="Line 32"/>
            <p:cNvSpPr/>
            <p:nvPr/>
          </p:nvSpPr>
          <p:spPr>
            <a:xfrm>
              <a:off x="3524250" y="4667250"/>
              <a:ext cx="762000" cy="381000"/>
            </a:xfrm>
            <a:custGeom>
              <a:avLst/>
              <a:gdLst/>
              <a:ahLst/>
              <a:cxnLst/>
              <a:rect l="l" t="t" r="r" b="b"/>
              <a:pathLst>
                <a:path w="762000" h="381000">
                  <a:moveTo>
                    <a:pt x="0" y="381000"/>
                  </a:moveTo>
                  <a:lnTo>
                    <a:pt x="762000" y="0"/>
                  </a:lnTo>
                </a:path>
              </a:pathLst>
            </a:custGeom>
            <a:noFill/>
            <a:ln w="19050">
              <a:solidFill>
                <a:srgbClr val="818CF8">
                  <a:alpha val="25000"/>
                </a:srgbClr>
              </a:solidFill>
            </a:ln>
          </p:spPr>
        </p:sp>
        <p:sp>
          <p:nvSpPr>
            <p:cNvPr id="33" name="Line 33"/>
            <p:cNvSpPr/>
            <p:nvPr/>
          </p:nvSpPr>
          <p:spPr>
            <a:xfrm>
              <a:off x="4286250" y="4667250"/>
              <a:ext cx="762000" cy="285750"/>
            </a:xfrm>
            <a:custGeom>
              <a:avLst/>
              <a:gdLst/>
              <a:ahLst/>
              <a:cxnLst/>
              <a:rect l="l" t="t" r="r" b="b"/>
              <a:pathLst>
                <a:path w="762000" h="285750">
                  <a:moveTo>
                    <a:pt x="0" y="0"/>
                  </a:moveTo>
                  <a:lnTo>
                    <a:pt x="762000" y="285750"/>
                  </a:lnTo>
                </a:path>
              </a:pathLst>
            </a:custGeom>
            <a:noFill/>
            <a:ln w="19050">
              <a:solidFill>
                <a:srgbClr val="C084FC">
                  <a:alpha val="25000"/>
                </a:srgbClr>
              </a:solidFill>
            </a:ln>
          </p:spPr>
        </p:sp>
        <p:sp>
          <p:nvSpPr>
            <p:cNvPr id="34" name="Line 34"/>
            <p:cNvSpPr/>
            <p:nvPr/>
          </p:nvSpPr>
          <p:spPr>
            <a:xfrm>
              <a:off x="5048250" y="4476750"/>
              <a:ext cx="762000" cy="476250"/>
            </a:xfrm>
            <a:custGeom>
              <a:avLst/>
              <a:gdLst/>
              <a:ahLst/>
              <a:cxnLst/>
              <a:rect l="l" t="t" r="r" b="b"/>
              <a:pathLst>
                <a:path w="762000" h="476250">
                  <a:moveTo>
                    <a:pt x="0" y="476250"/>
                  </a:moveTo>
                  <a:lnTo>
                    <a:pt x="762000" y="0"/>
                  </a:lnTo>
                </a:path>
              </a:pathLst>
            </a:custGeom>
            <a:noFill/>
            <a:ln w="19050">
              <a:solidFill>
                <a:srgbClr val="38BDF8">
                  <a:alpha val="25000"/>
                </a:srgbClr>
              </a:solidFill>
            </a:ln>
          </p:spPr>
        </p:sp>
        <p:sp>
          <p:nvSpPr>
            <p:cNvPr id="35" name="Line 35"/>
            <p:cNvSpPr/>
            <p:nvPr/>
          </p:nvSpPr>
          <p:spPr>
            <a:xfrm>
              <a:off x="5810250" y="4476750"/>
              <a:ext cx="762000" cy="428625"/>
            </a:xfrm>
            <a:custGeom>
              <a:avLst/>
              <a:gdLst/>
              <a:ahLst/>
              <a:cxnLst/>
              <a:rect l="l" t="t" r="r" b="b"/>
              <a:pathLst>
                <a:path w="762000" h="428625">
                  <a:moveTo>
                    <a:pt x="0" y="0"/>
                  </a:moveTo>
                  <a:lnTo>
                    <a:pt x="762000" y="428625"/>
                  </a:lnTo>
                </a:path>
              </a:pathLst>
            </a:custGeom>
            <a:noFill/>
            <a:ln w="19050">
              <a:solidFill>
                <a:srgbClr val="818CF8">
                  <a:alpha val="25000"/>
                </a:srgbClr>
              </a:solidFill>
            </a:ln>
          </p:spPr>
        </p:sp>
        <p:sp>
          <p:nvSpPr>
            <p:cNvPr id="36" name="Ellipse 36"/>
            <p:cNvSpPr/>
            <p:nvPr/>
          </p:nvSpPr>
          <p:spPr>
            <a:xfrm>
              <a:off x="447675" y="4733925"/>
              <a:ext cx="57150" cy="57150"/>
            </a:xfrm>
            <a:prstGeom prst="ellipse">
              <a:avLst/>
            </a:prstGeom>
            <a:solidFill>
              <a:srgbClr val="38BDF8">
                <a:alpha val="25000"/>
              </a:srgbClr>
            </a:solidFill>
            <a:ln>
              <a:noFill/>
            </a:ln>
          </p:spPr>
        </p:sp>
        <p:sp>
          <p:nvSpPr>
            <p:cNvPr id="37" name="Ellipse 37"/>
            <p:cNvSpPr/>
            <p:nvPr/>
          </p:nvSpPr>
          <p:spPr>
            <a:xfrm>
              <a:off x="1209675" y="4543425"/>
              <a:ext cx="57150" cy="57150"/>
            </a:xfrm>
            <a:prstGeom prst="ellipse">
              <a:avLst/>
            </a:prstGeom>
            <a:solidFill>
              <a:srgbClr val="818CF8">
                <a:alpha val="25000"/>
              </a:srgbClr>
            </a:solidFill>
            <a:ln>
              <a:noFill/>
            </a:ln>
          </p:spPr>
        </p:sp>
        <p:sp>
          <p:nvSpPr>
            <p:cNvPr id="38" name="Ellipse 38"/>
            <p:cNvSpPr/>
            <p:nvPr/>
          </p:nvSpPr>
          <p:spPr>
            <a:xfrm>
              <a:off x="1971675" y="4972050"/>
              <a:ext cx="57150" cy="57150"/>
            </a:xfrm>
            <a:prstGeom prst="ellipse">
              <a:avLst/>
            </a:prstGeom>
            <a:solidFill>
              <a:srgbClr val="C084FC">
                <a:alpha val="25000"/>
              </a:srgbClr>
            </a:solidFill>
            <a:ln>
              <a:noFill/>
            </a:ln>
          </p:spPr>
        </p:sp>
        <p:sp>
          <p:nvSpPr>
            <p:cNvPr id="39" name="Ellipse 39"/>
            <p:cNvSpPr/>
            <p:nvPr/>
          </p:nvSpPr>
          <p:spPr>
            <a:xfrm>
              <a:off x="2733675" y="4591050"/>
              <a:ext cx="57150" cy="57150"/>
            </a:xfrm>
            <a:prstGeom prst="ellipse">
              <a:avLst/>
            </a:prstGeom>
            <a:solidFill>
              <a:srgbClr val="38BDF8">
                <a:alpha val="25000"/>
              </a:srgbClr>
            </a:solidFill>
            <a:ln>
              <a:noFill/>
            </a:ln>
          </p:spPr>
        </p:sp>
        <p:sp>
          <p:nvSpPr>
            <p:cNvPr id="40" name="Ellipse 40"/>
            <p:cNvSpPr/>
            <p:nvPr/>
          </p:nvSpPr>
          <p:spPr>
            <a:xfrm>
              <a:off x="3495675" y="5019675"/>
              <a:ext cx="57150" cy="57150"/>
            </a:xfrm>
            <a:prstGeom prst="ellipse">
              <a:avLst/>
            </a:prstGeom>
            <a:solidFill>
              <a:srgbClr val="818CF8">
                <a:alpha val="25000"/>
              </a:srgbClr>
            </a:solidFill>
            <a:ln>
              <a:noFill/>
            </a:ln>
          </p:spPr>
        </p:sp>
        <p:sp>
          <p:nvSpPr>
            <p:cNvPr id="41" name="Ellipse 41"/>
            <p:cNvSpPr/>
            <p:nvPr/>
          </p:nvSpPr>
          <p:spPr>
            <a:xfrm>
              <a:off x="4257675" y="4638675"/>
              <a:ext cx="57150" cy="57150"/>
            </a:xfrm>
            <a:prstGeom prst="ellipse">
              <a:avLst/>
            </a:prstGeom>
            <a:solidFill>
              <a:srgbClr val="C084FC">
                <a:alpha val="25000"/>
              </a:srgbClr>
            </a:solidFill>
            <a:ln>
              <a:noFill/>
            </a:ln>
          </p:spPr>
        </p:sp>
        <p:sp>
          <p:nvSpPr>
            <p:cNvPr id="42" name="Ellipse 42"/>
            <p:cNvSpPr/>
            <p:nvPr/>
          </p:nvSpPr>
          <p:spPr>
            <a:xfrm>
              <a:off x="5019675" y="4924425"/>
              <a:ext cx="57150" cy="57150"/>
            </a:xfrm>
            <a:prstGeom prst="ellipse">
              <a:avLst/>
            </a:prstGeom>
            <a:solidFill>
              <a:srgbClr val="38BDF8">
                <a:alpha val="25000"/>
              </a:srgbClr>
            </a:solidFill>
            <a:ln>
              <a:noFill/>
            </a:ln>
          </p:spPr>
        </p:sp>
        <p:sp>
          <p:nvSpPr>
            <p:cNvPr id="43" name="Ellipse 43"/>
            <p:cNvSpPr/>
            <p:nvPr/>
          </p:nvSpPr>
          <p:spPr>
            <a:xfrm>
              <a:off x="5781675" y="4448175"/>
              <a:ext cx="57150" cy="57150"/>
            </a:xfrm>
            <a:prstGeom prst="ellipse">
              <a:avLst/>
            </a:prstGeom>
            <a:solidFill>
              <a:srgbClr val="818CF8">
                <a:alpha val="25000"/>
              </a:srgbClr>
            </a:solidFill>
            <a:ln>
              <a:noFill/>
            </a:ln>
          </p:spPr>
        </p:sp>
        <p:sp>
          <p:nvSpPr>
            <p:cNvPr id="44" name="Ellipse 44"/>
            <p:cNvSpPr/>
            <p:nvPr/>
          </p:nvSpPr>
          <p:spPr>
            <a:xfrm>
              <a:off x="6543675" y="4876800"/>
              <a:ext cx="57150" cy="57150"/>
            </a:xfrm>
            <a:prstGeom prst="ellipse">
              <a:avLst/>
            </a:prstGeom>
            <a:solidFill>
              <a:srgbClr val="C084FC">
                <a:alpha val="25000"/>
              </a:srgbClr>
            </a:solidFill>
            <a:ln>
              <a:noFill/>
            </a:ln>
          </p:spPr>
        </p:sp>
      </p:grpSp>
      <p:sp>
        <p:nvSpPr>
          <p:cNvPr id="46" name="Rectangle 46"/>
          <p:cNvSpPr/>
          <p:nvPr/>
        </p:nvSpPr>
        <p:spPr>
          <a:xfrm>
            <a:off x="0" y="0"/>
            <a:ext cx="76200" cy="6858000"/>
          </a:xfrm>
          <a:prstGeom prst="rect">
            <a:avLst/>
          </a:prstGeom>
          <a:gradFill>
            <a:gsLst>
              <a:gs pos="0">
                <a:srgbClr val="38BDF8"/>
              </a:gs>
              <a:gs pos="50000">
                <a:srgbClr val="818CF8"/>
              </a:gs>
              <a:gs pos="100000">
                <a:srgbClr val="C084FC"/>
              </a:gs>
            </a:gsLst>
            <a:lin ang="0" scaled="1"/>
          </a:gradFill>
          <a:ln>
            <a:noFill/>
          </a:ln>
        </p:spPr>
      </p:sp>
      <p:sp>
        <p:nvSpPr>
          <p:cNvPr id="47" name="Rectangle 47"/>
          <p:cNvSpPr/>
          <p:nvPr/>
        </p:nvSpPr>
        <p:spPr>
          <a:xfrm>
            <a:off x="0" y="0"/>
            <a:ext cx="12192000" cy="76200"/>
          </a:xfrm>
          <a:prstGeom prst="rect">
            <a:avLst/>
          </a:prstGeom>
          <a:gradFill>
            <a:gsLst>
              <a:gs pos="0">
                <a:srgbClr val="38BDF8"/>
              </a:gs>
              <a:gs pos="50000">
                <a:srgbClr val="818CF8"/>
              </a:gs>
              <a:gs pos="100000">
                <a:srgbClr val="C084FC"/>
              </a:gs>
            </a:gsLst>
            <a:lin ang="0" scaled="1"/>
          </a:gradFill>
          <a:ln>
            <a:noFill/>
          </a:ln>
        </p:spPr>
      </p:sp>
      <p:sp>
        <p:nvSpPr>
          <p:cNvPr id="48" name="Rectangle 48"/>
          <p:cNvSpPr/>
          <p:nvPr/>
        </p:nvSpPr>
        <p:spPr>
          <a:xfrm>
            <a:off x="12115800" y="0"/>
            <a:ext cx="76200" cy="6858000"/>
          </a:xfrm>
          <a:prstGeom prst="rect">
            <a:avLst/>
          </a:prstGeom>
          <a:gradFill>
            <a:gsLst>
              <a:gs pos="0">
                <a:srgbClr val="38BDF8"/>
              </a:gs>
              <a:gs pos="50000">
                <a:srgbClr val="818CF8"/>
              </a:gs>
              <a:gs pos="100000">
                <a:srgbClr val="C084FC"/>
              </a:gs>
            </a:gsLst>
            <a:lin ang="0" scaled="1"/>
          </a:gradFill>
          <a:ln>
            <a:noFill/>
          </a:ln>
        </p:spPr>
      </p:sp>
      <p:sp>
        <p:nvSpPr>
          <p:cNvPr id="49" name="Rectangle 49"/>
          <p:cNvSpPr/>
          <p:nvPr/>
        </p:nvSpPr>
        <p:spPr>
          <a:xfrm>
            <a:off x="0" y="6781800"/>
            <a:ext cx="12192000" cy="76200"/>
          </a:xfrm>
          <a:prstGeom prst="rect">
            <a:avLst/>
          </a:prstGeom>
          <a:gradFill>
            <a:gsLst>
              <a:gs pos="0">
                <a:srgbClr val="38BDF8"/>
              </a:gs>
              <a:gs pos="50000">
                <a:srgbClr val="818CF8"/>
              </a:gs>
              <a:gs pos="100000">
                <a:srgbClr val="C084FC"/>
              </a:gs>
            </a:gsLst>
            <a:lin ang="0" scaled="1"/>
          </a:gradFill>
          <a:ln>
            <a:noFill/>
          </a:ln>
        </p:spPr>
      </p:sp>
      <p:sp>
        <p:nvSpPr>
          <p:cNvPr id="50" name="TextBox 50"/>
          <p:cNvSpPr txBox="1"/>
          <p:nvPr/>
        </p:nvSpPr>
        <p:spPr>
          <a:xfrm>
            <a:off x="2080393" y="2215515"/>
            <a:ext cx="8031213" cy="670560"/>
          </a:xfrm>
          <a:prstGeom prst="rect">
            <a:avLst/>
          </a:prstGeom>
          <a:noFill/>
          <a:ln>
            <a:noFill/>
          </a:ln>
        </p:spPr>
        <p:txBody>
          <a:bodyPr wrap="none" lIns="0" tIns="0" rIns="0" bIns="0" anchor="t" anchorCtr="0">
            <a:spAutoFit/>
          </a:bodyPr>
          <a:lstStyle/>
          <a:p>
            <a:pPr algn="ctr"/>
            <a:r>
              <a:rPr lang="zh-CN" sz="3300" b="1" dirty="0">
                <a:gradFill>
                  <a:gsLst>
                    <a:gs pos="0">
                      <a:srgbClr val="38BDF8"/>
                    </a:gs>
                    <a:gs pos="50000">
                      <a:srgbClr val="818CF8"/>
                    </a:gs>
                    <a:gs pos="100000">
                      <a:srgbClr val="C084FC"/>
                    </a:gs>
                  </a:gsLst>
                  <a:lin ang="0" scaled="1"/>
                </a:gradFill>
                <a:latin typeface="Arial"/>
                <a:ea typeface="Microsoft YaHei"/>
                <a:cs typeface="Arial"/>
              </a:rPr>
              <a:t>基于2D CNN的AM/FM调制方式识别系统</a:t>
            </a:r>
          </a:p>
        </p:txBody>
      </p:sp>
      <p:sp>
        <p:nvSpPr>
          <p:cNvPr id="51" name="TextBox 51"/>
          <p:cNvSpPr txBox="1"/>
          <p:nvPr/>
        </p:nvSpPr>
        <p:spPr>
          <a:xfrm>
            <a:off x="2677811" y="2932748"/>
            <a:ext cx="6836378" cy="396240"/>
          </a:xfrm>
          <a:prstGeom prst="rect">
            <a:avLst/>
          </a:prstGeom>
          <a:noFill/>
          <a:ln>
            <a:noFill/>
          </a:ln>
        </p:spPr>
        <p:txBody>
          <a:bodyPr wrap="none" lIns="0" tIns="0" rIns="0" bIns="0" anchor="t" anchorCtr="0">
            <a:spAutoFit/>
          </a:bodyPr>
          <a:lstStyle/>
          <a:p>
            <a:pPr algn="ctr"/>
            <a:r>
              <a:rPr lang="zh-CN" sz="1950" dirty="0">
                <a:solidFill>
                  <a:srgbClr val="94A3B8"/>
                </a:solidFill>
                <a:latin typeface="Arial"/>
                <a:ea typeface="Microsoft YaHei"/>
                <a:cs typeface="Arial"/>
              </a:rPr>
              <a:t>AM/FM Modulation Recognition System Based on 2D CNN</a:t>
            </a:r>
          </a:p>
        </p:txBody>
      </p:sp>
      <p:sp>
        <p:nvSpPr>
          <p:cNvPr id="52" name="Rectangle 52"/>
          <p:cNvSpPr/>
          <p:nvPr/>
        </p:nvSpPr>
        <p:spPr>
          <a:xfrm>
            <a:off x="4667250" y="3476625"/>
            <a:ext cx="2857500" cy="28575"/>
          </a:xfrm>
          <a:prstGeom prst="roundRect">
            <a:avLst>
              <a:gd name="adj" fmla="val 50000"/>
            </a:avLst>
          </a:prstGeom>
          <a:gradFill>
            <a:gsLst>
              <a:gs pos="0">
                <a:srgbClr val="38BDF8"/>
              </a:gs>
              <a:gs pos="50000">
                <a:srgbClr val="818CF8"/>
              </a:gs>
              <a:gs pos="100000">
                <a:srgbClr val="C084FC"/>
              </a:gs>
            </a:gsLst>
            <a:lin ang="0" scaled="1"/>
          </a:gradFill>
          <a:ln>
            <a:noFill/>
          </a:ln>
        </p:spPr>
      </p:sp>
      <p:sp>
        <p:nvSpPr>
          <p:cNvPr id="53" name="TextBox 53"/>
          <p:cNvSpPr txBox="1"/>
          <p:nvPr/>
        </p:nvSpPr>
        <p:spPr>
          <a:xfrm>
            <a:off x="5581888" y="3886200"/>
            <a:ext cx="1028224" cy="304800"/>
          </a:xfrm>
          <a:prstGeom prst="rect">
            <a:avLst/>
          </a:prstGeom>
          <a:noFill/>
          <a:ln>
            <a:noFill/>
          </a:ln>
        </p:spPr>
        <p:txBody>
          <a:bodyPr wrap="none" lIns="0" tIns="0" rIns="0" bIns="0" anchor="t" anchorCtr="0">
            <a:spAutoFit/>
          </a:bodyPr>
          <a:lstStyle/>
          <a:p>
            <a:pPr algn="ctr"/>
            <a:r>
              <a:rPr lang="zh-CN" sz="1500" dirty="0">
                <a:solidFill>
                  <a:srgbClr val="CBD5E1"/>
                </a:solidFill>
                <a:latin typeface="Arial"/>
                <a:ea typeface="Microsoft YaHei"/>
                <a:cs typeface="Arial"/>
              </a:rPr>
              <a:t>作者: mimi</a:t>
            </a:r>
          </a:p>
        </p:txBody>
      </p:sp>
      <p:sp>
        <p:nvSpPr>
          <p:cNvPr id="54" name="TextBox 54"/>
          <p:cNvSpPr txBox="1"/>
          <p:nvPr/>
        </p:nvSpPr>
        <p:spPr>
          <a:xfrm>
            <a:off x="5432357" y="4283392"/>
            <a:ext cx="1327286" cy="207749"/>
          </a:xfrm>
          <a:prstGeom prst="rect">
            <a:avLst/>
          </a:prstGeom>
          <a:noFill/>
          <a:ln>
            <a:noFill/>
          </a:ln>
        </p:spPr>
        <p:txBody>
          <a:bodyPr wrap="none" lIns="0" tIns="0" rIns="0" bIns="0" anchor="t" anchorCtr="0">
            <a:spAutoFit/>
          </a:bodyPr>
          <a:lstStyle/>
          <a:p>
            <a:pPr algn="ctr"/>
            <a:r>
              <a:rPr lang="zh-CN" sz="1350" dirty="0">
                <a:solidFill>
                  <a:schemeClr val="bg1">
                    <a:lumMod val="75000"/>
                  </a:schemeClr>
                </a:solidFill>
                <a:latin typeface="Arial"/>
                <a:ea typeface="Microsoft YaHei"/>
                <a:cs typeface="Arial"/>
              </a:rPr>
              <a:t>日期: 2026-05-19</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F172A"/>
              </a:gs>
              <a:gs pos="50000">
                <a:srgbClr val="1E293B"/>
              </a:gs>
              <a:gs pos="100000">
                <a:srgbClr val="0B1120"/>
              </a:gs>
            </a:gsLst>
            <a:lin ang="2700000" scaled="1"/>
          </a:gradFill>
          <a:ln>
            <a:noFill/>
          </a:ln>
        </p:spPr>
      </p:sp>
      <p:sp>
        <p:nvSpPr>
          <p:cNvPr id="3" name="Rectangle 3"/>
          <p:cNvSpPr/>
          <p:nvPr/>
        </p:nvSpPr>
        <p:spPr>
          <a:xfrm>
            <a:off x="0" y="0"/>
            <a:ext cx="12192000" cy="6858000"/>
          </a:xfrm>
          <a:prstGeom prst="rect">
            <a:avLst/>
          </a:prstGeom>
          <a:gradFill>
            <a:gsLst>
              <a:gs pos="0">
                <a:srgbClr val="38BDF8">
                  <a:alpha val="12000"/>
                </a:srgbClr>
              </a:gs>
              <a:gs pos="100000">
                <a:srgbClr val="38BDF8">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818CF8">
                  <a:alpha val="10000"/>
                </a:srgbClr>
              </a:gs>
              <a:gs pos="100000">
                <a:srgbClr val="818CF8">
                  <a:alpha val="0"/>
                </a:srgbClr>
              </a:gs>
            </a:gsLst>
            <a:path path="circle">
              <a:fillToRect l="50000" t="50000" r="50000" b="50000"/>
            </a:path>
          </a:gradFill>
          <a:ln>
            <a:noFill/>
          </a:ln>
        </p:spPr>
      </p:sp>
      <p:grpSp>
        <p:nvGrpSpPr>
          <p:cNvPr id="12" name="Group 12"/>
          <p:cNvGrpSpPr/>
          <p:nvPr/>
        </p:nvGrpSpPr>
        <p:grpSpPr>
          <a:xfrm>
            <a:off x="0" y="0"/>
            <a:ext cx="12192000" cy="6858000"/>
            <a:chOff x="0" y="0"/>
            <a:chExt cx="12192000" cy="6858000"/>
          </a:xfrm>
        </p:grpSpPr>
        <p:sp>
          <p:nvSpPr>
            <p:cNvPr id="5" name="Line 5"/>
            <p:cNvSpPr/>
            <p:nvPr/>
          </p:nvSpPr>
          <p:spPr>
            <a:xfrm>
              <a:off x="0" y="1428750"/>
              <a:ext cx="12192000" cy="9525"/>
            </a:xfrm>
            <a:custGeom>
              <a:avLst/>
              <a:gdLst/>
              <a:ahLst/>
              <a:cxnLst/>
              <a:rect l="l" t="t" r="r" b="b"/>
              <a:pathLst>
                <a:path w="12192000" h="9525">
                  <a:moveTo>
                    <a:pt x="0" y="0"/>
                  </a:moveTo>
                  <a:lnTo>
                    <a:pt x="12192000" y="0"/>
                  </a:lnTo>
                </a:path>
              </a:pathLst>
            </a:custGeom>
            <a:noFill/>
            <a:ln w="9525">
              <a:solidFill>
                <a:srgbClr val="38BDF8">
                  <a:alpha val="4000"/>
                </a:srgbClr>
              </a:solidFill>
            </a:ln>
          </p:spPr>
        </p:sp>
        <p:sp>
          <p:nvSpPr>
            <p:cNvPr id="6" name="Line 6"/>
            <p:cNvSpPr/>
            <p:nvPr/>
          </p:nvSpPr>
          <p:spPr>
            <a:xfrm>
              <a:off x="0" y="2857500"/>
              <a:ext cx="12192000" cy="9525"/>
            </a:xfrm>
            <a:custGeom>
              <a:avLst/>
              <a:gdLst/>
              <a:ahLst/>
              <a:cxnLst/>
              <a:rect l="l" t="t" r="r" b="b"/>
              <a:pathLst>
                <a:path w="12192000" h="9525">
                  <a:moveTo>
                    <a:pt x="0" y="0"/>
                  </a:moveTo>
                  <a:lnTo>
                    <a:pt x="12192000" y="0"/>
                  </a:lnTo>
                </a:path>
              </a:pathLst>
            </a:custGeom>
            <a:noFill/>
            <a:ln w="9525">
              <a:solidFill>
                <a:srgbClr val="38BDF8">
                  <a:alpha val="4000"/>
                </a:srgbClr>
              </a:solidFill>
            </a:ln>
          </p:spPr>
        </p:sp>
        <p:sp>
          <p:nvSpPr>
            <p:cNvPr id="7" name="Line 7"/>
            <p:cNvSpPr/>
            <p:nvPr/>
          </p:nvSpPr>
          <p:spPr>
            <a:xfrm>
              <a:off x="0" y="4286250"/>
              <a:ext cx="12192000" cy="9525"/>
            </a:xfrm>
            <a:custGeom>
              <a:avLst/>
              <a:gdLst/>
              <a:ahLst/>
              <a:cxnLst/>
              <a:rect l="l" t="t" r="r" b="b"/>
              <a:pathLst>
                <a:path w="12192000" h="9525">
                  <a:moveTo>
                    <a:pt x="0" y="0"/>
                  </a:moveTo>
                  <a:lnTo>
                    <a:pt x="12192000" y="0"/>
                  </a:lnTo>
                </a:path>
              </a:pathLst>
            </a:custGeom>
            <a:noFill/>
            <a:ln w="9525">
              <a:solidFill>
                <a:srgbClr val="38BDF8">
                  <a:alpha val="4000"/>
                </a:srgbClr>
              </a:solidFill>
            </a:ln>
          </p:spPr>
        </p:sp>
        <p:sp>
          <p:nvSpPr>
            <p:cNvPr id="8" name="Line 8"/>
            <p:cNvSpPr/>
            <p:nvPr/>
          </p:nvSpPr>
          <p:spPr>
            <a:xfrm>
              <a:off x="0" y="5715000"/>
              <a:ext cx="12192000" cy="9525"/>
            </a:xfrm>
            <a:custGeom>
              <a:avLst/>
              <a:gdLst/>
              <a:ahLst/>
              <a:cxnLst/>
              <a:rect l="l" t="t" r="r" b="b"/>
              <a:pathLst>
                <a:path w="12192000" h="9525">
                  <a:moveTo>
                    <a:pt x="0" y="0"/>
                  </a:moveTo>
                  <a:lnTo>
                    <a:pt x="12192000" y="0"/>
                  </a:lnTo>
                </a:path>
              </a:pathLst>
            </a:custGeom>
            <a:noFill/>
            <a:ln w="9525">
              <a:solidFill>
                <a:srgbClr val="38BDF8">
                  <a:alpha val="4000"/>
                </a:srgbClr>
              </a:solidFill>
            </a:ln>
          </p:spPr>
        </p:sp>
        <p:sp>
          <p:nvSpPr>
            <p:cNvPr id="9" name="Line 9"/>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38BDF8">
                  <a:alpha val="4000"/>
                </a:srgbClr>
              </a:solidFill>
            </a:ln>
          </p:spPr>
        </p:sp>
        <p:sp>
          <p:nvSpPr>
            <p:cNvPr id="10" name="Line 10"/>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38BDF8">
                  <a:alpha val="4000"/>
                </a:srgbClr>
              </a:solidFill>
            </a:ln>
          </p:spPr>
        </p:sp>
        <p:sp>
          <p:nvSpPr>
            <p:cNvPr id="11" name="Line 11"/>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38BDF8">
                  <a:alpha val="4000"/>
                </a:srgbClr>
              </a:solidFill>
            </a:ln>
          </p:spPr>
        </p:sp>
      </p:grpSp>
      <p:grpSp>
        <p:nvGrpSpPr>
          <p:cNvPr id="24" name="Group 24"/>
          <p:cNvGrpSpPr/>
          <p:nvPr/>
        </p:nvGrpSpPr>
        <p:grpSpPr>
          <a:xfrm>
            <a:off x="1404938" y="1592580"/>
            <a:ext cx="9101137" cy="1293495"/>
            <a:chOff x="1404938" y="1592580"/>
            <a:chExt cx="9101137" cy="1293495"/>
          </a:xfrm>
        </p:grpSpPr>
        <p:sp>
          <p:nvSpPr>
            <p:cNvPr id="13" name="Ellipse 13"/>
            <p:cNvSpPr/>
            <p:nvPr/>
          </p:nvSpPr>
          <p:spPr>
            <a:xfrm>
              <a:off x="1404938" y="1690688"/>
              <a:ext cx="47625" cy="47625"/>
            </a:xfrm>
            <a:prstGeom prst="ellipse">
              <a:avLst/>
            </a:prstGeom>
            <a:solidFill>
              <a:srgbClr val="38BDF8">
                <a:alpha val="30000"/>
              </a:srgbClr>
            </a:solidFill>
            <a:ln>
              <a:noFill/>
            </a:ln>
          </p:spPr>
        </p:sp>
        <p:sp>
          <p:nvSpPr>
            <p:cNvPr id="14" name="Ellipse 14"/>
            <p:cNvSpPr/>
            <p:nvPr/>
          </p:nvSpPr>
          <p:spPr>
            <a:xfrm>
              <a:off x="3019425" y="2352675"/>
              <a:ext cx="57150" cy="57150"/>
            </a:xfrm>
            <a:prstGeom prst="ellipse">
              <a:avLst/>
            </a:prstGeom>
            <a:solidFill>
              <a:srgbClr val="818CF8">
                <a:alpha val="30000"/>
              </a:srgbClr>
            </a:solidFill>
            <a:ln>
              <a:noFill/>
            </a:ln>
          </p:spPr>
        </p:sp>
        <p:sp>
          <p:nvSpPr>
            <p:cNvPr id="15" name="Ellipse 15"/>
            <p:cNvSpPr/>
            <p:nvPr/>
          </p:nvSpPr>
          <p:spPr>
            <a:xfrm>
              <a:off x="4735830" y="1592580"/>
              <a:ext cx="53340" cy="53340"/>
            </a:xfrm>
            <a:prstGeom prst="ellipse">
              <a:avLst/>
            </a:prstGeom>
            <a:solidFill>
              <a:srgbClr val="C084FC">
                <a:alpha val="30000"/>
              </a:srgbClr>
            </a:solidFill>
            <a:ln>
              <a:noFill/>
            </a:ln>
          </p:spPr>
        </p:sp>
        <p:sp>
          <p:nvSpPr>
            <p:cNvPr id="16" name="Ellipse 16"/>
            <p:cNvSpPr/>
            <p:nvPr/>
          </p:nvSpPr>
          <p:spPr>
            <a:xfrm>
              <a:off x="6637020" y="2636520"/>
              <a:ext cx="60960" cy="60960"/>
            </a:xfrm>
            <a:prstGeom prst="ellipse">
              <a:avLst/>
            </a:prstGeom>
            <a:solidFill>
              <a:srgbClr val="38BDF8">
                <a:alpha val="30000"/>
              </a:srgbClr>
            </a:solidFill>
            <a:ln>
              <a:noFill/>
            </a:ln>
          </p:spPr>
        </p:sp>
        <p:sp>
          <p:nvSpPr>
            <p:cNvPr id="17" name="Ellipse 17"/>
            <p:cNvSpPr/>
            <p:nvPr/>
          </p:nvSpPr>
          <p:spPr>
            <a:xfrm>
              <a:off x="8547735" y="1880235"/>
              <a:ext cx="49530" cy="49530"/>
            </a:xfrm>
            <a:prstGeom prst="ellipse">
              <a:avLst/>
            </a:prstGeom>
            <a:solidFill>
              <a:srgbClr val="818CF8">
                <a:alpha val="30000"/>
              </a:srgbClr>
            </a:solidFill>
            <a:ln>
              <a:noFill/>
            </a:ln>
          </p:spPr>
        </p:sp>
        <p:sp>
          <p:nvSpPr>
            <p:cNvPr id="18" name="Ellipse 18"/>
            <p:cNvSpPr/>
            <p:nvPr/>
          </p:nvSpPr>
          <p:spPr>
            <a:xfrm>
              <a:off x="10448925" y="2828925"/>
              <a:ext cx="57150" cy="57150"/>
            </a:xfrm>
            <a:prstGeom prst="ellipse">
              <a:avLst/>
            </a:prstGeom>
            <a:solidFill>
              <a:srgbClr val="C084FC">
                <a:alpha val="30000"/>
              </a:srgbClr>
            </a:solidFill>
            <a:ln>
              <a:noFill/>
            </a:ln>
          </p:spPr>
        </p:sp>
        <p:sp>
          <p:nvSpPr>
            <p:cNvPr id="19" name="Line 19"/>
            <p:cNvSpPr/>
            <p:nvPr/>
          </p:nvSpPr>
          <p:spPr>
            <a:xfrm>
              <a:off x="1428750" y="1714500"/>
              <a:ext cx="1619250" cy="666750"/>
            </a:xfrm>
            <a:custGeom>
              <a:avLst/>
              <a:gdLst/>
              <a:ahLst/>
              <a:cxnLst/>
              <a:rect l="l" t="t" r="r" b="b"/>
              <a:pathLst>
                <a:path w="1619250" h="666750">
                  <a:moveTo>
                    <a:pt x="0" y="0"/>
                  </a:moveTo>
                  <a:lnTo>
                    <a:pt x="1619250" y="666750"/>
                  </a:lnTo>
                </a:path>
              </a:pathLst>
            </a:custGeom>
            <a:noFill/>
            <a:ln w="9525">
              <a:solidFill>
                <a:srgbClr val="38BDF8">
                  <a:alpha val="25000"/>
                </a:srgbClr>
              </a:solidFill>
            </a:ln>
          </p:spPr>
        </p:sp>
        <p:sp>
          <p:nvSpPr>
            <p:cNvPr id="20" name="Line 20"/>
            <p:cNvSpPr/>
            <p:nvPr/>
          </p:nvSpPr>
          <p:spPr>
            <a:xfrm>
              <a:off x="3048000" y="1619250"/>
              <a:ext cx="1714500" cy="762000"/>
            </a:xfrm>
            <a:custGeom>
              <a:avLst/>
              <a:gdLst/>
              <a:ahLst/>
              <a:cxnLst/>
              <a:rect l="l" t="t" r="r" b="b"/>
              <a:pathLst>
                <a:path w="1714500" h="762000">
                  <a:moveTo>
                    <a:pt x="0" y="762000"/>
                  </a:moveTo>
                  <a:lnTo>
                    <a:pt x="1714500" y="0"/>
                  </a:lnTo>
                </a:path>
              </a:pathLst>
            </a:custGeom>
            <a:noFill/>
            <a:ln w="9525">
              <a:solidFill>
                <a:srgbClr val="818CF8">
                  <a:alpha val="25000"/>
                </a:srgbClr>
              </a:solidFill>
            </a:ln>
          </p:spPr>
        </p:sp>
        <p:sp>
          <p:nvSpPr>
            <p:cNvPr id="21" name="Line 21"/>
            <p:cNvSpPr/>
            <p:nvPr/>
          </p:nvSpPr>
          <p:spPr>
            <a:xfrm>
              <a:off x="4762500" y="1619250"/>
              <a:ext cx="1905000" cy="1047750"/>
            </a:xfrm>
            <a:custGeom>
              <a:avLst/>
              <a:gdLst/>
              <a:ahLst/>
              <a:cxnLst/>
              <a:rect l="l" t="t" r="r" b="b"/>
              <a:pathLst>
                <a:path w="1905000" h="1047750">
                  <a:moveTo>
                    <a:pt x="0" y="0"/>
                  </a:moveTo>
                  <a:lnTo>
                    <a:pt x="1905000" y="1047750"/>
                  </a:lnTo>
                </a:path>
              </a:pathLst>
            </a:custGeom>
            <a:noFill/>
            <a:ln w="9525">
              <a:solidFill>
                <a:srgbClr val="C084FC">
                  <a:alpha val="25000"/>
                </a:srgbClr>
              </a:solidFill>
            </a:ln>
          </p:spPr>
        </p:sp>
        <p:sp>
          <p:nvSpPr>
            <p:cNvPr id="22" name="Line 22"/>
            <p:cNvSpPr/>
            <p:nvPr/>
          </p:nvSpPr>
          <p:spPr>
            <a:xfrm>
              <a:off x="6667500" y="1905000"/>
              <a:ext cx="1905000" cy="762000"/>
            </a:xfrm>
            <a:custGeom>
              <a:avLst/>
              <a:gdLst/>
              <a:ahLst/>
              <a:cxnLst/>
              <a:rect l="l" t="t" r="r" b="b"/>
              <a:pathLst>
                <a:path w="1905000" h="762000">
                  <a:moveTo>
                    <a:pt x="0" y="762000"/>
                  </a:moveTo>
                  <a:lnTo>
                    <a:pt x="1905000" y="0"/>
                  </a:lnTo>
                </a:path>
              </a:pathLst>
            </a:custGeom>
            <a:noFill/>
            <a:ln w="9525">
              <a:solidFill>
                <a:srgbClr val="38BDF8">
                  <a:alpha val="25000"/>
                </a:srgbClr>
              </a:solidFill>
            </a:ln>
          </p:spPr>
        </p:sp>
        <p:sp>
          <p:nvSpPr>
            <p:cNvPr id="23" name="Line 23"/>
            <p:cNvSpPr/>
            <p:nvPr/>
          </p:nvSpPr>
          <p:spPr>
            <a:xfrm>
              <a:off x="8572500" y="1905000"/>
              <a:ext cx="1905000" cy="952500"/>
            </a:xfrm>
            <a:custGeom>
              <a:avLst/>
              <a:gdLst/>
              <a:ahLst/>
              <a:cxnLst/>
              <a:rect l="l" t="t" r="r" b="b"/>
              <a:pathLst>
                <a:path w="1905000" h="952500">
                  <a:moveTo>
                    <a:pt x="0" y="0"/>
                  </a:moveTo>
                  <a:lnTo>
                    <a:pt x="1905000" y="952500"/>
                  </a:lnTo>
                </a:path>
              </a:pathLst>
            </a:custGeom>
            <a:noFill/>
            <a:ln w="9525">
              <a:solidFill>
                <a:srgbClr val="818CF8">
                  <a:alpha val="25000"/>
                </a:srgbClr>
              </a:solidFill>
            </a:ln>
          </p:spPr>
        </p:sp>
      </p:grpSp>
      <p:sp>
        <p:nvSpPr>
          <p:cNvPr id="25" name="Rectangle 25"/>
          <p:cNvSpPr/>
          <p:nvPr/>
        </p:nvSpPr>
        <p:spPr>
          <a:xfrm>
            <a:off x="0" y="0"/>
            <a:ext cx="57150" cy="6858000"/>
          </a:xfrm>
          <a:prstGeom prst="rect">
            <a:avLst/>
          </a:prstGeom>
          <a:gradFill>
            <a:gsLst>
              <a:gs pos="0">
                <a:srgbClr val="38BDF8"/>
              </a:gs>
              <a:gs pos="50000">
                <a:srgbClr val="818CF8"/>
              </a:gs>
              <a:gs pos="100000">
                <a:srgbClr val="C084FC"/>
              </a:gs>
            </a:gsLst>
            <a:lin ang="0" scaled="1"/>
          </a:gradFill>
          <a:ln>
            <a:noFill/>
          </a:ln>
        </p:spPr>
      </p:sp>
      <p:sp>
        <p:nvSpPr>
          <p:cNvPr id="26" name="Rectangle 26"/>
          <p:cNvSpPr/>
          <p:nvPr/>
        </p:nvSpPr>
        <p:spPr>
          <a:xfrm>
            <a:off x="0" y="0"/>
            <a:ext cx="12192000" cy="57150"/>
          </a:xfrm>
          <a:prstGeom prst="rect">
            <a:avLst/>
          </a:prstGeom>
          <a:gradFill>
            <a:gsLst>
              <a:gs pos="0">
                <a:srgbClr val="38BDF8"/>
              </a:gs>
              <a:gs pos="50000">
                <a:srgbClr val="818CF8"/>
              </a:gs>
              <a:gs pos="100000">
                <a:srgbClr val="C084FC"/>
              </a:gs>
            </a:gsLst>
            <a:lin ang="0" scaled="1"/>
          </a:gradFill>
          <a:ln>
            <a:noFill/>
          </a:ln>
        </p:spPr>
      </p:sp>
      <p:sp>
        <p:nvSpPr>
          <p:cNvPr id="27" name="TextBox 27"/>
          <p:cNvSpPr txBox="1"/>
          <p:nvPr/>
        </p:nvSpPr>
        <p:spPr>
          <a:xfrm>
            <a:off x="537210" y="280035"/>
            <a:ext cx="2601497" cy="548640"/>
          </a:xfrm>
          <a:prstGeom prst="rect">
            <a:avLst/>
          </a:prstGeom>
          <a:noFill/>
          <a:ln>
            <a:noFill/>
          </a:ln>
        </p:spPr>
        <p:txBody>
          <a:bodyPr wrap="none" lIns="0" tIns="0" rIns="0" bIns="0" anchor="t" anchorCtr="0">
            <a:spAutoFit/>
          </a:bodyPr>
          <a:lstStyle/>
          <a:p>
            <a:pPr algn="l"/>
            <a:r>
              <a:rPr lang="zh-CN" sz="2700" b="1" dirty="0">
                <a:gradFill>
                  <a:gsLst>
                    <a:gs pos="0">
                      <a:srgbClr val="38BDF8"/>
                    </a:gs>
                    <a:gs pos="50000">
                      <a:srgbClr val="818CF8"/>
                    </a:gs>
                    <a:gs pos="100000">
                      <a:srgbClr val="C084FC"/>
                    </a:gs>
                  </a:gsLst>
                  <a:lin ang="0" scaled="1"/>
                </a:gradFill>
                <a:latin typeface="Arial"/>
                <a:ea typeface="Microsoft YaHei"/>
                <a:cs typeface="Arial"/>
              </a:rPr>
              <a:t>目录 Contents</a:t>
            </a:r>
          </a:p>
        </p:txBody>
      </p:sp>
      <p:sp>
        <p:nvSpPr>
          <p:cNvPr id="28" name="Rectangle 28"/>
          <p:cNvSpPr/>
          <p:nvPr/>
        </p:nvSpPr>
        <p:spPr>
          <a:xfrm>
            <a:off x="571500" y="714375"/>
            <a:ext cx="762000" cy="28575"/>
          </a:xfrm>
          <a:prstGeom prst="rect">
            <a:avLst/>
          </a:prstGeom>
          <a:gradFill>
            <a:gsLst>
              <a:gs pos="0">
                <a:srgbClr val="38BDF8"/>
              </a:gs>
              <a:gs pos="50000">
                <a:srgbClr val="818CF8"/>
              </a:gs>
              <a:gs pos="100000">
                <a:srgbClr val="C084FC"/>
              </a:gs>
            </a:gsLst>
            <a:lin ang="0" scaled="1"/>
          </a:gradFill>
          <a:ln>
            <a:noFill/>
          </a:ln>
        </p:spPr>
      </p:sp>
      <p:grpSp>
        <p:nvGrpSpPr>
          <p:cNvPr id="31" name="Group 31"/>
          <p:cNvGrpSpPr/>
          <p:nvPr/>
        </p:nvGrpSpPr>
        <p:grpSpPr>
          <a:xfrm>
            <a:off x="571500" y="1238250"/>
            <a:ext cx="3333750" cy="290512"/>
            <a:chOff x="571500" y="1238250"/>
            <a:chExt cx="3333750" cy="290512"/>
          </a:xfrm>
        </p:grpSpPr>
        <p:sp>
          <p:nvSpPr>
            <p:cNvPr id="29" name="Rectangle 29"/>
            <p:cNvSpPr/>
            <p:nvPr/>
          </p:nvSpPr>
          <p:spPr>
            <a:xfrm>
              <a:off x="571500" y="1238250"/>
              <a:ext cx="3333750" cy="285750"/>
            </a:xfrm>
            <a:prstGeom prst="roundRect">
              <a:avLst>
                <a:gd name="adj" fmla="val 20000"/>
              </a:avLst>
            </a:prstGeom>
            <a:solidFill>
              <a:srgbClr val="1E3A5F"/>
            </a:solidFill>
            <a:ln>
              <a:noFill/>
            </a:ln>
          </p:spPr>
        </p:sp>
        <p:sp>
          <p:nvSpPr>
            <p:cNvPr id="30" name="TextBox 30"/>
            <p:cNvSpPr txBox="1"/>
            <p:nvPr/>
          </p:nvSpPr>
          <p:spPr>
            <a:xfrm>
              <a:off x="1563457" y="1315402"/>
              <a:ext cx="1349835" cy="213360"/>
            </a:xfrm>
            <a:prstGeom prst="rect">
              <a:avLst/>
            </a:prstGeom>
            <a:noFill/>
            <a:ln>
              <a:noFill/>
            </a:ln>
          </p:spPr>
          <p:txBody>
            <a:bodyPr wrap="none" lIns="0" tIns="0" rIns="0" bIns="0" anchor="t" anchorCtr="0">
              <a:spAutoFit/>
            </a:bodyPr>
            <a:lstStyle/>
            <a:p>
              <a:pPr algn="ctr"/>
              <a:r>
                <a:rPr lang="zh-CN" sz="1050" b="1" dirty="0">
                  <a:solidFill>
                    <a:srgbClr val="38BDF8"/>
                  </a:solidFill>
                  <a:latin typeface="Arial"/>
                  <a:ea typeface="Microsoft YaHei"/>
                  <a:cs typeface="Arial"/>
                </a:rPr>
                <a:t>一、研究背景与目标</a:t>
              </a:r>
            </a:p>
          </p:txBody>
        </p:sp>
      </p:grpSp>
      <p:grpSp>
        <p:nvGrpSpPr>
          <p:cNvPr id="34" name="Group 34"/>
          <p:cNvGrpSpPr/>
          <p:nvPr/>
        </p:nvGrpSpPr>
        <p:grpSpPr>
          <a:xfrm>
            <a:off x="1130618" y="1847374"/>
            <a:ext cx="665798" cy="198120"/>
            <a:chOff x="1130618" y="1847374"/>
            <a:chExt cx="665798" cy="198120"/>
          </a:xfrm>
        </p:grpSpPr>
        <p:sp>
          <p:nvSpPr>
            <p:cNvPr id="32" name="TextBox 32"/>
            <p:cNvSpPr txBox="1"/>
            <p:nvPr/>
          </p:nvSpPr>
          <p:spPr>
            <a:xfrm>
              <a:off x="1130618" y="184737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01</a:t>
              </a:r>
            </a:p>
          </p:txBody>
        </p:sp>
        <p:sp>
          <p:nvSpPr>
            <p:cNvPr id="33" name="TextBox 33"/>
            <p:cNvSpPr txBox="1"/>
            <p:nvPr/>
          </p:nvSpPr>
          <p:spPr>
            <a:xfrm>
              <a:off x="1511618" y="1847374"/>
              <a:ext cx="284798"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封面</a:t>
              </a:r>
            </a:p>
          </p:txBody>
        </p:sp>
      </p:grpSp>
      <p:grpSp>
        <p:nvGrpSpPr>
          <p:cNvPr id="37" name="Group 37"/>
          <p:cNvGrpSpPr/>
          <p:nvPr/>
        </p:nvGrpSpPr>
        <p:grpSpPr>
          <a:xfrm>
            <a:off x="1130618" y="2133124"/>
            <a:ext cx="665798" cy="198120"/>
            <a:chOff x="1130618" y="2133124"/>
            <a:chExt cx="665798" cy="198120"/>
          </a:xfrm>
        </p:grpSpPr>
        <p:sp>
          <p:nvSpPr>
            <p:cNvPr id="35" name="TextBox 35"/>
            <p:cNvSpPr txBox="1"/>
            <p:nvPr/>
          </p:nvSpPr>
          <p:spPr>
            <a:xfrm>
              <a:off x="1130618" y="21331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02</a:t>
              </a:r>
            </a:p>
          </p:txBody>
        </p:sp>
        <p:sp>
          <p:nvSpPr>
            <p:cNvPr id="36" name="TextBox 36"/>
            <p:cNvSpPr txBox="1"/>
            <p:nvPr/>
          </p:nvSpPr>
          <p:spPr>
            <a:xfrm>
              <a:off x="1511618" y="2133124"/>
              <a:ext cx="284798"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目录</a:t>
              </a:r>
            </a:p>
          </p:txBody>
        </p:sp>
      </p:grpSp>
      <p:grpSp>
        <p:nvGrpSpPr>
          <p:cNvPr id="40" name="Group 40"/>
          <p:cNvGrpSpPr/>
          <p:nvPr/>
        </p:nvGrpSpPr>
        <p:grpSpPr>
          <a:xfrm>
            <a:off x="1130618" y="2418874"/>
            <a:ext cx="925830" cy="198120"/>
            <a:chOff x="1130618" y="2418874"/>
            <a:chExt cx="925830" cy="198120"/>
          </a:xfrm>
        </p:grpSpPr>
        <p:sp>
          <p:nvSpPr>
            <p:cNvPr id="38" name="TextBox 38"/>
            <p:cNvSpPr txBox="1"/>
            <p:nvPr/>
          </p:nvSpPr>
          <p:spPr>
            <a:xfrm>
              <a:off x="1130618" y="24188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03</a:t>
              </a:r>
            </a:p>
          </p:txBody>
        </p:sp>
        <p:sp>
          <p:nvSpPr>
            <p:cNvPr id="39" name="TextBox 39"/>
            <p:cNvSpPr txBox="1"/>
            <p:nvPr/>
          </p:nvSpPr>
          <p:spPr>
            <a:xfrm>
              <a:off x="1511618" y="241887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研究背景</a:t>
              </a:r>
            </a:p>
          </p:txBody>
        </p:sp>
      </p:grpSp>
      <p:grpSp>
        <p:nvGrpSpPr>
          <p:cNvPr id="43" name="Group 43"/>
          <p:cNvGrpSpPr/>
          <p:nvPr/>
        </p:nvGrpSpPr>
        <p:grpSpPr>
          <a:xfrm>
            <a:off x="1130618" y="2704624"/>
            <a:ext cx="925830" cy="198120"/>
            <a:chOff x="1130618" y="2704624"/>
            <a:chExt cx="925830" cy="198120"/>
          </a:xfrm>
        </p:grpSpPr>
        <p:sp>
          <p:nvSpPr>
            <p:cNvPr id="41" name="TextBox 41"/>
            <p:cNvSpPr txBox="1"/>
            <p:nvPr/>
          </p:nvSpPr>
          <p:spPr>
            <a:xfrm>
              <a:off x="1130618" y="27046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04</a:t>
              </a:r>
            </a:p>
          </p:txBody>
        </p:sp>
        <p:sp>
          <p:nvSpPr>
            <p:cNvPr id="42" name="TextBox 42"/>
            <p:cNvSpPr txBox="1"/>
            <p:nvPr/>
          </p:nvSpPr>
          <p:spPr>
            <a:xfrm>
              <a:off x="1511618" y="270462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研究目标</a:t>
              </a:r>
            </a:p>
          </p:txBody>
        </p:sp>
      </p:grpSp>
      <p:grpSp>
        <p:nvGrpSpPr>
          <p:cNvPr id="46" name="Group 46"/>
          <p:cNvGrpSpPr/>
          <p:nvPr/>
        </p:nvGrpSpPr>
        <p:grpSpPr>
          <a:xfrm>
            <a:off x="4191000" y="1238250"/>
            <a:ext cx="3333750" cy="290512"/>
            <a:chOff x="4191000" y="1238250"/>
            <a:chExt cx="3333750" cy="290512"/>
          </a:xfrm>
        </p:grpSpPr>
        <p:sp>
          <p:nvSpPr>
            <p:cNvPr id="44" name="Rectangle 44"/>
            <p:cNvSpPr/>
            <p:nvPr/>
          </p:nvSpPr>
          <p:spPr>
            <a:xfrm>
              <a:off x="4191000" y="1238250"/>
              <a:ext cx="3333750" cy="285750"/>
            </a:xfrm>
            <a:prstGeom prst="roundRect">
              <a:avLst>
                <a:gd name="adj" fmla="val 20000"/>
              </a:avLst>
            </a:prstGeom>
            <a:solidFill>
              <a:srgbClr val="3E2C5A"/>
            </a:solidFill>
            <a:ln>
              <a:noFill/>
            </a:ln>
          </p:spPr>
        </p:sp>
        <p:sp>
          <p:nvSpPr>
            <p:cNvPr id="45" name="TextBox 45"/>
            <p:cNvSpPr txBox="1"/>
            <p:nvPr/>
          </p:nvSpPr>
          <p:spPr>
            <a:xfrm>
              <a:off x="5182957" y="1315402"/>
              <a:ext cx="1349835" cy="213360"/>
            </a:xfrm>
            <a:prstGeom prst="rect">
              <a:avLst/>
            </a:prstGeom>
            <a:noFill/>
            <a:ln>
              <a:noFill/>
            </a:ln>
          </p:spPr>
          <p:txBody>
            <a:bodyPr wrap="none" lIns="0" tIns="0" rIns="0" bIns="0" anchor="t" anchorCtr="0">
              <a:spAutoFit/>
            </a:bodyPr>
            <a:lstStyle/>
            <a:p>
              <a:pPr algn="ctr"/>
              <a:r>
                <a:rPr lang="zh-CN" sz="1050" b="1" dirty="0">
                  <a:solidFill>
                    <a:srgbClr val="818CF8"/>
                  </a:solidFill>
                  <a:latin typeface="Arial"/>
                  <a:ea typeface="Microsoft YaHei"/>
                  <a:cs typeface="Arial"/>
                </a:rPr>
                <a:t>二、方案设计与原理</a:t>
              </a:r>
            </a:p>
          </p:txBody>
        </p:sp>
      </p:grpSp>
      <p:grpSp>
        <p:nvGrpSpPr>
          <p:cNvPr id="49" name="Group 49"/>
          <p:cNvGrpSpPr/>
          <p:nvPr/>
        </p:nvGrpSpPr>
        <p:grpSpPr>
          <a:xfrm>
            <a:off x="4750118" y="1847374"/>
            <a:ext cx="925830" cy="198120"/>
            <a:chOff x="4750118" y="1847374"/>
            <a:chExt cx="925830" cy="198120"/>
          </a:xfrm>
        </p:grpSpPr>
        <p:sp>
          <p:nvSpPr>
            <p:cNvPr id="47" name="TextBox 47"/>
            <p:cNvSpPr txBox="1"/>
            <p:nvPr/>
          </p:nvSpPr>
          <p:spPr>
            <a:xfrm>
              <a:off x="4750118" y="18473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05</a:t>
              </a:r>
            </a:p>
          </p:txBody>
        </p:sp>
        <p:sp>
          <p:nvSpPr>
            <p:cNvPr id="48" name="TextBox 48"/>
            <p:cNvSpPr txBox="1"/>
            <p:nvPr/>
          </p:nvSpPr>
          <p:spPr>
            <a:xfrm>
              <a:off x="5131118" y="184737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应用场景</a:t>
              </a:r>
            </a:p>
          </p:txBody>
        </p:sp>
      </p:grpSp>
      <p:grpSp>
        <p:nvGrpSpPr>
          <p:cNvPr id="52" name="Group 52"/>
          <p:cNvGrpSpPr/>
          <p:nvPr/>
        </p:nvGrpSpPr>
        <p:grpSpPr>
          <a:xfrm>
            <a:off x="4750118" y="2133124"/>
            <a:ext cx="1666923" cy="198120"/>
            <a:chOff x="4750118" y="2133124"/>
            <a:chExt cx="1666923" cy="198120"/>
          </a:xfrm>
        </p:grpSpPr>
        <p:sp>
          <p:nvSpPr>
            <p:cNvPr id="50" name="TextBox 50"/>
            <p:cNvSpPr txBox="1"/>
            <p:nvPr/>
          </p:nvSpPr>
          <p:spPr>
            <a:xfrm>
              <a:off x="4750118" y="21331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06</a:t>
              </a:r>
            </a:p>
          </p:txBody>
        </p:sp>
        <p:sp>
          <p:nvSpPr>
            <p:cNvPr id="51" name="TextBox 51"/>
            <p:cNvSpPr txBox="1"/>
            <p:nvPr/>
          </p:nvSpPr>
          <p:spPr>
            <a:xfrm>
              <a:off x="5131118" y="2133124"/>
              <a:ext cx="1285923"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传统方法 vs 深度学习</a:t>
              </a:r>
            </a:p>
          </p:txBody>
        </p:sp>
      </p:grpSp>
      <p:grpSp>
        <p:nvGrpSpPr>
          <p:cNvPr id="55" name="Group 55"/>
          <p:cNvGrpSpPr/>
          <p:nvPr/>
        </p:nvGrpSpPr>
        <p:grpSpPr>
          <a:xfrm>
            <a:off x="4750118" y="2418874"/>
            <a:ext cx="1335381" cy="198120"/>
            <a:chOff x="4750118" y="2418874"/>
            <a:chExt cx="1335381" cy="198120"/>
          </a:xfrm>
        </p:grpSpPr>
        <p:sp>
          <p:nvSpPr>
            <p:cNvPr id="53" name="TextBox 53"/>
            <p:cNvSpPr txBox="1"/>
            <p:nvPr/>
          </p:nvSpPr>
          <p:spPr>
            <a:xfrm>
              <a:off x="4750118" y="24188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07</a:t>
              </a:r>
            </a:p>
          </p:txBody>
        </p:sp>
        <p:sp>
          <p:nvSpPr>
            <p:cNvPr id="54" name="TextBox 54"/>
            <p:cNvSpPr txBox="1"/>
            <p:nvPr/>
          </p:nvSpPr>
          <p:spPr>
            <a:xfrm>
              <a:off x="5131118" y="2418874"/>
              <a:ext cx="954381"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AM_FM调制原理</a:t>
              </a:r>
            </a:p>
          </p:txBody>
        </p:sp>
      </p:grpSp>
      <p:grpSp>
        <p:nvGrpSpPr>
          <p:cNvPr id="58" name="Group 58"/>
          <p:cNvGrpSpPr/>
          <p:nvPr/>
        </p:nvGrpSpPr>
        <p:grpSpPr>
          <a:xfrm>
            <a:off x="4750118" y="2704624"/>
            <a:ext cx="925830" cy="198120"/>
            <a:chOff x="4750118" y="2704624"/>
            <a:chExt cx="925830" cy="198120"/>
          </a:xfrm>
        </p:grpSpPr>
        <p:sp>
          <p:nvSpPr>
            <p:cNvPr id="56" name="TextBox 56"/>
            <p:cNvSpPr txBox="1"/>
            <p:nvPr/>
          </p:nvSpPr>
          <p:spPr>
            <a:xfrm>
              <a:off x="4750118" y="27046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08</a:t>
              </a:r>
            </a:p>
          </p:txBody>
        </p:sp>
        <p:sp>
          <p:nvSpPr>
            <p:cNvPr id="57" name="TextBox 57"/>
            <p:cNvSpPr txBox="1"/>
            <p:nvPr/>
          </p:nvSpPr>
          <p:spPr>
            <a:xfrm>
              <a:off x="5131118" y="270462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系统架构</a:t>
              </a:r>
            </a:p>
          </p:txBody>
        </p:sp>
      </p:grpSp>
      <p:grpSp>
        <p:nvGrpSpPr>
          <p:cNvPr id="61" name="Group 61"/>
          <p:cNvGrpSpPr/>
          <p:nvPr/>
        </p:nvGrpSpPr>
        <p:grpSpPr>
          <a:xfrm>
            <a:off x="7810500" y="1238250"/>
            <a:ext cx="3714750" cy="290512"/>
            <a:chOff x="7810500" y="1238250"/>
            <a:chExt cx="3714750" cy="290512"/>
          </a:xfrm>
        </p:grpSpPr>
        <p:sp>
          <p:nvSpPr>
            <p:cNvPr id="59" name="Rectangle 59"/>
            <p:cNvSpPr/>
            <p:nvPr/>
          </p:nvSpPr>
          <p:spPr>
            <a:xfrm>
              <a:off x="7810500" y="1238250"/>
              <a:ext cx="3714750" cy="285750"/>
            </a:xfrm>
            <a:prstGeom prst="roundRect">
              <a:avLst>
                <a:gd name="adj" fmla="val 20000"/>
              </a:avLst>
            </a:prstGeom>
            <a:solidFill>
              <a:srgbClr val="1A3D36"/>
            </a:solidFill>
            <a:ln>
              <a:noFill/>
            </a:ln>
          </p:spPr>
        </p:sp>
        <p:sp>
          <p:nvSpPr>
            <p:cNvPr id="60" name="TextBox 60"/>
            <p:cNvSpPr txBox="1"/>
            <p:nvPr/>
          </p:nvSpPr>
          <p:spPr>
            <a:xfrm>
              <a:off x="8978255" y="1315402"/>
              <a:ext cx="1379239"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a:ea typeface="Microsoft YaHei"/>
                  <a:cs typeface="Arial"/>
                </a:rPr>
                <a:t>三、信号处理与STFT</a:t>
              </a:r>
            </a:p>
          </p:txBody>
        </p:sp>
      </p:grpSp>
      <p:grpSp>
        <p:nvGrpSpPr>
          <p:cNvPr id="64" name="Group 64"/>
          <p:cNvGrpSpPr/>
          <p:nvPr/>
        </p:nvGrpSpPr>
        <p:grpSpPr>
          <a:xfrm>
            <a:off x="8369618" y="1847374"/>
            <a:ext cx="1211866" cy="198120"/>
            <a:chOff x="8369618" y="1847374"/>
            <a:chExt cx="1211866" cy="198120"/>
          </a:xfrm>
        </p:grpSpPr>
        <p:sp>
          <p:nvSpPr>
            <p:cNvPr id="62" name="TextBox 62"/>
            <p:cNvSpPr txBox="1"/>
            <p:nvPr/>
          </p:nvSpPr>
          <p:spPr>
            <a:xfrm>
              <a:off x="8369618" y="18473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09</a:t>
              </a:r>
            </a:p>
          </p:txBody>
        </p:sp>
        <p:sp>
          <p:nvSpPr>
            <p:cNvPr id="63" name="TextBox 63"/>
            <p:cNvSpPr txBox="1"/>
            <p:nvPr/>
          </p:nvSpPr>
          <p:spPr>
            <a:xfrm>
              <a:off x="8750618" y="1847374"/>
              <a:ext cx="83086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STFT原理详解</a:t>
              </a:r>
            </a:p>
          </p:txBody>
        </p:sp>
      </p:grpSp>
      <p:grpSp>
        <p:nvGrpSpPr>
          <p:cNvPr id="67" name="Group 67"/>
          <p:cNvGrpSpPr/>
          <p:nvPr/>
        </p:nvGrpSpPr>
        <p:grpSpPr>
          <a:xfrm>
            <a:off x="8369618" y="2133124"/>
            <a:ext cx="1055846" cy="198120"/>
            <a:chOff x="8369618" y="2133124"/>
            <a:chExt cx="1055846" cy="198120"/>
          </a:xfrm>
        </p:grpSpPr>
        <p:sp>
          <p:nvSpPr>
            <p:cNvPr id="65" name="TextBox 65"/>
            <p:cNvSpPr txBox="1"/>
            <p:nvPr/>
          </p:nvSpPr>
          <p:spPr>
            <a:xfrm>
              <a:off x="8369618" y="21331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10</a:t>
              </a:r>
            </a:p>
          </p:txBody>
        </p:sp>
        <p:sp>
          <p:nvSpPr>
            <p:cNvPr id="66" name="TextBox 66"/>
            <p:cNvSpPr txBox="1"/>
            <p:nvPr/>
          </p:nvSpPr>
          <p:spPr>
            <a:xfrm>
              <a:off x="8750618" y="2133124"/>
              <a:ext cx="67484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频谱图转换</a:t>
              </a:r>
            </a:p>
          </p:txBody>
        </p:sp>
      </p:grpSp>
      <p:grpSp>
        <p:nvGrpSpPr>
          <p:cNvPr id="70" name="Group 70"/>
          <p:cNvGrpSpPr/>
          <p:nvPr/>
        </p:nvGrpSpPr>
        <p:grpSpPr>
          <a:xfrm>
            <a:off x="8369618" y="2418874"/>
            <a:ext cx="1575911" cy="198120"/>
            <a:chOff x="8369618" y="2418874"/>
            <a:chExt cx="1575911" cy="198120"/>
          </a:xfrm>
        </p:grpSpPr>
        <p:sp>
          <p:nvSpPr>
            <p:cNvPr id="68" name="TextBox 68"/>
            <p:cNvSpPr txBox="1"/>
            <p:nvPr/>
          </p:nvSpPr>
          <p:spPr>
            <a:xfrm>
              <a:off x="8369618" y="2418874"/>
              <a:ext cx="10277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11</a:t>
              </a:r>
            </a:p>
          </p:txBody>
        </p:sp>
        <p:sp>
          <p:nvSpPr>
            <p:cNvPr id="69" name="TextBox 69"/>
            <p:cNvSpPr txBox="1"/>
            <p:nvPr/>
          </p:nvSpPr>
          <p:spPr>
            <a:xfrm>
              <a:off x="8750618" y="2418874"/>
              <a:ext cx="1194911"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频谱图参数与可视化</a:t>
              </a:r>
            </a:p>
          </p:txBody>
        </p:sp>
      </p:grpSp>
      <p:grpSp>
        <p:nvGrpSpPr>
          <p:cNvPr id="73" name="Group 73"/>
          <p:cNvGrpSpPr/>
          <p:nvPr/>
        </p:nvGrpSpPr>
        <p:grpSpPr>
          <a:xfrm>
            <a:off x="8369618" y="2704624"/>
            <a:ext cx="1185862" cy="198120"/>
            <a:chOff x="8369618" y="2704624"/>
            <a:chExt cx="1185862" cy="198120"/>
          </a:xfrm>
        </p:grpSpPr>
        <p:sp>
          <p:nvSpPr>
            <p:cNvPr id="71" name="TextBox 71"/>
            <p:cNvSpPr txBox="1"/>
            <p:nvPr/>
          </p:nvSpPr>
          <p:spPr>
            <a:xfrm>
              <a:off x="8369618" y="27046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12</a:t>
              </a:r>
            </a:p>
          </p:txBody>
        </p:sp>
        <p:sp>
          <p:nvSpPr>
            <p:cNvPr id="72" name="TextBox 72"/>
            <p:cNvSpPr txBox="1"/>
            <p:nvPr/>
          </p:nvSpPr>
          <p:spPr>
            <a:xfrm>
              <a:off x="8750618" y="2704624"/>
              <a:ext cx="804862"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频谱图可视化</a:t>
              </a:r>
            </a:p>
          </p:txBody>
        </p:sp>
      </p:grpSp>
      <p:grpSp>
        <p:nvGrpSpPr>
          <p:cNvPr id="76" name="Group 76"/>
          <p:cNvGrpSpPr/>
          <p:nvPr/>
        </p:nvGrpSpPr>
        <p:grpSpPr>
          <a:xfrm>
            <a:off x="571500" y="3048000"/>
            <a:ext cx="3333750" cy="290512"/>
            <a:chOff x="571500" y="3048000"/>
            <a:chExt cx="3333750" cy="290512"/>
          </a:xfrm>
        </p:grpSpPr>
        <p:sp>
          <p:nvSpPr>
            <p:cNvPr id="74" name="Rectangle 74"/>
            <p:cNvSpPr/>
            <p:nvPr/>
          </p:nvSpPr>
          <p:spPr>
            <a:xfrm>
              <a:off x="571500" y="3048000"/>
              <a:ext cx="3333750" cy="285750"/>
            </a:xfrm>
            <a:prstGeom prst="roundRect">
              <a:avLst>
                <a:gd name="adj" fmla="val 20000"/>
              </a:avLst>
            </a:prstGeom>
            <a:solidFill>
              <a:srgbClr val="44381A"/>
            </a:solidFill>
            <a:ln>
              <a:noFill/>
            </a:ln>
          </p:spPr>
        </p:sp>
        <p:sp>
          <p:nvSpPr>
            <p:cNvPr id="75" name="TextBox 75"/>
            <p:cNvSpPr txBox="1"/>
            <p:nvPr/>
          </p:nvSpPr>
          <p:spPr>
            <a:xfrm>
              <a:off x="1662695" y="3125152"/>
              <a:ext cx="1151361" cy="213360"/>
            </a:xfrm>
            <a:prstGeom prst="rect">
              <a:avLst/>
            </a:prstGeom>
            <a:noFill/>
            <a:ln>
              <a:noFill/>
            </a:ln>
          </p:spPr>
          <p:txBody>
            <a:bodyPr wrap="none" lIns="0" tIns="0" rIns="0" bIns="0" anchor="t" anchorCtr="0">
              <a:spAutoFit/>
            </a:bodyPr>
            <a:lstStyle/>
            <a:p>
              <a:pPr algn="ctr"/>
              <a:r>
                <a:rPr lang="zh-CN" sz="1050" b="1" dirty="0">
                  <a:solidFill>
                    <a:srgbClr val="FBBF24"/>
                  </a:solidFill>
                  <a:latin typeface="Arial"/>
                  <a:ea typeface="Microsoft YaHei"/>
                  <a:cs typeface="Arial"/>
                </a:rPr>
                <a:t>四、CNN模型设计</a:t>
              </a:r>
            </a:p>
          </p:txBody>
        </p:sp>
      </p:grpSp>
      <p:grpSp>
        <p:nvGrpSpPr>
          <p:cNvPr id="79" name="Group 79"/>
          <p:cNvGrpSpPr/>
          <p:nvPr/>
        </p:nvGrpSpPr>
        <p:grpSpPr>
          <a:xfrm>
            <a:off x="1130618" y="3657124"/>
            <a:ext cx="1140357" cy="198120"/>
            <a:chOff x="1130618" y="3657124"/>
            <a:chExt cx="1140357" cy="198120"/>
          </a:xfrm>
        </p:grpSpPr>
        <p:sp>
          <p:nvSpPr>
            <p:cNvPr id="77" name="TextBox 77"/>
            <p:cNvSpPr txBox="1"/>
            <p:nvPr/>
          </p:nvSpPr>
          <p:spPr>
            <a:xfrm>
              <a:off x="1130618" y="36571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13</a:t>
              </a:r>
            </a:p>
          </p:txBody>
        </p:sp>
        <p:sp>
          <p:nvSpPr>
            <p:cNvPr id="78" name="TextBox 78"/>
            <p:cNvSpPr txBox="1"/>
            <p:nvPr/>
          </p:nvSpPr>
          <p:spPr>
            <a:xfrm>
              <a:off x="1511618" y="3657124"/>
              <a:ext cx="759357"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CNN模型架构</a:t>
              </a:r>
            </a:p>
          </p:txBody>
        </p:sp>
      </p:grpSp>
      <p:grpSp>
        <p:nvGrpSpPr>
          <p:cNvPr id="82" name="Group 82"/>
          <p:cNvGrpSpPr/>
          <p:nvPr/>
        </p:nvGrpSpPr>
        <p:grpSpPr>
          <a:xfrm>
            <a:off x="1130618" y="3942874"/>
            <a:ext cx="1270373" cy="198120"/>
            <a:chOff x="1130618" y="3942874"/>
            <a:chExt cx="1270373" cy="198120"/>
          </a:xfrm>
        </p:grpSpPr>
        <p:sp>
          <p:nvSpPr>
            <p:cNvPr id="80" name="TextBox 80"/>
            <p:cNvSpPr txBox="1"/>
            <p:nvPr/>
          </p:nvSpPr>
          <p:spPr>
            <a:xfrm>
              <a:off x="1130618" y="394287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14</a:t>
              </a:r>
            </a:p>
          </p:txBody>
        </p:sp>
        <p:sp>
          <p:nvSpPr>
            <p:cNvPr id="81" name="TextBox 81"/>
            <p:cNvSpPr txBox="1"/>
            <p:nvPr/>
          </p:nvSpPr>
          <p:spPr>
            <a:xfrm>
              <a:off x="1511618" y="3942874"/>
              <a:ext cx="889373"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CNN卷积层详解</a:t>
              </a:r>
            </a:p>
          </p:txBody>
        </p:sp>
      </p:grpSp>
      <p:grpSp>
        <p:nvGrpSpPr>
          <p:cNvPr id="85" name="Group 85"/>
          <p:cNvGrpSpPr/>
          <p:nvPr/>
        </p:nvGrpSpPr>
        <p:grpSpPr>
          <a:xfrm>
            <a:off x="1130618" y="4228624"/>
            <a:ext cx="1660422" cy="198120"/>
            <a:chOff x="1130618" y="4228624"/>
            <a:chExt cx="1660422" cy="198120"/>
          </a:xfrm>
        </p:grpSpPr>
        <p:sp>
          <p:nvSpPr>
            <p:cNvPr id="83" name="TextBox 83"/>
            <p:cNvSpPr txBox="1"/>
            <p:nvPr/>
          </p:nvSpPr>
          <p:spPr>
            <a:xfrm>
              <a:off x="1130618" y="42286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15</a:t>
              </a:r>
            </a:p>
          </p:txBody>
        </p:sp>
        <p:sp>
          <p:nvSpPr>
            <p:cNvPr id="84" name="TextBox 84"/>
            <p:cNvSpPr txBox="1"/>
            <p:nvPr/>
          </p:nvSpPr>
          <p:spPr>
            <a:xfrm>
              <a:off x="1511618" y="4228624"/>
              <a:ext cx="1279422"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CNN特征图与完整架构</a:t>
              </a:r>
            </a:p>
          </p:txBody>
        </p:sp>
      </p:grpSp>
      <p:grpSp>
        <p:nvGrpSpPr>
          <p:cNvPr id="88" name="Group 88"/>
          <p:cNvGrpSpPr/>
          <p:nvPr/>
        </p:nvGrpSpPr>
        <p:grpSpPr>
          <a:xfrm>
            <a:off x="1130618" y="4514374"/>
            <a:ext cx="1530406" cy="198120"/>
            <a:chOff x="1130618" y="4514374"/>
            <a:chExt cx="1530406" cy="198120"/>
          </a:xfrm>
        </p:grpSpPr>
        <p:sp>
          <p:nvSpPr>
            <p:cNvPr id="86" name="TextBox 86"/>
            <p:cNvSpPr txBox="1"/>
            <p:nvPr/>
          </p:nvSpPr>
          <p:spPr>
            <a:xfrm>
              <a:off x="1130618" y="451437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16</a:t>
              </a:r>
            </a:p>
          </p:txBody>
        </p:sp>
        <p:sp>
          <p:nvSpPr>
            <p:cNvPr id="87" name="TextBox 87"/>
            <p:cNvSpPr txBox="1"/>
            <p:nvPr/>
          </p:nvSpPr>
          <p:spPr>
            <a:xfrm>
              <a:off x="1511618" y="4514374"/>
              <a:ext cx="114940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CNN特征演化可视化</a:t>
              </a:r>
            </a:p>
          </p:txBody>
        </p:sp>
      </p:grpSp>
      <p:grpSp>
        <p:nvGrpSpPr>
          <p:cNvPr id="91" name="Group 91"/>
          <p:cNvGrpSpPr/>
          <p:nvPr/>
        </p:nvGrpSpPr>
        <p:grpSpPr>
          <a:xfrm>
            <a:off x="4191000" y="3048000"/>
            <a:ext cx="3333750" cy="290512"/>
            <a:chOff x="4191000" y="3048000"/>
            <a:chExt cx="3333750" cy="290512"/>
          </a:xfrm>
        </p:grpSpPr>
        <p:sp>
          <p:nvSpPr>
            <p:cNvPr id="89" name="Rectangle 89"/>
            <p:cNvSpPr/>
            <p:nvPr/>
          </p:nvSpPr>
          <p:spPr>
            <a:xfrm>
              <a:off x="4191000" y="3048000"/>
              <a:ext cx="3333750" cy="285750"/>
            </a:xfrm>
            <a:prstGeom prst="roundRect">
              <a:avLst>
                <a:gd name="adj" fmla="val 20000"/>
              </a:avLst>
            </a:prstGeom>
            <a:solidFill>
              <a:srgbClr val="471C1C"/>
            </a:solidFill>
            <a:ln>
              <a:noFill/>
            </a:ln>
          </p:spPr>
        </p:sp>
        <p:sp>
          <p:nvSpPr>
            <p:cNvPr id="90" name="TextBox 90"/>
            <p:cNvSpPr txBox="1"/>
            <p:nvPr/>
          </p:nvSpPr>
          <p:spPr>
            <a:xfrm>
              <a:off x="5403485" y="3125152"/>
              <a:ext cx="908780" cy="213360"/>
            </a:xfrm>
            <a:prstGeom prst="rect">
              <a:avLst/>
            </a:prstGeom>
            <a:noFill/>
            <a:ln>
              <a:noFill/>
            </a:ln>
          </p:spPr>
          <p:txBody>
            <a:bodyPr wrap="none" lIns="0" tIns="0" rIns="0" bIns="0" anchor="t" anchorCtr="0">
              <a:spAutoFit/>
            </a:bodyPr>
            <a:lstStyle/>
            <a:p>
              <a:pPr algn="ctr"/>
              <a:r>
                <a:rPr lang="zh-CN" sz="1050" b="1" dirty="0">
                  <a:solidFill>
                    <a:srgbClr val="F87171"/>
                  </a:solidFill>
                  <a:latin typeface="Arial"/>
                  <a:ea typeface="Microsoft YaHei"/>
                  <a:cs typeface="Arial"/>
                </a:rPr>
                <a:t>五、实验结果</a:t>
              </a:r>
            </a:p>
          </p:txBody>
        </p:sp>
      </p:grpSp>
      <p:grpSp>
        <p:nvGrpSpPr>
          <p:cNvPr id="94" name="Group 94"/>
          <p:cNvGrpSpPr/>
          <p:nvPr/>
        </p:nvGrpSpPr>
        <p:grpSpPr>
          <a:xfrm>
            <a:off x="4750118" y="3657124"/>
            <a:ext cx="925830" cy="198120"/>
            <a:chOff x="4750118" y="3657124"/>
            <a:chExt cx="925830" cy="198120"/>
          </a:xfrm>
        </p:grpSpPr>
        <p:sp>
          <p:nvSpPr>
            <p:cNvPr id="92" name="TextBox 92"/>
            <p:cNvSpPr txBox="1"/>
            <p:nvPr/>
          </p:nvSpPr>
          <p:spPr>
            <a:xfrm>
              <a:off x="4750118" y="36571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17</a:t>
              </a:r>
            </a:p>
          </p:txBody>
        </p:sp>
        <p:sp>
          <p:nvSpPr>
            <p:cNvPr id="93" name="TextBox 93"/>
            <p:cNvSpPr txBox="1"/>
            <p:nvPr/>
          </p:nvSpPr>
          <p:spPr>
            <a:xfrm>
              <a:off x="5131118" y="365712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模型训练</a:t>
              </a:r>
            </a:p>
          </p:txBody>
        </p:sp>
      </p:grpSp>
      <p:grpSp>
        <p:nvGrpSpPr>
          <p:cNvPr id="97" name="Group 97"/>
          <p:cNvGrpSpPr/>
          <p:nvPr/>
        </p:nvGrpSpPr>
        <p:grpSpPr>
          <a:xfrm>
            <a:off x="4750118" y="3942874"/>
            <a:ext cx="925830" cy="198120"/>
            <a:chOff x="4750118" y="3942874"/>
            <a:chExt cx="925830" cy="198120"/>
          </a:xfrm>
        </p:grpSpPr>
        <p:sp>
          <p:nvSpPr>
            <p:cNvPr id="95" name="TextBox 95"/>
            <p:cNvSpPr txBox="1"/>
            <p:nvPr/>
          </p:nvSpPr>
          <p:spPr>
            <a:xfrm>
              <a:off x="4750118" y="394287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18</a:t>
              </a:r>
            </a:p>
          </p:txBody>
        </p:sp>
        <p:sp>
          <p:nvSpPr>
            <p:cNvPr id="96" name="TextBox 96"/>
            <p:cNvSpPr txBox="1"/>
            <p:nvPr/>
          </p:nvSpPr>
          <p:spPr>
            <a:xfrm>
              <a:off x="5131118" y="394287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模型评估</a:t>
              </a:r>
            </a:p>
          </p:txBody>
        </p:sp>
      </p:grpSp>
      <p:grpSp>
        <p:nvGrpSpPr>
          <p:cNvPr id="100" name="Group 100"/>
          <p:cNvGrpSpPr/>
          <p:nvPr/>
        </p:nvGrpSpPr>
        <p:grpSpPr>
          <a:xfrm>
            <a:off x="4750118" y="4228624"/>
            <a:ext cx="1140357" cy="198120"/>
            <a:chOff x="4750118" y="4228624"/>
            <a:chExt cx="1140357" cy="198120"/>
          </a:xfrm>
        </p:grpSpPr>
        <p:sp>
          <p:nvSpPr>
            <p:cNvPr id="98" name="TextBox 98"/>
            <p:cNvSpPr txBox="1"/>
            <p:nvPr/>
          </p:nvSpPr>
          <p:spPr>
            <a:xfrm>
              <a:off x="4750118" y="42286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19</a:t>
              </a:r>
            </a:p>
          </p:txBody>
        </p:sp>
        <p:sp>
          <p:nvSpPr>
            <p:cNvPr id="99" name="TextBox 99"/>
            <p:cNvSpPr txBox="1"/>
            <p:nvPr/>
          </p:nvSpPr>
          <p:spPr>
            <a:xfrm>
              <a:off x="5131118" y="4228624"/>
              <a:ext cx="759357"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SNR性能分析</a:t>
              </a:r>
            </a:p>
          </p:txBody>
        </p:sp>
      </p:grpSp>
      <p:grpSp>
        <p:nvGrpSpPr>
          <p:cNvPr id="103" name="Group 103"/>
          <p:cNvGrpSpPr/>
          <p:nvPr/>
        </p:nvGrpSpPr>
        <p:grpSpPr>
          <a:xfrm>
            <a:off x="4750118" y="4514374"/>
            <a:ext cx="925830" cy="198120"/>
            <a:chOff x="4750118" y="4514374"/>
            <a:chExt cx="925830" cy="198120"/>
          </a:xfrm>
        </p:grpSpPr>
        <p:sp>
          <p:nvSpPr>
            <p:cNvPr id="101" name="TextBox 101"/>
            <p:cNvSpPr txBox="1"/>
            <p:nvPr/>
          </p:nvSpPr>
          <p:spPr>
            <a:xfrm>
              <a:off x="4750118" y="45143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20</a:t>
              </a:r>
            </a:p>
          </p:txBody>
        </p:sp>
        <p:sp>
          <p:nvSpPr>
            <p:cNvPr id="102" name="TextBox 102"/>
            <p:cNvSpPr txBox="1"/>
            <p:nvPr/>
          </p:nvSpPr>
          <p:spPr>
            <a:xfrm>
              <a:off x="5131118" y="451437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实验对比</a:t>
              </a:r>
            </a:p>
          </p:txBody>
        </p:sp>
      </p:grpSp>
      <p:grpSp>
        <p:nvGrpSpPr>
          <p:cNvPr id="106" name="Group 106"/>
          <p:cNvGrpSpPr/>
          <p:nvPr/>
        </p:nvGrpSpPr>
        <p:grpSpPr>
          <a:xfrm>
            <a:off x="4750118" y="4800124"/>
            <a:ext cx="925830" cy="198120"/>
            <a:chOff x="4750118" y="4800124"/>
            <a:chExt cx="925830" cy="198120"/>
          </a:xfrm>
        </p:grpSpPr>
        <p:sp>
          <p:nvSpPr>
            <p:cNvPr id="104" name="TextBox 104"/>
            <p:cNvSpPr txBox="1"/>
            <p:nvPr/>
          </p:nvSpPr>
          <p:spPr>
            <a:xfrm>
              <a:off x="4750118" y="4800124"/>
              <a:ext cx="1352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21</a:t>
              </a:r>
            </a:p>
          </p:txBody>
        </p:sp>
        <p:sp>
          <p:nvSpPr>
            <p:cNvPr id="105" name="TextBox 105"/>
            <p:cNvSpPr txBox="1"/>
            <p:nvPr/>
          </p:nvSpPr>
          <p:spPr>
            <a:xfrm>
              <a:off x="5131118" y="480012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实时演示</a:t>
              </a:r>
            </a:p>
          </p:txBody>
        </p:sp>
      </p:grpSp>
      <p:grpSp>
        <p:nvGrpSpPr>
          <p:cNvPr id="109" name="Group 109"/>
          <p:cNvGrpSpPr/>
          <p:nvPr/>
        </p:nvGrpSpPr>
        <p:grpSpPr>
          <a:xfrm>
            <a:off x="7810500" y="3048000"/>
            <a:ext cx="3714750" cy="290512"/>
            <a:chOff x="7810500" y="3048000"/>
            <a:chExt cx="3714750" cy="290512"/>
          </a:xfrm>
        </p:grpSpPr>
        <p:sp>
          <p:nvSpPr>
            <p:cNvPr id="107" name="Rectangle 107"/>
            <p:cNvSpPr/>
            <p:nvPr/>
          </p:nvSpPr>
          <p:spPr>
            <a:xfrm>
              <a:off x="7810500" y="3048000"/>
              <a:ext cx="3714750" cy="285750"/>
            </a:xfrm>
            <a:prstGeom prst="roundRect">
              <a:avLst>
                <a:gd name="adj" fmla="val 20000"/>
              </a:avLst>
            </a:prstGeom>
            <a:solidFill>
              <a:srgbClr val="232A56"/>
            </a:solidFill>
            <a:ln>
              <a:noFill/>
            </a:ln>
          </p:spPr>
        </p:sp>
        <p:sp>
          <p:nvSpPr>
            <p:cNvPr id="108" name="TextBox 108"/>
            <p:cNvSpPr txBox="1"/>
            <p:nvPr/>
          </p:nvSpPr>
          <p:spPr>
            <a:xfrm>
              <a:off x="9139976" y="3125152"/>
              <a:ext cx="1055799" cy="213360"/>
            </a:xfrm>
            <a:prstGeom prst="rect">
              <a:avLst/>
            </a:prstGeom>
            <a:noFill/>
            <a:ln>
              <a:noFill/>
            </a:ln>
          </p:spPr>
          <p:txBody>
            <a:bodyPr wrap="none" lIns="0" tIns="0" rIns="0" bIns="0" anchor="t" anchorCtr="0">
              <a:spAutoFit/>
            </a:bodyPr>
            <a:lstStyle/>
            <a:p>
              <a:pPr algn="ctr"/>
              <a:r>
                <a:rPr lang="zh-CN" sz="1050" b="1" dirty="0">
                  <a:solidFill>
                    <a:srgbClr val="818CF8"/>
                  </a:solidFill>
                  <a:latin typeface="Arial"/>
                  <a:ea typeface="Microsoft YaHei"/>
                  <a:cs typeface="Arial"/>
                </a:rPr>
                <a:t>六、总结与展望</a:t>
              </a:r>
            </a:p>
          </p:txBody>
        </p:sp>
      </p:grpSp>
      <p:grpSp>
        <p:nvGrpSpPr>
          <p:cNvPr id="112" name="Group 112"/>
          <p:cNvGrpSpPr/>
          <p:nvPr/>
        </p:nvGrpSpPr>
        <p:grpSpPr>
          <a:xfrm>
            <a:off x="8369618" y="3657124"/>
            <a:ext cx="1055846" cy="198120"/>
            <a:chOff x="8369618" y="3657124"/>
            <a:chExt cx="1055846" cy="198120"/>
          </a:xfrm>
        </p:grpSpPr>
        <p:sp>
          <p:nvSpPr>
            <p:cNvPr id="110" name="TextBox 110"/>
            <p:cNvSpPr txBox="1"/>
            <p:nvPr/>
          </p:nvSpPr>
          <p:spPr>
            <a:xfrm>
              <a:off x="8369618" y="36571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22</a:t>
              </a:r>
            </a:p>
          </p:txBody>
        </p:sp>
        <p:sp>
          <p:nvSpPr>
            <p:cNvPr id="111" name="TextBox 111"/>
            <p:cNvSpPr txBox="1"/>
            <p:nvPr/>
          </p:nvSpPr>
          <p:spPr>
            <a:xfrm>
              <a:off x="8750618" y="3657124"/>
              <a:ext cx="67484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局限性分析</a:t>
              </a:r>
            </a:p>
          </p:txBody>
        </p:sp>
      </p:grpSp>
      <p:grpSp>
        <p:nvGrpSpPr>
          <p:cNvPr id="115" name="Group 115"/>
          <p:cNvGrpSpPr/>
          <p:nvPr/>
        </p:nvGrpSpPr>
        <p:grpSpPr>
          <a:xfrm>
            <a:off x="8369618" y="3942874"/>
            <a:ext cx="1055846" cy="198120"/>
            <a:chOff x="8369618" y="3942874"/>
            <a:chExt cx="1055846" cy="198120"/>
          </a:xfrm>
        </p:grpSpPr>
        <p:sp>
          <p:nvSpPr>
            <p:cNvPr id="113" name="TextBox 113"/>
            <p:cNvSpPr txBox="1"/>
            <p:nvPr/>
          </p:nvSpPr>
          <p:spPr>
            <a:xfrm>
              <a:off x="8369618" y="394287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23</a:t>
              </a:r>
            </a:p>
          </p:txBody>
        </p:sp>
        <p:sp>
          <p:nvSpPr>
            <p:cNvPr id="114" name="TextBox 114"/>
            <p:cNvSpPr txBox="1"/>
            <p:nvPr/>
          </p:nvSpPr>
          <p:spPr>
            <a:xfrm>
              <a:off x="8750618" y="3942874"/>
              <a:ext cx="67484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结论与展望</a:t>
              </a:r>
            </a:p>
          </p:txBody>
        </p:sp>
      </p:grpSp>
      <p:grpSp>
        <p:nvGrpSpPr>
          <p:cNvPr id="118" name="Group 118"/>
          <p:cNvGrpSpPr/>
          <p:nvPr/>
        </p:nvGrpSpPr>
        <p:grpSpPr>
          <a:xfrm>
            <a:off x="8369618" y="4228624"/>
            <a:ext cx="925830" cy="198120"/>
            <a:chOff x="8369618" y="4228624"/>
            <a:chExt cx="925830" cy="198120"/>
          </a:xfrm>
        </p:grpSpPr>
        <p:sp>
          <p:nvSpPr>
            <p:cNvPr id="116" name="TextBox 116"/>
            <p:cNvSpPr txBox="1"/>
            <p:nvPr/>
          </p:nvSpPr>
          <p:spPr>
            <a:xfrm>
              <a:off x="8369618" y="4228624"/>
              <a:ext cx="16778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24</a:t>
              </a:r>
            </a:p>
          </p:txBody>
        </p:sp>
        <p:sp>
          <p:nvSpPr>
            <p:cNvPr id="117" name="TextBox 117"/>
            <p:cNvSpPr txBox="1"/>
            <p:nvPr/>
          </p:nvSpPr>
          <p:spPr>
            <a:xfrm>
              <a:off x="8750618" y="422862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参考文献</a:t>
              </a:r>
            </a:p>
          </p:txBody>
        </p:sp>
      </p:grpSp>
      <p:sp>
        <p:nvSpPr>
          <p:cNvPr id="119" name="TextBox 119"/>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550265"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研究背景 Research Background</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143000"/>
            <a:ext cx="5334000" cy="2667000"/>
          </a:xfrm>
          <a:prstGeom prst="roundRect">
            <a:avLst>
              <a:gd name="adj" fmla="val 4286"/>
            </a:avLst>
          </a:prstGeom>
          <a:solidFill>
            <a:srgbClr val="1E293B"/>
          </a:solidFill>
          <a:ln w="9525">
            <a:solidFill>
              <a:srgbClr val="334155"/>
            </a:solidFill>
          </a:ln>
        </p:spPr>
      </p:sp>
      <p:sp>
        <p:nvSpPr>
          <p:cNvPr id="7" name="TextBox 7"/>
          <p:cNvSpPr txBox="1"/>
          <p:nvPr/>
        </p:nvSpPr>
        <p:spPr>
          <a:xfrm>
            <a:off x="836295" y="1345882"/>
            <a:ext cx="3172351" cy="335280"/>
          </a:xfrm>
          <a:prstGeom prst="rect">
            <a:avLst/>
          </a:prstGeom>
          <a:noFill/>
          <a:ln>
            <a:noFill/>
          </a:ln>
        </p:spPr>
        <p:txBody>
          <a:bodyPr wrap="none" lIns="0" tIns="0" rIns="0" bIns="0" anchor="t" anchorCtr="0">
            <a:spAutoFit/>
          </a:bodyPr>
          <a:lstStyle/>
          <a:p>
            <a:pPr algn="l"/>
            <a:r>
              <a:rPr lang="zh-CN" sz="1650" b="1" dirty="0">
                <a:gradFill>
                  <a:gsLst>
                    <a:gs pos="0">
                      <a:srgbClr val="2563EB"/>
                    </a:gs>
                    <a:gs pos="100000">
                      <a:srgbClr val="8B5CF6"/>
                    </a:gs>
                  </a:gsLst>
                  <a:lin ang="0" scaled="1"/>
                </a:gradFill>
                <a:latin typeface="Arial"/>
                <a:ea typeface="Microsoft YaHei"/>
                <a:cs typeface="Arial"/>
              </a:rPr>
              <a:t>自动调制识别 (AMR) 的重要性</a:t>
            </a:r>
          </a:p>
        </p:txBody>
      </p:sp>
      <p:sp>
        <p:nvSpPr>
          <p:cNvPr id="8" name="TextBox 8"/>
          <p:cNvSpPr txBox="1"/>
          <p:nvPr/>
        </p:nvSpPr>
        <p:spPr>
          <a:xfrm>
            <a:off x="842010" y="1775460"/>
            <a:ext cx="2726817"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 无线通信信号检测与分类的核心技术</a:t>
            </a:r>
          </a:p>
        </p:txBody>
      </p:sp>
      <p:sp>
        <p:nvSpPr>
          <p:cNvPr id="9" name="TextBox 9"/>
          <p:cNvSpPr txBox="1"/>
          <p:nvPr/>
        </p:nvSpPr>
        <p:spPr>
          <a:xfrm>
            <a:off x="842010" y="2061210"/>
            <a:ext cx="2478786"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 AM/FM 是最基本的模拟调制方式</a:t>
            </a:r>
          </a:p>
        </p:txBody>
      </p:sp>
      <p:sp>
        <p:nvSpPr>
          <p:cNvPr id="10" name="TextBox 10"/>
          <p:cNvSpPr txBox="1"/>
          <p:nvPr/>
        </p:nvSpPr>
        <p:spPr>
          <a:xfrm>
            <a:off x="842010" y="2346960"/>
            <a:ext cx="2726817"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 广泛应用于广播、电视、通信等领域</a:t>
            </a:r>
          </a:p>
        </p:txBody>
      </p:sp>
      <p:sp>
        <p:nvSpPr>
          <p:cNvPr id="11" name="Rectangle 11"/>
          <p:cNvSpPr/>
          <p:nvPr/>
        </p:nvSpPr>
        <p:spPr>
          <a:xfrm>
            <a:off x="6286500" y="1143000"/>
            <a:ext cx="5334000" cy="2667000"/>
          </a:xfrm>
          <a:prstGeom prst="roundRect">
            <a:avLst>
              <a:gd name="adj" fmla="val 4286"/>
            </a:avLst>
          </a:prstGeom>
          <a:solidFill>
            <a:srgbClr val="1E293B"/>
          </a:solidFill>
          <a:ln w="9525">
            <a:solidFill>
              <a:srgbClr val="334155"/>
            </a:solidFill>
          </a:ln>
        </p:spPr>
      </p:sp>
      <p:sp>
        <p:nvSpPr>
          <p:cNvPr id="12" name="TextBox 12"/>
          <p:cNvSpPr txBox="1"/>
          <p:nvPr/>
        </p:nvSpPr>
        <p:spPr>
          <a:xfrm>
            <a:off x="6551295" y="1345882"/>
            <a:ext cx="2282890" cy="335280"/>
          </a:xfrm>
          <a:prstGeom prst="rect">
            <a:avLst/>
          </a:prstGeom>
          <a:noFill/>
          <a:ln>
            <a:noFill/>
          </a:ln>
        </p:spPr>
        <p:txBody>
          <a:bodyPr wrap="none" lIns="0" tIns="0" rIns="0" bIns="0" anchor="t" anchorCtr="0">
            <a:spAutoFit/>
          </a:bodyPr>
          <a:lstStyle/>
          <a:p>
            <a:pPr algn="l"/>
            <a:r>
              <a:rPr lang="zh-CN" sz="1650" b="1" dirty="0">
                <a:solidFill>
                  <a:srgbClr val="818CF8"/>
                </a:solidFill>
                <a:latin typeface="Arial"/>
                <a:ea typeface="Microsoft YaHei"/>
                <a:cs typeface="Arial"/>
              </a:rPr>
              <a:t>传统方法 vs 深度学习</a:t>
            </a:r>
          </a:p>
        </p:txBody>
      </p:sp>
      <p:sp>
        <p:nvSpPr>
          <p:cNvPr id="13" name="TextBox 13"/>
          <p:cNvSpPr txBox="1"/>
          <p:nvPr/>
        </p:nvSpPr>
        <p:spPr>
          <a:xfrm>
            <a:off x="6558915" y="1791652"/>
            <a:ext cx="695604" cy="213360"/>
          </a:xfrm>
          <a:prstGeom prst="rect">
            <a:avLst/>
          </a:prstGeom>
          <a:noFill/>
          <a:ln>
            <a:noFill/>
          </a:ln>
        </p:spPr>
        <p:txBody>
          <a:bodyPr wrap="none" lIns="0" tIns="0" rIns="0" bIns="0" anchor="t" anchorCtr="0">
            <a:spAutoFit/>
          </a:bodyPr>
          <a:lstStyle/>
          <a:p>
            <a:pPr algn="l"/>
            <a:r>
              <a:rPr lang="zh-CN" sz="1050" b="1" dirty="0">
                <a:solidFill>
                  <a:srgbClr val="F87171"/>
                </a:solidFill>
                <a:latin typeface="Arial"/>
                <a:ea typeface="Microsoft YaHei"/>
                <a:cs typeface="Arial"/>
              </a:rPr>
              <a:t>传统方法:</a:t>
            </a:r>
          </a:p>
        </p:txBody>
      </p:sp>
      <p:sp>
        <p:nvSpPr>
          <p:cNvPr id="14" name="TextBox 14"/>
          <p:cNvSpPr txBox="1"/>
          <p:nvPr/>
        </p:nvSpPr>
        <p:spPr>
          <a:xfrm>
            <a:off x="6558915" y="2029778"/>
            <a:ext cx="98579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人工特征提取</a:t>
            </a:r>
          </a:p>
        </p:txBody>
      </p:sp>
      <p:sp>
        <p:nvSpPr>
          <p:cNvPr id="15" name="TextBox 15"/>
          <p:cNvSpPr txBox="1"/>
          <p:nvPr/>
        </p:nvSpPr>
        <p:spPr>
          <a:xfrm>
            <a:off x="6558915" y="2248852"/>
            <a:ext cx="126582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需要领域专家知识</a:t>
            </a:r>
          </a:p>
        </p:txBody>
      </p:sp>
      <p:sp>
        <p:nvSpPr>
          <p:cNvPr id="16" name="TextBox 16"/>
          <p:cNvSpPr txBox="1"/>
          <p:nvPr/>
        </p:nvSpPr>
        <p:spPr>
          <a:xfrm>
            <a:off x="6558915" y="2467928"/>
            <a:ext cx="98579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泛化能力有限</a:t>
            </a:r>
          </a:p>
        </p:txBody>
      </p:sp>
      <p:sp>
        <p:nvSpPr>
          <p:cNvPr id="17" name="TextBox 17"/>
          <p:cNvSpPr txBox="1"/>
          <p:nvPr/>
        </p:nvSpPr>
        <p:spPr>
          <a:xfrm>
            <a:off x="6558915" y="2839402"/>
            <a:ext cx="989640"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Arial"/>
                <a:ea typeface="Microsoft YaHei"/>
                <a:cs typeface="Arial"/>
              </a:rPr>
              <a:t>深度学习方法:</a:t>
            </a:r>
          </a:p>
        </p:txBody>
      </p:sp>
      <p:sp>
        <p:nvSpPr>
          <p:cNvPr id="18" name="TextBox 18"/>
          <p:cNvSpPr txBox="1"/>
          <p:nvPr/>
        </p:nvSpPr>
        <p:spPr>
          <a:xfrm>
            <a:off x="6558915" y="3077528"/>
            <a:ext cx="98579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自动特征学习</a:t>
            </a:r>
          </a:p>
        </p:txBody>
      </p:sp>
      <p:sp>
        <p:nvSpPr>
          <p:cNvPr id="19" name="TextBox 19"/>
          <p:cNvSpPr txBox="1"/>
          <p:nvPr/>
        </p:nvSpPr>
        <p:spPr>
          <a:xfrm>
            <a:off x="6558915" y="3296602"/>
            <a:ext cx="126582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无需人工设计特征</a:t>
            </a:r>
          </a:p>
        </p:txBody>
      </p:sp>
      <p:sp>
        <p:nvSpPr>
          <p:cNvPr id="20" name="TextBox 20"/>
          <p:cNvSpPr txBox="1"/>
          <p:nvPr/>
        </p:nvSpPr>
        <p:spPr>
          <a:xfrm>
            <a:off x="6558915" y="3515678"/>
            <a:ext cx="112580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更强的泛化能力</a:t>
            </a:r>
          </a:p>
        </p:txBody>
      </p:sp>
      <p:sp>
        <p:nvSpPr>
          <p:cNvPr id="21" name="TextBox 21"/>
          <p:cNvSpPr txBox="1"/>
          <p:nvPr/>
        </p:nvSpPr>
        <p:spPr>
          <a:xfrm>
            <a:off x="552450" y="4219575"/>
            <a:ext cx="1508284"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本研究核心思路</a:t>
            </a:r>
          </a:p>
        </p:txBody>
      </p:sp>
      <p:sp>
        <p:nvSpPr>
          <p:cNvPr id="22" name="Rectangle 22"/>
          <p:cNvSpPr/>
          <p:nvPr/>
        </p:nvSpPr>
        <p:spPr>
          <a:xfrm>
            <a:off x="571500" y="4524375"/>
            <a:ext cx="11049000" cy="1714500"/>
          </a:xfrm>
          <a:prstGeom prst="roundRect">
            <a:avLst>
              <a:gd name="adj" fmla="val 6667"/>
            </a:avLst>
          </a:prstGeom>
          <a:solidFill>
            <a:srgbClr val="1E293B"/>
          </a:solidFill>
          <a:ln w="9525">
            <a:solidFill>
              <a:srgbClr val="334155"/>
            </a:solidFill>
          </a:ln>
        </p:spPr>
      </p:sp>
      <p:grpSp>
        <p:nvGrpSpPr>
          <p:cNvPr id="27" name="Group 27"/>
          <p:cNvGrpSpPr/>
          <p:nvPr/>
        </p:nvGrpSpPr>
        <p:grpSpPr>
          <a:xfrm>
            <a:off x="952500" y="4953000"/>
            <a:ext cx="1905000" cy="952500"/>
            <a:chOff x="952500" y="4953000"/>
            <a:chExt cx="1905000" cy="952500"/>
          </a:xfrm>
        </p:grpSpPr>
        <p:sp>
          <p:nvSpPr>
            <p:cNvPr id="23" name="Rectangle 23"/>
            <p:cNvSpPr/>
            <p:nvPr/>
          </p:nvSpPr>
          <p:spPr>
            <a:xfrm>
              <a:off x="952500" y="4953000"/>
              <a:ext cx="1905000" cy="952500"/>
            </a:xfrm>
            <a:prstGeom prst="roundRect">
              <a:avLst>
                <a:gd name="adj" fmla="val 8000"/>
              </a:avLst>
            </a:prstGeom>
            <a:solidFill>
              <a:srgbClr val="0F172A"/>
            </a:solidFill>
            <a:ln w="19050">
              <a:solidFill>
                <a:srgbClr val="2563EB"/>
              </a:solidFill>
            </a:ln>
          </p:spPr>
        </p:sp>
        <p:sp>
          <p:nvSpPr>
            <p:cNvPr id="24" name="TextBox 24"/>
            <p:cNvSpPr txBox="1"/>
            <p:nvPr/>
          </p:nvSpPr>
          <p:spPr>
            <a:xfrm>
              <a:off x="1751648" y="5125402"/>
              <a:ext cx="306705" cy="213360"/>
            </a:xfrm>
            <a:prstGeom prst="rect">
              <a:avLst/>
            </a:prstGeom>
            <a:noFill/>
            <a:ln>
              <a:noFill/>
            </a:ln>
          </p:spPr>
          <p:txBody>
            <a:bodyPr wrap="none" lIns="0" tIns="0" rIns="0" bIns="0" anchor="t" anchorCtr="0">
              <a:spAutoFit/>
            </a:bodyPr>
            <a:lstStyle/>
            <a:p>
              <a:pPr algn="ctr"/>
              <a:r>
                <a:rPr lang="zh-CN" sz="1050" dirty="0">
                  <a:gradFill>
                    <a:gsLst>
                      <a:gs pos="0">
                        <a:srgbClr val="2563EB"/>
                      </a:gs>
                      <a:gs pos="100000">
                        <a:srgbClr val="8B5CF6"/>
                      </a:gs>
                    </a:gsLst>
                    <a:lin ang="0" scaled="1"/>
                  </a:gradFill>
                  <a:latin typeface="Arial"/>
                  <a:ea typeface="Microsoft YaHei"/>
                  <a:cs typeface="Arial"/>
                </a:rPr>
                <a:t>输入</a:t>
              </a:r>
            </a:p>
          </p:txBody>
        </p:sp>
        <p:sp>
          <p:nvSpPr>
            <p:cNvPr id="25" name="TextBox 25"/>
            <p:cNvSpPr txBox="1"/>
            <p:nvPr/>
          </p:nvSpPr>
          <p:spPr>
            <a:xfrm>
              <a:off x="1584531" y="5379720"/>
              <a:ext cx="640937" cy="182880"/>
            </a:xfrm>
            <a:prstGeom prst="rect">
              <a:avLst/>
            </a:prstGeom>
            <a:noFill/>
            <a:ln>
              <a:noFill/>
            </a:ln>
          </p:spPr>
          <p:txBody>
            <a:bodyPr wrap="none" lIns="0" tIns="0" rIns="0" bIns="0" anchor="t" anchorCtr="0">
              <a:spAutoFit/>
            </a:bodyPr>
            <a:lstStyle/>
            <a:p>
              <a:pPr algn="ctr"/>
              <a:r>
                <a:rPr lang="zh-CN" sz="900" dirty="0">
                  <a:solidFill>
                    <a:srgbClr val="CBD5E1"/>
                  </a:solidFill>
                  <a:latin typeface="Arial"/>
                  <a:ea typeface="Microsoft YaHei"/>
                  <a:cs typeface="Arial"/>
                </a:rPr>
                <a:t>1D 时间序列</a:t>
              </a:r>
            </a:p>
          </p:txBody>
        </p:sp>
        <p:sp>
          <p:nvSpPr>
            <p:cNvPr id="26" name="TextBox 26"/>
            <p:cNvSpPr txBox="1"/>
            <p:nvPr/>
          </p:nvSpPr>
          <p:spPr>
            <a:xfrm>
              <a:off x="1572377" y="5578316"/>
              <a:ext cx="665246"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AM/FM Signal</a:t>
              </a:r>
            </a:p>
          </p:txBody>
        </p:sp>
      </p:grpSp>
      <p:sp>
        <p:nvSpPr>
          <p:cNvPr id="28" name="Line 28"/>
          <p:cNvSpPr/>
          <p:nvPr/>
        </p:nvSpPr>
        <p:spPr>
          <a:xfrm>
            <a:off x="2857500" y="5429250"/>
            <a:ext cx="952500" cy="1"/>
          </a:xfrm>
          <a:prstGeom prst="line">
            <a:avLst/>
          </a:prstGeom>
          <a:noFill/>
          <a:ln w="19050">
            <a:solidFill>
              <a:srgbClr val="2563EB"/>
            </a:solidFill>
            <a:tailEnd type="triangle" w="lg" len="lg"/>
          </a:ln>
        </p:spPr>
      </p:sp>
      <p:sp>
        <p:nvSpPr>
          <p:cNvPr id="29" name="TextBox 29"/>
          <p:cNvSpPr txBox="1"/>
          <p:nvPr/>
        </p:nvSpPr>
        <p:spPr>
          <a:xfrm>
            <a:off x="3202303" y="5197316"/>
            <a:ext cx="262892"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STFT</a:t>
            </a:r>
          </a:p>
        </p:txBody>
      </p:sp>
      <p:grpSp>
        <p:nvGrpSpPr>
          <p:cNvPr id="34" name="Group 34"/>
          <p:cNvGrpSpPr/>
          <p:nvPr/>
        </p:nvGrpSpPr>
        <p:grpSpPr>
          <a:xfrm>
            <a:off x="3810000" y="4953000"/>
            <a:ext cx="1905000" cy="952500"/>
            <a:chOff x="3810000" y="4953000"/>
            <a:chExt cx="1905000" cy="952500"/>
          </a:xfrm>
        </p:grpSpPr>
        <p:sp>
          <p:nvSpPr>
            <p:cNvPr id="30" name="Rectangle 30"/>
            <p:cNvSpPr/>
            <p:nvPr/>
          </p:nvSpPr>
          <p:spPr>
            <a:xfrm>
              <a:off x="3810000" y="4953000"/>
              <a:ext cx="1905000" cy="952500"/>
            </a:xfrm>
            <a:prstGeom prst="roundRect">
              <a:avLst>
                <a:gd name="adj" fmla="val 8000"/>
              </a:avLst>
            </a:prstGeom>
            <a:solidFill>
              <a:srgbClr val="0F172A"/>
            </a:solidFill>
            <a:ln w="19050">
              <a:solidFill>
                <a:srgbClr val="8B5CF6"/>
              </a:solidFill>
            </a:ln>
          </p:spPr>
        </p:sp>
        <p:sp>
          <p:nvSpPr>
            <p:cNvPr id="31" name="TextBox 31"/>
            <p:cNvSpPr txBox="1"/>
            <p:nvPr/>
          </p:nvSpPr>
          <p:spPr>
            <a:xfrm>
              <a:off x="4609148" y="5125402"/>
              <a:ext cx="306705" cy="213360"/>
            </a:xfrm>
            <a:prstGeom prst="rect">
              <a:avLst/>
            </a:prstGeom>
            <a:noFill/>
            <a:ln>
              <a:noFill/>
            </a:ln>
          </p:spPr>
          <p:txBody>
            <a:bodyPr wrap="none" lIns="0" tIns="0" rIns="0" bIns="0" anchor="t" anchorCtr="0">
              <a:spAutoFit/>
            </a:bodyPr>
            <a:lstStyle/>
            <a:p>
              <a:pPr algn="ctr"/>
              <a:r>
                <a:rPr lang="zh-CN" sz="1050" dirty="0">
                  <a:solidFill>
                    <a:srgbClr val="818CF8"/>
                  </a:solidFill>
                  <a:latin typeface="Arial"/>
                  <a:ea typeface="Microsoft YaHei"/>
                  <a:cs typeface="Arial"/>
                </a:rPr>
                <a:t>转换</a:t>
              </a:r>
            </a:p>
          </p:txBody>
        </p:sp>
        <p:sp>
          <p:nvSpPr>
            <p:cNvPr id="32" name="TextBox 32"/>
            <p:cNvSpPr txBox="1"/>
            <p:nvPr/>
          </p:nvSpPr>
          <p:spPr>
            <a:xfrm>
              <a:off x="4487037" y="5379720"/>
              <a:ext cx="550926" cy="182880"/>
            </a:xfrm>
            <a:prstGeom prst="rect">
              <a:avLst/>
            </a:prstGeom>
            <a:noFill/>
            <a:ln>
              <a:noFill/>
            </a:ln>
          </p:spPr>
          <p:txBody>
            <a:bodyPr wrap="none" lIns="0" tIns="0" rIns="0" bIns="0" anchor="t" anchorCtr="0">
              <a:spAutoFit/>
            </a:bodyPr>
            <a:lstStyle/>
            <a:p>
              <a:pPr algn="ctr"/>
              <a:r>
                <a:rPr lang="zh-CN" sz="900" dirty="0">
                  <a:solidFill>
                    <a:srgbClr val="CBD5E1"/>
                  </a:solidFill>
                  <a:latin typeface="Arial"/>
                  <a:ea typeface="Microsoft YaHei"/>
                  <a:cs typeface="Arial"/>
                </a:rPr>
                <a:t>2D 频谱图</a:t>
              </a:r>
            </a:p>
          </p:txBody>
        </p:sp>
        <p:sp>
          <p:nvSpPr>
            <p:cNvPr id="33" name="TextBox 33"/>
            <p:cNvSpPr txBox="1"/>
            <p:nvPr/>
          </p:nvSpPr>
          <p:spPr>
            <a:xfrm>
              <a:off x="4458731" y="5578316"/>
              <a:ext cx="607538"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Spectrogram</a:t>
              </a:r>
            </a:p>
          </p:txBody>
        </p:sp>
      </p:grpSp>
      <p:sp>
        <p:nvSpPr>
          <p:cNvPr id="35" name="Line 35"/>
          <p:cNvSpPr/>
          <p:nvPr/>
        </p:nvSpPr>
        <p:spPr>
          <a:xfrm>
            <a:off x="5715000" y="5429250"/>
            <a:ext cx="952500" cy="9525"/>
          </a:xfrm>
          <a:custGeom>
            <a:avLst/>
            <a:gdLst/>
            <a:ahLst/>
            <a:cxnLst/>
            <a:rect l="l" t="t" r="r" b="b"/>
            <a:pathLst>
              <a:path w="952500" h="9525">
                <a:moveTo>
                  <a:pt x="0" y="0"/>
                </a:moveTo>
                <a:lnTo>
                  <a:pt x="952500" y="0"/>
                </a:lnTo>
              </a:path>
            </a:pathLst>
          </a:custGeom>
          <a:noFill/>
          <a:ln w="19050">
            <a:solidFill>
              <a:srgbClr val="8B5CF6"/>
            </a:solidFill>
          </a:ln>
        </p:spPr>
      </p:sp>
      <p:sp>
        <p:nvSpPr>
          <p:cNvPr id="36" name="TextBox 36"/>
          <p:cNvSpPr txBox="1"/>
          <p:nvPr/>
        </p:nvSpPr>
        <p:spPr>
          <a:xfrm>
            <a:off x="6075834" y="5197316"/>
            <a:ext cx="230832"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CNN</a:t>
            </a:r>
          </a:p>
        </p:txBody>
      </p:sp>
      <p:grpSp>
        <p:nvGrpSpPr>
          <p:cNvPr id="41" name="Group 41"/>
          <p:cNvGrpSpPr/>
          <p:nvPr/>
        </p:nvGrpSpPr>
        <p:grpSpPr>
          <a:xfrm>
            <a:off x="6667500" y="4953000"/>
            <a:ext cx="1905000" cy="952500"/>
            <a:chOff x="6667500" y="4953000"/>
            <a:chExt cx="1905000" cy="952500"/>
          </a:xfrm>
        </p:grpSpPr>
        <p:sp>
          <p:nvSpPr>
            <p:cNvPr id="37" name="Rectangle 37"/>
            <p:cNvSpPr/>
            <p:nvPr/>
          </p:nvSpPr>
          <p:spPr>
            <a:xfrm>
              <a:off x="6667500" y="4953000"/>
              <a:ext cx="1905000" cy="952500"/>
            </a:xfrm>
            <a:prstGeom prst="roundRect">
              <a:avLst>
                <a:gd name="adj" fmla="val 8000"/>
              </a:avLst>
            </a:prstGeom>
            <a:solidFill>
              <a:srgbClr val="0F172A"/>
            </a:solidFill>
            <a:ln w="19050">
              <a:solidFill>
                <a:srgbClr val="10B981"/>
              </a:solidFill>
            </a:ln>
          </p:spPr>
        </p:sp>
        <p:sp>
          <p:nvSpPr>
            <p:cNvPr id="38" name="TextBox 38"/>
            <p:cNvSpPr txBox="1"/>
            <p:nvPr/>
          </p:nvSpPr>
          <p:spPr>
            <a:xfrm>
              <a:off x="7466648" y="5125402"/>
              <a:ext cx="306705" cy="213360"/>
            </a:xfrm>
            <a:prstGeom prst="rect">
              <a:avLst/>
            </a:prstGeom>
            <a:noFill/>
            <a:ln>
              <a:noFill/>
            </a:ln>
          </p:spPr>
          <p:txBody>
            <a:bodyPr wrap="none" lIns="0" tIns="0" rIns="0" bIns="0" anchor="t" anchorCtr="0">
              <a:spAutoFit/>
            </a:bodyPr>
            <a:lstStyle/>
            <a:p>
              <a:pPr algn="ctr"/>
              <a:r>
                <a:rPr lang="zh-CN" sz="1050" dirty="0">
                  <a:solidFill>
                    <a:srgbClr val="10B981"/>
                  </a:solidFill>
                  <a:latin typeface="Arial"/>
                  <a:ea typeface="Microsoft YaHei"/>
                  <a:cs typeface="Arial"/>
                </a:rPr>
                <a:t>输出</a:t>
              </a:r>
            </a:p>
          </p:txBody>
        </p:sp>
        <p:sp>
          <p:nvSpPr>
            <p:cNvPr id="39" name="TextBox 39"/>
            <p:cNvSpPr txBox="1"/>
            <p:nvPr/>
          </p:nvSpPr>
          <p:spPr>
            <a:xfrm>
              <a:off x="7281529" y="5379720"/>
              <a:ext cx="676942" cy="182880"/>
            </a:xfrm>
            <a:prstGeom prst="rect">
              <a:avLst/>
            </a:prstGeom>
            <a:noFill/>
            <a:ln>
              <a:noFill/>
            </a:ln>
          </p:spPr>
          <p:txBody>
            <a:bodyPr wrap="none" lIns="0" tIns="0" rIns="0" bIns="0" anchor="t" anchorCtr="0">
              <a:spAutoFit/>
            </a:bodyPr>
            <a:lstStyle/>
            <a:p>
              <a:pPr algn="ctr"/>
              <a:r>
                <a:rPr lang="zh-CN" sz="900" dirty="0">
                  <a:solidFill>
                    <a:srgbClr val="CBD5E1"/>
                  </a:solidFill>
                  <a:latin typeface="Arial"/>
                  <a:ea typeface="Microsoft YaHei"/>
                  <a:cs typeface="Arial"/>
                </a:rPr>
                <a:t>AM/FM 分类</a:t>
              </a:r>
            </a:p>
          </p:txBody>
        </p:sp>
        <p:sp>
          <p:nvSpPr>
            <p:cNvPr id="40" name="TextBox 40"/>
            <p:cNvSpPr txBox="1"/>
            <p:nvPr/>
          </p:nvSpPr>
          <p:spPr>
            <a:xfrm>
              <a:off x="7338672" y="5578316"/>
              <a:ext cx="562654"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Recognition</a:t>
              </a:r>
            </a:p>
          </p:txBody>
        </p:sp>
      </p:grpSp>
      <p:sp>
        <p:nvSpPr>
          <p:cNvPr id="42" name="TextBox 42"/>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436851"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研究目标 Research Objectives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grpSp>
        <p:nvGrpSpPr>
          <p:cNvPr id="13" name="Group 13"/>
          <p:cNvGrpSpPr/>
          <p:nvPr/>
        </p:nvGrpSpPr>
        <p:grpSpPr>
          <a:xfrm>
            <a:off x="571500" y="1238250"/>
            <a:ext cx="5334000" cy="1238250"/>
            <a:chOff x="571500" y="1238250"/>
            <a:chExt cx="5334000" cy="1238250"/>
          </a:xfrm>
        </p:grpSpPr>
        <p:sp>
          <p:nvSpPr>
            <p:cNvPr id="6" name="Rectangle 6"/>
            <p:cNvSpPr/>
            <p:nvPr/>
          </p:nvSpPr>
          <p:spPr>
            <a:xfrm>
              <a:off x="571500" y="1238250"/>
              <a:ext cx="5334000" cy="1238250"/>
            </a:xfrm>
            <a:prstGeom prst="roundRect">
              <a:avLst>
                <a:gd name="adj" fmla="val 9231"/>
              </a:avLst>
            </a:prstGeom>
            <a:solidFill>
              <a:srgbClr val="1E293B"/>
            </a:solidFill>
            <a:ln w="9525">
              <a:solidFill>
                <a:srgbClr val="334155"/>
              </a:solidFill>
            </a:ln>
          </p:spPr>
        </p:sp>
        <p:sp>
          <p:nvSpPr>
            <p:cNvPr id="7" name="Ellipse 7"/>
            <p:cNvSpPr/>
            <p:nvPr/>
          </p:nvSpPr>
          <p:spPr>
            <a:xfrm>
              <a:off x="762000" y="1381125"/>
              <a:ext cx="381000" cy="381000"/>
            </a:xfrm>
            <a:prstGeom prst="ellipse">
              <a:avLst/>
            </a:prstGeom>
            <a:gradFill>
              <a:gsLst>
                <a:gs pos="0">
                  <a:srgbClr val="2563EB"/>
                </a:gs>
                <a:gs pos="100000">
                  <a:srgbClr val="8B5CF6"/>
                </a:gs>
              </a:gsLst>
              <a:lin ang="0" scaled="1"/>
            </a:gradFill>
            <a:ln>
              <a:noFill/>
            </a:ln>
          </p:spPr>
        </p:sp>
        <p:sp>
          <p:nvSpPr>
            <p:cNvPr id="8" name="TextBox 8"/>
            <p:cNvSpPr txBox="1"/>
            <p:nvPr/>
          </p:nvSpPr>
          <p:spPr>
            <a:xfrm>
              <a:off x="907001" y="1492568"/>
              <a:ext cx="90997" cy="274320"/>
            </a:xfrm>
            <a:prstGeom prst="rect">
              <a:avLst/>
            </a:prstGeom>
            <a:noFill/>
            <a:ln>
              <a:noFill/>
            </a:ln>
          </p:spPr>
          <p:txBody>
            <a:bodyPr wrap="none" lIns="0" tIns="0" rIns="0" bIns="0" anchor="t" anchorCtr="0">
              <a:spAutoFit/>
            </a:bodyPr>
            <a:lstStyle/>
            <a:p>
              <a:pPr algn="ctr"/>
              <a:r>
                <a:rPr lang="zh-CN" sz="1350" b="1" dirty="0">
                  <a:solidFill>
                    <a:srgbClr val="0F172A"/>
                  </a:solidFill>
                  <a:latin typeface="Arial"/>
                  <a:ea typeface="Microsoft YaHei"/>
                  <a:cs typeface="Arial"/>
                </a:rPr>
                <a:t>1</a:t>
              </a:r>
            </a:p>
          </p:txBody>
        </p:sp>
        <p:sp>
          <p:nvSpPr>
            <p:cNvPr id="9" name="TextBox 9"/>
            <p:cNvSpPr txBox="1"/>
            <p:nvPr/>
          </p:nvSpPr>
          <p:spPr>
            <a:xfrm>
              <a:off x="1316355" y="1473518"/>
              <a:ext cx="1168432"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信号表示创新</a:t>
              </a:r>
            </a:p>
          </p:txBody>
        </p:sp>
        <p:sp>
          <p:nvSpPr>
            <p:cNvPr id="10" name="TextBox 10"/>
            <p:cNvSpPr txBox="1"/>
            <p:nvPr/>
          </p:nvSpPr>
          <p:spPr>
            <a:xfrm>
              <a:off x="1320165" y="1791652"/>
              <a:ext cx="1962076" cy="161583"/>
            </a:xfrm>
            <a:prstGeom prst="rect">
              <a:avLst/>
            </a:prstGeom>
            <a:noFill/>
            <a:ln>
              <a:noFill/>
            </a:ln>
          </p:spPr>
          <p:txBody>
            <a:bodyPr wrap="none" lIns="0" tIns="0" rIns="0" bIns="0" anchor="t" anchorCtr="0">
              <a:spAutoFit/>
            </a:bodyPr>
            <a:lstStyle/>
            <a:p>
              <a:pPr algn="l"/>
              <a:r>
                <a:rPr lang="zh-CN" sz="1050" dirty="0">
                  <a:solidFill>
                    <a:schemeClr val="bg1">
                      <a:lumMod val="75000"/>
                    </a:schemeClr>
                  </a:solidFill>
                  <a:latin typeface="Arial"/>
                  <a:ea typeface="Microsoft YaHei"/>
                  <a:cs typeface="Arial"/>
                </a:rPr>
                <a:t>将1D时间序列转换为2D图像表示</a:t>
              </a:r>
            </a:p>
          </p:txBody>
        </p:sp>
        <p:sp>
          <p:nvSpPr>
            <p:cNvPr id="11" name="TextBox 11"/>
            <p:cNvSpPr txBox="1"/>
            <p:nvPr/>
          </p:nvSpPr>
          <p:spPr>
            <a:xfrm>
              <a:off x="1321118" y="2037874"/>
              <a:ext cx="1641475"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1D Signal → 2D Spectrogram</a:t>
              </a:r>
            </a:p>
          </p:txBody>
        </p:sp>
        <p:sp>
          <p:nvSpPr>
            <p:cNvPr id="12" name="TextBox 12"/>
            <p:cNvSpPr txBox="1"/>
            <p:nvPr/>
          </p:nvSpPr>
          <p:spPr>
            <a:xfrm>
              <a:off x="1321118" y="2228374"/>
              <a:ext cx="1929503" cy="198120"/>
            </a:xfrm>
            <a:prstGeom prst="rect">
              <a:avLst/>
            </a:prstGeom>
            <a:noFill/>
            <a:ln>
              <a:noFill/>
            </a:ln>
          </p:spPr>
          <p:txBody>
            <a:bodyPr wrap="none" lIns="0" tIns="0" rIns="0" bIns="0" anchor="t" anchorCtr="0">
              <a:spAutoFit/>
            </a:bodyPr>
            <a:lstStyle/>
            <a:p>
              <a:pPr algn="l"/>
              <a:r>
                <a:rPr lang="zh-CN" sz="975" dirty="0">
                  <a:solidFill>
                    <a:srgbClr val="10B981"/>
                  </a:solidFill>
                  <a:latin typeface="Arial"/>
                  <a:ea typeface="Microsoft YaHei"/>
                  <a:cs typeface="Arial"/>
                </a:rPr>
                <a:t>充分利用CNN的空间特征提取能力</a:t>
              </a:r>
            </a:p>
          </p:txBody>
        </p:sp>
      </p:grpSp>
      <p:grpSp>
        <p:nvGrpSpPr>
          <p:cNvPr id="21" name="Group 21"/>
          <p:cNvGrpSpPr/>
          <p:nvPr/>
        </p:nvGrpSpPr>
        <p:grpSpPr>
          <a:xfrm>
            <a:off x="6286500" y="1238250"/>
            <a:ext cx="5334000" cy="1238250"/>
            <a:chOff x="6286500" y="1238250"/>
            <a:chExt cx="5334000" cy="1238250"/>
          </a:xfrm>
        </p:grpSpPr>
        <p:sp>
          <p:nvSpPr>
            <p:cNvPr id="14" name="Rectangle 14"/>
            <p:cNvSpPr/>
            <p:nvPr/>
          </p:nvSpPr>
          <p:spPr>
            <a:xfrm>
              <a:off x="6286500" y="1238250"/>
              <a:ext cx="5334000" cy="1238250"/>
            </a:xfrm>
            <a:prstGeom prst="roundRect">
              <a:avLst>
                <a:gd name="adj" fmla="val 9231"/>
              </a:avLst>
            </a:prstGeom>
            <a:solidFill>
              <a:srgbClr val="1E293B"/>
            </a:solidFill>
            <a:ln w="9525">
              <a:solidFill>
                <a:srgbClr val="334155"/>
              </a:solidFill>
            </a:ln>
          </p:spPr>
        </p:sp>
        <p:sp>
          <p:nvSpPr>
            <p:cNvPr id="15" name="Ellipse 15"/>
            <p:cNvSpPr/>
            <p:nvPr/>
          </p:nvSpPr>
          <p:spPr>
            <a:xfrm>
              <a:off x="6477000" y="1381125"/>
              <a:ext cx="381000" cy="381000"/>
            </a:xfrm>
            <a:prstGeom prst="ellipse">
              <a:avLst/>
            </a:prstGeom>
            <a:solidFill>
              <a:srgbClr val="818CF8"/>
            </a:solidFill>
            <a:ln>
              <a:noFill/>
            </a:ln>
          </p:spPr>
        </p:sp>
        <p:sp>
          <p:nvSpPr>
            <p:cNvPr id="16" name="TextBox 16"/>
            <p:cNvSpPr txBox="1"/>
            <p:nvPr/>
          </p:nvSpPr>
          <p:spPr>
            <a:xfrm>
              <a:off x="6598374" y="1492568"/>
              <a:ext cx="138253" cy="274320"/>
            </a:xfrm>
            <a:prstGeom prst="rect">
              <a:avLst/>
            </a:prstGeom>
            <a:noFill/>
            <a:ln>
              <a:noFill/>
            </a:ln>
          </p:spPr>
          <p:txBody>
            <a:bodyPr wrap="none" lIns="0" tIns="0" rIns="0" bIns="0" anchor="t" anchorCtr="0">
              <a:spAutoFit/>
            </a:bodyPr>
            <a:lstStyle/>
            <a:p>
              <a:pPr algn="ctr"/>
              <a:r>
                <a:rPr lang="zh-CN" sz="1350" b="1" dirty="0">
                  <a:solidFill>
                    <a:srgbClr val="0F172A"/>
                  </a:solidFill>
                  <a:latin typeface="Arial"/>
                  <a:ea typeface="Microsoft YaHei"/>
                  <a:cs typeface="Arial"/>
                </a:rPr>
                <a:t>2</a:t>
              </a:r>
            </a:p>
          </p:txBody>
        </p:sp>
        <p:sp>
          <p:nvSpPr>
            <p:cNvPr id="17" name="TextBox 17"/>
            <p:cNvSpPr txBox="1"/>
            <p:nvPr/>
          </p:nvSpPr>
          <p:spPr>
            <a:xfrm>
              <a:off x="7031355" y="1473518"/>
              <a:ext cx="1366907"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设计2D CNN模型</a:t>
              </a:r>
            </a:p>
          </p:txBody>
        </p:sp>
        <p:sp>
          <p:nvSpPr>
            <p:cNvPr id="18" name="TextBox 18"/>
            <p:cNvSpPr txBox="1"/>
            <p:nvPr/>
          </p:nvSpPr>
          <p:spPr>
            <a:xfrm>
              <a:off x="7035165" y="1791652"/>
              <a:ext cx="1715213" cy="161583"/>
            </a:xfrm>
            <a:prstGeom prst="rect">
              <a:avLst/>
            </a:prstGeom>
            <a:noFill/>
            <a:ln>
              <a:noFill/>
            </a:ln>
          </p:spPr>
          <p:txBody>
            <a:bodyPr wrap="none" lIns="0" tIns="0" rIns="0" bIns="0" anchor="t" anchorCtr="0">
              <a:spAutoFit/>
            </a:bodyPr>
            <a:lstStyle/>
            <a:p>
              <a:pPr algn="l"/>
              <a:r>
                <a:rPr lang="zh-CN" sz="1050" dirty="0">
                  <a:solidFill>
                    <a:schemeClr val="bg1">
                      <a:lumMod val="75000"/>
                    </a:schemeClr>
                  </a:solidFill>
                  <a:latin typeface="Arial"/>
                  <a:ea typeface="Microsoft YaHei"/>
                  <a:cs typeface="Arial"/>
                </a:rPr>
                <a:t>设计并训练2D CNN识别模型</a:t>
              </a:r>
            </a:p>
          </p:txBody>
        </p:sp>
        <p:sp>
          <p:nvSpPr>
            <p:cNvPr id="19" name="TextBox 19"/>
            <p:cNvSpPr txBox="1"/>
            <p:nvPr/>
          </p:nvSpPr>
          <p:spPr>
            <a:xfrm>
              <a:off x="7036118" y="2037874"/>
              <a:ext cx="1213474"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4层卷积 + 自适应池化</a:t>
              </a:r>
            </a:p>
          </p:txBody>
        </p:sp>
        <p:sp>
          <p:nvSpPr>
            <p:cNvPr id="20" name="TextBox 20"/>
            <p:cNvSpPr txBox="1"/>
            <p:nvPr/>
          </p:nvSpPr>
          <p:spPr>
            <a:xfrm>
              <a:off x="7036118" y="2228374"/>
              <a:ext cx="1214414" cy="198120"/>
            </a:xfrm>
            <a:prstGeom prst="rect">
              <a:avLst/>
            </a:prstGeom>
            <a:noFill/>
            <a:ln>
              <a:noFill/>
            </a:ln>
          </p:spPr>
          <p:txBody>
            <a:bodyPr wrap="none" lIns="0" tIns="0" rIns="0" bIns="0" anchor="t" anchorCtr="0">
              <a:spAutoFit/>
            </a:bodyPr>
            <a:lstStyle/>
            <a:p>
              <a:pPr algn="l"/>
              <a:r>
                <a:rPr lang="zh-CN" sz="975" dirty="0">
                  <a:solidFill>
                    <a:srgbClr val="10B981"/>
                  </a:solidFill>
                  <a:latin typeface="Arial"/>
                  <a:ea typeface="Microsoft YaHei"/>
                  <a:cs typeface="Arial"/>
                </a:rPr>
                <a:t>520,450 可训练参数</a:t>
              </a:r>
            </a:p>
          </p:txBody>
        </p:sp>
      </p:grpSp>
      <p:grpSp>
        <p:nvGrpSpPr>
          <p:cNvPr id="29" name="Group 29"/>
          <p:cNvGrpSpPr/>
          <p:nvPr/>
        </p:nvGrpSpPr>
        <p:grpSpPr>
          <a:xfrm>
            <a:off x="571500" y="2762250"/>
            <a:ext cx="5334000" cy="1238250"/>
            <a:chOff x="571500" y="2762250"/>
            <a:chExt cx="5334000" cy="1238250"/>
          </a:xfrm>
        </p:grpSpPr>
        <p:sp>
          <p:nvSpPr>
            <p:cNvPr id="22" name="Rectangle 22"/>
            <p:cNvSpPr/>
            <p:nvPr/>
          </p:nvSpPr>
          <p:spPr>
            <a:xfrm>
              <a:off x="571500" y="2762250"/>
              <a:ext cx="5334000" cy="1238250"/>
            </a:xfrm>
            <a:prstGeom prst="roundRect">
              <a:avLst>
                <a:gd name="adj" fmla="val 9231"/>
              </a:avLst>
            </a:prstGeom>
            <a:solidFill>
              <a:srgbClr val="1E293B"/>
            </a:solidFill>
            <a:ln w="9525">
              <a:solidFill>
                <a:srgbClr val="334155"/>
              </a:solidFill>
            </a:ln>
          </p:spPr>
        </p:sp>
        <p:sp>
          <p:nvSpPr>
            <p:cNvPr id="23" name="Ellipse 23"/>
            <p:cNvSpPr/>
            <p:nvPr/>
          </p:nvSpPr>
          <p:spPr>
            <a:xfrm>
              <a:off x="762000" y="2905125"/>
              <a:ext cx="381000" cy="381000"/>
            </a:xfrm>
            <a:prstGeom prst="ellipse">
              <a:avLst/>
            </a:prstGeom>
            <a:solidFill>
              <a:srgbClr val="10B981"/>
            </a:solidFill>
            <a:ln>
              <a:noFill/>
            </a:ln>
          </p:spPr>
        </p:sp>
        <p:sp>
          <p:nvSpPr>
            <p:cNvPr id="24" name="TextBox 24"/>
            <p:cNvSpPr txBox="1"/>
            <p:nvPr/>
          </p:nvSpPr>
          <p:spPr>
            <a:xfrm>
              <a:off x="883374" y="3016568"/>
              <a:ext cx="138253" cy="274320"/>
            </a:xfrm>
            <a:prstGeom prst="rect">
              <a:avLst/>
            </a:prstGeom>
            <a:noFill/>
            <a:ln>
              <a:noFill/>
            </a:ln>
          </p:spPr>
          <p:txBody>
            <a:bodyPr wrap="none" lIns="0" tIns="0" rIns="0" bIns="0" anchor="t" anchorCtr="0">
              <a:spAutoFit/>
            </a:bodyPr>
            <a:lstStyle/>
            <a:p>
              <a:pPr algn="ctr"/>
              <a:r>
                <a:rPr lang="zh-CN" sz="1350" b="1" dirty="0">
                  <a:solidFill>
                    <a:srgbClr val="0F172A"/>
                  </a:solidFill>
                  <a:latin typeface="Arial"/>
                  <a:ea typeface="Microsoft YaHei"/>
                  <a:cs typeface="Arial"/>
                </a:rPr>
                <a:t>3</a:t>
              </a:r>
            </a:p>
          </p:txBody>
        </p:sp>
        <p:sp>
          <p:nvSpPr>
            <p:cNvPr id="25" name="TextBox 25"/>
            <p:cNvSpPr txBox="1"/>
            <p:nvPr/>
          </p:nvSpPr>
          <p:spPr>
            <a:xfrm>
              <a:off x="1316355" y="2997518"/>
              <a:ext cx="1102273"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SNR性能评估</a:t>
              </a:r>
            </a:p>
          </p:txBody>
        </p:sp>
        <p:sp>
          <p:nvSpPr>
            <p:cNvPr id="26" name="TextBox 26"/>
            <p:cNvSpPr txBox="1"/>
            <p:nvPr/>
          </p:nvSpPr>
          <p:spPr>
            <a:xfrm>
              <a:off x="1320165" y="3315652"/>
              <a:ext cx="1631857" cy="161583"/>
            </a:xfrm>
            <a:prstGeom prst="rect">
              <a:avLst/>
            </a:prstGeom>
            <a:noFill/>
            <a:ln>
              <a:noFill/>
            </a:ln>
          </p:spPr>
          <p:txBody>
            <a:bodyPr wrap="none" lIns="0" tIns="0" rIns="0" bIns="0" anchor="t" anchorCtr="0">
              <a:spAutoFit/>
            </a:bodyPr>
            <a:lstStyle/>
            <a:p>
              <a:pPr algn="l"/>
              <a:r>
                <a:rPr lang="zh-CN" sz="1050" dirty="0">
                  <a:solidFill>
                    <a:schemeClr val="bg1">
                      <a:lumMod val="75000"/>
                    </a:schemeClr>
                  </a:solidFill>
                  <a:latin typeface="Arial"/>
                  <a:ea typeface="Microsoft YaHei"/>
                  <a:cs typeface="Arial"/>
                </a:rPr>
                <a:t>评估不同SNR条件下的性能</a:t>
              </a:r>
            </a:p>
          </p:txBody>
        </p:sp>
        <p:sp>
          <p:nvSpPr>
            <p:cNvPr id="27" name="TextBox 27"/>
            <p:cNvSpPr txBox="1"/>
            <p:nvPr/>
          </p:nvSpPr>
          <p:spPr>
            <a:xfrm>
              <a:off x="1321118" y="3561874"/>
              <a:ext cx="769441"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SNR: 0-30 dB</a:t>
              </a:r>
            </a:p>
          </p:txBody>
        </p:sp>
        <p:sp>
          <p:nvSpPr>
            <p:cNvPr id="28" name="TextBox 28"/>
            <p:cNvSpPr txBox="1"/>
            <p:nvPr/>
          </p:nvSpPr>
          <p:spPr>
            <a:xfrm>
              <a:off x="1321118" y="3752374"/>
              <a:ext cx="1370433" cy="198120"/>
            </a:xfrm>
            <a:prstGeom prst="rect">
              <a:avLst/>
            </a:prstGeom>
            <a:noFill/>
            <a:ln>
              <a:noFill/>
            </a:ln>
          </p:spPr>
          <p:txBody>
            <a:bodyPr wrap="none" lIns="0" tIns="0" rIns="0" bIns="0" anchor="t" anchorCtr="0">
              <a:spAutoFit/>
            </a:bodyPr>
            <a:lstStyle/>
            <a:p>
              <a:pPr algn="l"/>
              <a:r>
                <a:rPr lang="zh-CN" sz="975" dirty="0">
                  <a:solidFill>
                    <a:srgbClr val="10B981"/>
                  </a:solidFill>
                  <a:latin typeface="Arial"/>
                  <a:ea typeface="Microsoft YaHei"/>
                  <a:cs typeface="Arial"/>
                </a:rPr>
                <a:t>SNR≥5dB时准确率 &gt;99%</a:t>
              </a:r>
            </a:p>
          </p:txBody>
        </p:sp>
      </p:grpSp>
      <p:grpSp>
        <p:nvGrpSpPr>
          <p:cNvPr id="37" name="Group 37"/>
          <p:cNvGrpSpPr/>
          <p:nvPr/>
        </p:nvGrpSpPr>
        <p:grpSpPr>
          <a:xfrm>
            <a:off x="6286500" y="2762250"/>
            <a:ext cx="5334000" cy="1238250"/>
            <a:chOff x="6286500" y="2762250"/>
            <a:chExt cx="5334000" cy="1238250"/>
          </a:xfrm>
        </p:grpSpPr>
        <p:sp>
          <p:nvSpPr>
            <p:cNvPr id="30" name="Rectangle 30"/>
            <p:cNvSpPr/>
            <p:nvPr/>
          </p:nvSpPr>
          <p:spPr>
            <a:xfrm>
              <a:off x="6286500" y="2762250"/>
              <a:ext cx="5334000" cy="1238250"/>
            </a:xfrm>
            <a:prstGeom prst="roundRect">
              <a:avLst>
                <a:gd name="adj" fmla="val 9231"/>
              </a:avLst>
            </a:prstGeom>
            <a:solidFill>
              <a:srgbClr val="1E293B"/>
            </a:solidFill>
            <a:ln w="9525">
              <a:solidFill>
                <a:srgbClr val="334155"/>
              </a:solidFill>
            </a:ln>
          </p:spPr>
        </p:sp>
        <p:sp>
          <p:nvSpPr>
            <p:cNvPr id="31" name="Ellipse 31"/>
            <p:cNvSpPr/>
            <p:nvPr/>
          </p:nvSpPr>
          <p:spPr>
            <a:xfrm>
              <a:off x="6477000" y="2905125"/>
              <a:ext cx="381000" cy="381000"/>
            </a:xfrm>
            <a:prstGeom prst="ellipse">
              <a:avLst/>
            </a:prstGeom>
            <a:solidFill>
              <a:srgbClr val="F87171"/>
            </a:solidFill>
            <a:ln>
              <a:noFill/>
            </a:ln>
          </p:spPr>
        </p:sp>
        <p:sp>
          <p:nvSpPr>
            <p:cNvPr id="32" name="TextBox 32"/>
            <p:cNvSpPr txBox="1"/>
            <p:nvPr/>
          </p:nvSpPr>
          <p:spPr>
            <a:xfrm>
              <a:off x="6598374" y="3016568"/>
              <a:ext cx="138253" cy="274320"/>
            </a:xfrm>
            <a:prstGeom prst="rect">
              <a:avLst/>
            </a:prstGeom>
            <a:noFill/>
            <a:ln>
              <a:noFill/>
            </a:ln>
          </p:spPr>
          <p:txBody>
            <a:bodyPr wrap="none" lIns="0" tIns="0" rIns="0" bIns="0" anchor="t" anchorCtr="0">
              <a:spAutoFit/>
            </a:bodyPr>
            <a:lstStyle/>
            <a:p>
              <a:pPr algn="ctr"/>
              <a:r>
                <a:rPr lang="zh-CN" sz="1350" b="1" dirty="0">
                  <a:solidFill>
                    <a:srgbClr val="0F172A"/>
                  </a:solidFill>
                  <a:latin typeface="Arial"/>
                  <a:ea typeface="Microsoft YaHei"/>
                  <a:cs typeface="Arial"/>
                </a:rPr>
                <a:t>4</a:t>
              </a:r>
            </a:p>
          </p:txBody>
        </p:sp>
        <p:sp>
          <p:nvSpPr>
            <p:cNvPr id="33" name="TextBox 33"/>
            <p:cNvSpPr txBox="1"/>
            <p:nvPr/>
          </p:nvSpPr>
          <p:spPr>
            <a:xfrm>
              <a:off x="7031355" y="2997518"/>
              <a:ext cx="1168432"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构建演示系统</a:t>
              </a:r>
            </a:p>
          </p:txBody>
        </p:sp>
        <p:sp>
          <p:nvSpPr>
            <p:cNvPr id="34" name="TextBox 34"/>
            <p:cNvSpPr txBox="1"/>
            <p:nvPr/>
          </p:nvSpPr>
          <p:spPr>
            <a:xfrm>
              <a:off x="7035165" y="3315652"/>
              <a:ext cx="1219886" cy="161583"/>
            </a:xfrm>
            <a:prstGeom prst="rect">
              <a:avLst/>
            </a:prstGeom>
            <a:noFill/>
            <a:ln>
              <a:noFill/>
            </a:ln>
          </p:spPr>
          <p:txBody>
            <a:bodyPr wrap="none" lIns="0" tIns="0" rIns="0" bIns="0" anchor="t" anchorCtr="0">
              <a:spAutoFit/>
            </a:bodyPr>
            <a:lstStyle/>
            <a:p>
              <a:pPr algn="l"/>
              <a:r>
                <a:rPr lang="zh-CN" sz="1050" dirty="0">
                  <a:solidFill>
                    <a:schemeClr val="bg1">
                      <a:lumMod val="75000"/>
                    </a:schemeClr>
                  </a:solidFill>
                  <a:latin typeface="Arial"/>
                  <a:ea typeface="Microsoft YaHei"/>
                  <a:cs typeface="Arial"/>
                </a:rPr>
                <a:t>构建交互式Web应用</a:t>
              </a:r>
            </a:p>
          </p:txBody>
        </p:sp>
        <p:sp>
          <p:nvSpPr>
            <p:cNvPr id="35" name="TextBox 35"/>
            <p:cNvSpPr txBox="1"/>
            <p:nvPr/>
          </p:nvSpPr>
          <p:spPr>
            <a:xfrm>
              <a:off x="7036118" y="3561874"/>
              <a:ext cx="1263166"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实时信号生成 + AI识别</a:t>
              </a:r>
            </a:p>
          </p:txBody>
        </p:sp>
        <p:sp>
          <p:nvSpPr>
            <p:cNvPr id="36" name="TextBox 36"/>
            <p:cNvSpPr txBox="1"/>
            <p:nvPr/>
          </p:nvSpPr>
          <p:spPr>
            <a:xfrm>
              <a:off x="7036118" y="3752374"/>
              <a:ext cx="1454944" cy="198120"/>
            </a:xfrm>
            <a:prstGeom prst="rect">
              <a:avLst/>
            </a:prstGeom>
            <a:noFill/>
            <a:ln>
              <a:noFill/>
            </a:ln>
          </p:spPr>
          <p:txBody>
            <a:bodyPr wrap="none" lIns="0" tIns="0" rIns="0" bIns="0" anchor="t" anchorCtr="0">
              <a:spAutoFit/>
            </a:bodyPr>
            <a:lstStyle/>
            <a:p>
              <a:pPr algn="l"/>
              <a:r>
                <a:rPr lang="zh-CN" sz="975" dirty="0">
                  <a:solidFill>
                    <a:srgbClr val="10B981"/>
                  </a:solidFill>
                  <a:latin typeface="Arial"/>
                  <a:ea typeface="Microsoft YaHei"/>
                  <a:cs typeface="Arial"/>
                </a:rPr>
                <a:t>支持参数调整和噪声模拟</a:t>
              </a:r>
            </a:p>
          </p:txBody>
        </p:sp>
      </p:grpSp>
      <p:sp>
        <p:nvSpPr>
          <p:cNvPr id="38" name="Rectangle 38"/>
          <p:cNvSpPr/>
          <p:nvPr/>
        </p:nvSpPr>
        <p:spPr>
          <a:xfrm>
            <a:off x="571500" y="4476750"/>
            <a:ext cx="11049000" cy="1714500"/>
          </a:xfrm>
          <a:prstGeom prst="roundRect">
            <a:avLst>
              <a:gd name="adj" fmla="val 6667"/>
            </a:avLst>
          </a:prstGeom>
          <a:solidFill>
            <a:srgbClr val="1E293B"/>
          </a:solidFill>
          <a:ln w="9525">
            <a:solidFill>
              <a:srgbClr val="334155"/>
            </a:solidFill>
          </a:ln>
        </p:spPr>
      </p:sp>
      <p:sp>
        <p:nvSpPr>
          <p:cNvPr id="39" name="TextBox 39"/>
          <p:cNvSpPr txBox="1"/>
          <p:nvPr/>
        </p:nvSpPr>
        <p:spPr>
          <a:xfrm>
            <a:off x="838200" y="4695825"/>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主要贡献</a:t>
            </a:r>
          </a:p>
        </p:txBody>
      </p:sp>
      <p:sp>
        <p:nvSpPr>
          <p:cNvPr id="40" name="TextBox 40"/>
          <p:cNvSpPr txBox="1"/>
          <p:nvPr/>
        </p:nvSpPr>
        <p:spPr>
          <a:xfrm>
            <a:off x="842010" y="5109210"/>
            <a:ext cx="4687062"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1. 提出了基于频谱图的信号表示方法，将1D时间序列转换为2D图像</a:t>
            </a:r>
          </a:p>
        </p:txBody>
      </p:sp>
      <p:sp>
        <p:nvSpPr>
          <p:cNvPr id="41" name="TextBox 41"/>
          <p:cNvSpPr txBox="1"/>
          <p:nvPr/>
        </p:nvSpPr>
        <p:spPr>
          <a:xfrm>
            <a:off x="842010" y="5442585"/>
            <a:ext cx="4351020"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2. 设计了高效的2D CNN模型架构，包含4层卷积和自适应池化</a:t>
            </a:r>
          </a:p>
        </p:txBody>
      </p:sp>
      <p:sp>
        <p:nvSpPr>
          <p:cNvPr id="42" name="TextBox 42"/>
          <p:cNvSpPr txBox="1"/>
          <p:nvPr/>
        </p:nvSpPr>
        <p:spPr>
          <a:xfrm>
            <a:off x="842010" y="5775960"/>
            <a:ext cx="5759196"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3. 在 AWGN 信道、SNR&gt;5dB 的测试场景下，模型识别准确率平均稳定在 95% 以上</a:t>
            </a:r>
          </a:p>
        </p:txBody>
      </p:sp>
      <p:sp>
        <p:nvSpPr>
          <p:cNvPr id="43" name="TextBox 43"/>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588070"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应用场景 Application Scenarios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4355" y="997268"/>
            <a:ext cx="3895297" cy="207749"/>
          </a:xfrm>
          <a:prstGeom prst="rect">
            <a:avLst/>
          </a:prstGeom>
          <a:noFill/>
          <a:ln>
            <a:noFill/>
          </a:ln>
        </p:spPr>
        <p:txBody>
          <a:bodyPr wrap="none" lIns="0" tIns="0" rIns="0" bIns="0" anchor="t" anchorCtr="0">
            <a:spAutoFit/>
          </a:bodyPr>
          <a:lstStyle/>
          <a:p>
            <a:pPr algn="l"/>
            <a:r>
              <a:rPr lang="zh-CN" sz="1350" dirty="0">
                <a:solidFill>
                  <a:schemeClr val="bg1">
                    <a:lumMod val="75000"/>
                  </a:schemeClr>
                </a:solidFill>
                <a:latin typeface="Arial"/>
                <a:ea typeface="Microsoft YaHei"/>
                <a:cs typeface="Arial"/>
              </a:rPr>
              <a:t>AM/FM 信号识别在多个关键领域具有重要应用价值</a:t>
            </a:r>
          </a:p>
        </p:txBody>
      </p:sp>
      <p:grpSp>
        <p:nvGrpSpPr>
          <p:cNvPr id="18" name="Group 18"/>
          <p:cNvGrpSpPr/>
          <p:nvPr/>
        </p:nvGrpSpPr>
        <p:grpSpPr>
          <a:xfrm>
            <a:off x="571500" y="1524000"/>
            <a:ext cx="3333750" cy="2476500"/>
            <a:chOff x="571500" y="1524000"/>
            <a:chExt cx="3333750" cy="2476500"/>
          </a:xfrm>
        </p:grpSpPr>
        <p:sp>
          <p:nvSpPr>
            <p:cNvPr id="7" name="Rectangle 7"/>
            <p:cNvSpPr/>
            <p:nvPr/>
          </p:nvSpPr>
          <p:spPr>
            <a:xfrm>
              <a:off x="571500" y="1524000"/>
              <a:ext cx="3333750" cy="2476500"/>
            </a:xfrm>
            <a:prstGeom prst="roundRect">
              <a:avLst>
                <a:gd name="adj" fmla="val 4615"/>
              </a:avLst>
            </a:prstGeom>
            <a:solidFill>
              <a:srgbClr val="1E293B"/>
            </a:solidFill>
            <a:ln w="19050">
              <a:solidFill>
                <a:srgbClr val="2563EB"/>
              </a:solidFill>
            </a:ln>
          </p:spPr>
        </p:sp>
        <p:sp>
          <p:nvSpPr>
            <p:cNvPr id="8" name="TextBox 8"/>
            <p:cNvSpPr txBox="1"/>
            <p:nvPr/>
          </p:nvSpPr>
          <p:spPr>
            <a:xfrm>
              <a:off x="744855" y="1664018"/>
              <a:ext cx="1451967" cy="274320"/>
            </a:xfrm>
            <a:prstGeom prst="rect">
              <a:avLst/>
            </a:prstGeom>
            <a:noFill/>
            <a:ln>
              <a:noFill/>
            </a:ln>
          </p:spPr>
          <p:txBody>
            <a:bodyPr wrap="none" lIns="0" tIns="0" rIns="0" bIns="0" anchor="t" anchorCtr="0">
              <a:spAutoFit/>
            </a:bodyPr>
            <a:lstStyle/>
            <a:p>
              <a:pPr algn="l"/>
              <a:r>
                <a:rPr lang="zh-CN" sz="1350" b="1" dirty="0">
                  <a:gradFill>
                    <a:gsLst>
                      <a:gs pos="0">
                        <a:srgbClr val="2563EB"/>
                      </a:gs>
                      <a:gs pos="100000">
                        <a:srgbClr val="8B5CF6"/>
                      </a:gs>
                    </a:gsLst>
                    <a:lin ang="0" scaled="1"/>
                  </a:gradFill>
                  <a:latin typeface="Arial"/>
                  <a:ea typeface="Microsoft YaHei"/>
                  <a:cs typeface="Arial"/>
                </a:rPr>
                <a:t>认知无线电 (CR)</a:t>
              </a:r>
            </a:p>
          </p:txBody>
        </p:sp>
        <p:sp>
          <p:nvSpPr>
            <p:cNvPr id="9" name="Rectangle 9"/>
            <p:cNvSpPr/>
            <p:nvPr/>
          </p:nvSpPr>
          <p:spPr>
            <a:xfrm>
              <a:off x="762000" y="1952625"/>
              <a:ext cx="2952750" cy="28575"/>
            </a:xfrm>
            <a:prstGeom prst="rect">
              <a:avLst/>
            </a:prstGeom>
            <a:gradFill>
              <a:gsLst>
                <a:gs pos="0">
                  <a:srgbClr val="2563EB"/>
                </a:gs>
                <a:gs pos="100000">
                  <a:srgbClr val="8B5CF6"/>
                </a:gs>
              </a:gsLst>
              <a:lin ang="0" scaled="1"/>
            </a:gradFill>
            <a:ln>
              <a:noFill/>
            </a:ln>
          </p:spPr>
        </p:sp>
        <p:sp>
          <p:nvSpPr>
            <p:cNvPr id="10" name="TextBox 10"/>
            <p:cNvSpPr txBox="1"/>
            <p:nvPr/>
          </p:nvSpPr>
          <p:spPr>
            <a:xfrm>
              <a:off x="748665" y="2172652"/>
              <a:ext cx="114681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智能感知频谱空洞</a:t>
              </a:r>
            </a:p>
          </p:txBody>
        </p:sp>
        <p:sp>
          <p:nvSpPr>
            <p:cNvPr id="11" name="TextBox 11"/>
            <p:cNvSpPr txBox="1"/>
            <p:nvPr/>
          </p:nvSpPr>
          <p:spPr>
            <a:xfrm>
              <a:off x="748665" y="2410778"/>
              <a:ext cx="1300829"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动态接入"白色空间"</a:t>
              </a:r>
            </a:p>
          </p:txBody>
        </p:sp>
        <p:sp>
          <p:nvSpPr>
            <p:cNvPr id="12" name="TextBox 12"/>
            <p:cNvSpPr txBox="1"/>
            <p:nvPr/>
          </p:nvSpPr>
          <p:spPr>
            <a:xfrm>
              <a:off x="748665" y="2648902"/>
              <a:ext cx="1286828"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次用户高效复用频谱</a:t>
              </a:r>
            </a:p>
          </p:txBody>
        </p:sp>
        <p:sp>
          <p:nvSpPr>
            <p:cNvPr id="13" name="TextBox 13"/>
            <p:cNvSpPr txBox="1"/>
            <p:nvPr/>
          </p:nvSpPr>
          <p:spPr>
            <a:xfrm>
              <a:off x="749618" y="2942749"/>
              <a:ext cx="1654299"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AM/FM识别是感知环节的核心</a:t>
              </a:r>
            </a:p>
          </p:txBody>
        </p:sp>
        <p:sp>
          <p:nvSpPr>
            <p:cNvPr id="14" name="TextBox 14"/>
            <p:cNvSpPr txBox="1"/>
            <p:nvPr/>
          </p:nvSpPr>
          <p:spPr>
            <a:xfrm>
              <a:off x="749618" y="3180874"/>
              <a:ext cx="1750479"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决定能否在不干扰主用户前提下</a:t>
              </a:r>
            </a:p>
          </p:txBody>
        </p:sp>
        <p:sp>
          <p:nvSpPr>
            <p:cNvPr id="15" name="TextBox 15"/>
            <p:cNvSpPr txBox="1"/>
            <p:nvPr/>
          </p:nvSpPr>
          <p:spPr>
            <a:xfrm>
              <a:off x="749618" y="3418999"/>
              <a:ext cx="1000274"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高效复用频谱资源</a:t>
              </a:r>
            </a:p>
          </p:txBody>
        </p:sp>
        <p:sp>
          <p:nvSpPr>
            <p:cNvPr id="16" name="Rectangle 16"/>
            <p:cNvSpPr/>
            <p:nvPr/>
          </p:nvSpPr>
          <p:spPr>
            <a:xfrm>
              <a:off x="762000" y="3714750"/>
              <a:ext cx="2952750" cy="190500"/>
            </a:xfrm>
            <a:prstGeom prst="roundRect">
              <a:avLst>
                <a:gd name="adj" fmla="val 20000"/>
              </a:avLst>
            </a:prstGeom>
            <a:solidFill>
              <a:srgbClr val="EFF6FF"/>
            </a:solidFill>
            <a:ln>
              <a:noFill/>
            </a:ln>
          </p:spPr>
        </p:sp>
        <p:sp>
          <p:nvSpPr>
            <p:cNvPr id="17" name="TextBox 17"/>
            <p:cNvSpPr txBox="1"/>
            <p:nvPr/>
          </p:nvSpPr>
          <p:spPr>
            <a:xfrm>
              <a:off x="1446848" y="3760470"/>
              <a:ext cx="1583055" cy="182880"/>
            </a:xfrm>
            <a:prstGeom prst="rect">
              <a:avLst/>
            </a:prstGeom>
            <a:noFill/>
            <a:ln>
              <a:noFill/>
            </a:ln>
          </p:spPr>
          <p:txBody>
            <a:bodyPr wrap="none" lIns="0" tIns="0" rIns="0" bIns="0" anchor="t" anchorCtr="0">
              <a:spAutoFit/>
            </a:bodyPr>
            <a:lstStyle/>
            <a:p>
              <a:pPr algn="ctr"/>
              <a:r>
                <a:rPr lang="zh-CN" sz="900" dirty="0">
                  <a:gradFill>
                    <a:gsLst>
                      <a:gs pos="0">
                        <a:srgbClr val="2563EB"/>
                      </a:gs>
                      <a:gs pos="100000">
                        <a:srgbClr val="8B5CF6"/>
                      </a:gs>
                    </a:gsLst>
                    <a:lin ang="0" scaled="1"/>
                  </a:gradFill>
                  <a:latin typeface="Arial"/>
                  <a:ea typeface="Microsoft YaHei"/>
                  <a:cs typeface="Arial"/>
                </a:rPr>
                <a:t>解决频谱拥挤问题的关键技术</a:t>
              </a:r>
            </a:p>
          </p:txBody>
        </p:sp>
      </p:grpSp>
      <p:grpSp>
        <p:nvGrpSpPr>
          <p:cNvPr id="30" name="Group 30"/>
          <p:cNvGrpSpPr/>
          <p:nvPr/>
        </p:nvGrpSpPr>
        <p:grpSpPr>
          <a:xfrm>
            <a:off x="4191000" y="1524000"/>
            <a:ext cx="3333750" cy="2476500"/>
            <a:chOff x="4191000" y="1524000"/>
            <a:chExt cx="3333750" cy="2476500"/>
          </a:xfrm>
        </p:grpSpPr>
        <p:sp>
          <p:nvSpPr>
            <p:cNvPr id="19" name="Rectangle 19"/>
            <p:cNvSpPr/>
            <p:nvPr/>
          </p:nvSpPr>
          <p:spPr>
            <a:xfrm>
              <a:off x="4191000" y="1524000"/>
              <a:ext cx="3333750" cy="2476500"/>
            </a:xfrm>
            <a:prstGeom prst="roundRect">
              <a:avLst>
                <a:gd name="adj" fmla="val 4615"/>
              </a:avLst>
            </a:prstGeom>
            <a:solidFill>
              <a:srgbClr val="1E293B"/>
            </a:solidFill>
            <a:ln w="19050">
              <a:solidFill>
                <a:srgbClr val="8B5CF6"/>
              </a:solidFill>
            </a:ln>
          </p:spPr>
        </p:sp>
        <p:sp>
          <p:nvSpPr>
            <p:cNvPr id="20" name="TextBox 20"/>
            <p:cNvSpPr txBox="1"/>
            <p:nvPr/>
          </p:nvSpPr>
          <p:spPr>
            <a:xfrm>
              <a:off x="4364355" y="1664018"/>
              <a:ext cx="1546479" cy="274320"/>
            </a:xfrm>
            <a:prstGeom prst="rect">
              <a:avLst/>
            </a:prstGeom>
            <a:noFill/>
            <a:ln>
              <a:noFill/>
            </a:ln>
          </p:spPr>
          <p:txBody>
            <a:bodyPr wrap="none" lIns="0" tIns="0" rIns="0" bIns="0" anchor="t" anchorCtr="0">
              <a:spAutoFit/>
            </a:bodyPr>
            <a:lstStyle/>
            <a:p>
              <a:pPr algn="l"/>
              <a:r>
                <a:rPr lang="zh-CN" sz="1350" b="1" dirty="0">
                  <a:solidFill>
                    <a:srgbClr val="818CF8"/>
                  </a:solidFill>
                  <a:latin typeface="Arial"/>
                  <a:ea typeface="Microsoft YaHei"/>
                  <a:cs typeface="Arial"/>
                </a:rPr>
                <a:t>电子战与频谱监测</a:t>
              </a:r>
            </a:p>
          </p:txBody>
        </p:sp>
        <p:sp>
          <p:nvSpPr>
            <p:cNvPr id="21" name="Rectangle 21"/>
            <p:cNvSpPr/>
            <p:nvPr/>
          </p:nvSpPr>
          <p:spPr>
            <a:xfrm>
              <a:off x="4381500" y="1952625"/>
              <a:ext cx="2952750" cy="28575"/>
            </a:xfrm>
            <a:prstGeom prst="rect">
              <a:avLst/>
            </a:prstGeom>
            <a:solidFill>
              <a:srgbClr val="818CF8"/>
            </a:solidFill>
            <a:ln>
              <a:noFill/>
            </a:ln>
          </p:spPr>
        </p:sp>
        <p:sp>
          <p:nvSpPr>
            <p:cNvPr id="22" name="TextBox 22"/>
            <p:cNvSpPr txBox="1"/>
            <p:nvPr/>
          </p:nvSpPr>
          <p:spPr>
            <a:xfrm>
              <a:off x="4368165" y="2172652"/>
              <a:ext cx="142684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快速识别敌方通信链路</a:t>
              </a:r>
            </a:p>
          </p:txBody>
        </p:sp>
        <p:sp>
          <p:nvSpPr>
            <p:cNvPr id="23" name="TextBox 23"/>
            <p:cNvSpPr txBox="1"/>
            <p:nvPr/>
          </p:nvSpPr>
          <p:spPr>
            <a:xfrm>
              <a:off x="4368165" y="2410778"/>
              <a:ext cx="86677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精准电子干扰</a:t>
              </a:r>
            </a:p>
          </p:txBody>
        </p:sp>
        <p:sp>
          <p:nvSpPr>
            <p:cNvPr id="24" name="TextBox 24"/>
            <p:cNvSpPr txBox="1"/>
            <p:nvPr/>
          </p:nvSpPr>
          <p:spPr>
            <a:xfrm>
              <a:off x="4368165" y="2648902"/>
              <a:ext cx="1286828"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信号截获与情报分析</a:t>
              </a:r>
            </a:p>
          </p:txBody>
        </p:sp>
        <p:sp>
          <p:nvSpPr>
            <p:cNvPr id="25" name="TextBox 25"/>
            <p:cNvSpPr txBox="1"/>
            <p:nvPr/>
          </p:nvSpPr>
          <p:spPr>
            <a:xfrm>
              <a:off x="4369118" y="2942749"/>
              <a:ext cx="1250342"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高效识别能力显著提升</a:t>
              </a:r>
            </a:p>
          </p:txBody>
        </p:sp>
        <p:sp>
          <p:nvSpPr>
            <p:cNvPr id="26" name="TextBox 26"/>
            <p:cNvSpPr txBox="1"/>
            <p:nvPr/>
          </p:nvSpPr>
          <p:spPr>
            <a:xfrm>
              <a:off x="4369118" y="3180874"/>
              <a:ext cx="1250342"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电子侦察系统响应速度</a:t>
              </a:r>
            </a:p>
          </p:txBody>
        </p:sp>
        <p:sp>
          <p:nvSpPr>
            <p:cNvPr id="27" name="TextBox 27"/>
            <p:cNvSpPr txBox="1"/>
            <p:nvPr/>
          </p:nvSpPr>
          <p:spPr>
            <a:xfrm>
              <a:off x="4369118" y="3418999"/>
              <a:ext cx="875240"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与战术决策效率</a:t>
              </a:r>
            </a:p>
          </p:txBody>
        </p:sp>
        <p:sp>
          <p:nvSpPr>
            <p:cNvPr id="28" name="Rectangle 28"/>
            <p:cNvSpPr/>
            <p:nvPr/>
          </p:nvSpPr>
          <p:spPr>
            <a:xfrm>
              <a:off x="4381500" y="3714750"/>
              <a:ext cx="2952750" cy="190500"/>
            </a:xfrm>
            <a:prstGeom prst="roundRect">
              <a:avLst>
                <a:gd name="adj" fmla="val 20000"/>
              </a:avLst>
            </a:prstGeom>
            <a:solidFill>
              <a:srgbClr val="F3E8FF"/>
            </a:solidFill>
            <a:ln>
              <a:noFill/>
            </a:ln>
          </p:spPr>
        </p:sp>
        <p:sp>
          <p:nvSpPr>
            <p:cNvPr id="29" name="TextBox 29"/>
            <p:cNvSpPr txBox="1"/>
            <p:nvPr/>
          </p:nvSpPr>
          <p:spPr>
            <a:xfrm>
              <a:off x="5126355" y="3760470"/>
              <a:ext cx="1463040" cy="182880"/>
            </a:xfrm>
            <a:prstGeom prst="rect">
              <a:avLst/>
            </a:prstGeom>
            <a:noFill/>
            <a:ln>
              <a:noFill/>
            </a:ln>
          </p:spPr>
          <p:txBody>
            <a:bodyPr wrap="none" lIns="0" tIns="0" rIns="0" bIns="0" anchor="t" anchorCtr="0">
              <a:spAutoFit/>
            </a:bodyPr>
            <a:lstStyle/>
            <a:p>
              <a:pPr algn="ctr"/>
              <a:r>
                <a:rPr lang="zh-CN" sz="900" dirty="0">
                  <a:solidFill>
                    <a:srgbClr val="818CF8"/>
                  </a:solidFill>
                  <a:latin typeface="Arial"/>
                  <a:ea typeface="Microsoft YaHei"/>
                  <a:cs typeface="Arial"/>
                </a:rPr>
                <a:t>电磁对抗环境中的关键技术</a:t>
              </a:r>
            </a:p>
          </p:txBody>
        </p:sp>
      </p:grpSp>
      <p:grpSp>
        <p:nvGrpSpPr>
          <p:cNvPr id="42" name="Group 42"/>
          <p:cNvGrpSpPr/>
          <p:nvPr/>
        </p:nvGrpSpPr>
        <p:grpSpPr>
          <a:xfrm>
            <a:off x="7810500" y="1524000"/>
            <a:ext cx="3619500" cy="2476500"/>
            <a:chOff x="7810500" y="1524000"/>
            <a:chExt cx="3619500" cy="2476500"/>
          </a:xfrm>
        </p:grpSpPr>
        <p:sp>
          <p:nvSpPr>
            <p:cNvPr id="31" name="Rectangle 31"/>
            <p:cNvSpPr/>
            <p:nvPr/>
          </p:nvSpPr>
          <p:spPr>
            <a:xfrm>
              <a:off x="7810500" y="1524000"/>
              <a:ext cx="3619500" cy="2476500"/>
            </a:xfrm>
            <a:prstGeom prst="roundRect">
              <a:avLst>
                <a:gd name="adj" fmla="val 4615"/>
              </a:avLst>
            </a:prstGeom>
            <a:solidFill>
              <a:srgbClr val="1E293B"/>
            </a:solidFill>
            <a:ln w="19050">
              <a:solidFill>
                <a:srgbClr val="10B981"/>
              </a:solidFill>
            </a:ln>
          </p:spPr>
        </p:sp>
        <p:sp>
          <p:nvSpPr>
            <p:cNvPr id="32" name="TextBox 32"/>
            <p:cNvSpPr txBox="1"/>
            <p:nvPr/>
          </p:nvSpPr>
          <p:spPr>
            <a:xfrm>
              <a:off x="7983855" y="1664018"/>
              <a:ext cx="1933977"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软件定义无线电 (SDR)</a:t>
              </a:r>
            </a:p>
          </p:txBody>
        </p:sp>
        <p:sp>
          <p:nvSpPr>
            <p:cNvPr id="33" name="Rectangle 33"/>
            <p:cNvSpPr/>
            <p:nvPr/>
          </p:nvSpPr>
          <p:spPr>
            <a:xfrm>
              <a:off x="8001000" y="1952625"/>
              <a:ext cx="3238500" cy="28575"/>
            </a:xfrm>
            <a:prstGeom prst="rect">
              <a:avLst/>
            </a:prstGeom>
            <a:solidFill>
              <a:srgbClr val="10B981"/>
            </a:solidFill>
            <a:ln>
              <a:noFill/>
            </a:ln>
          </p:spPr>
        </p:sp>
        <p:sp>
          <p:nvSpPr>
            <p:cNvPr id="34" name="TextBox 34"/>
            <p:cNvSpPr txBox="1"/>
            <p:nvPr/>
          </p:nvSpPr>
          <p:spPr>
            <a:xfrm>
              <a:off x="7987665" y="2172652"/>
              <a:ext cx="142684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打破传统硬件制式限制</a:t>
              </a:r>
            </a:p>
          </p:txBody>
        </p:sp>
        <p:sp>
          <p:nvSpPr>
            <p:cNvPr id="35" name="TextBox 35"/>
            <p:cNvSpPr txBox="1"/>
            <p:nvPr/>
          </p:nvSpPr>
          <p:spPr>
            <a:xfrm>
              <a:off x="7987665" y="2410778"/>
              <a:ext cx="122382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通用硬件+软件算法</a:t>
              </a:r>
            </a:p>
          </p:txBody>
        </p:sp>
        <p:sp>
          <p:nvSpPr>
            <p:cNvPr id="36" name="TextBox 36"/>
            <p:cNvSpPr txBox="1"/>
            <p:nvPr/>
          </p:nvSpPr>
          <p:spPr>
            <a:xfrm>
              <a:off x="7987665" y="2648902"/>
              <a:ext cx="142684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灵活适应不同频段制式</a:t>
              </a:r>
            </a:p>
          </p:txBody>
        </p:sp>
        <p:sp>
          <p:nvSpPr>
            <p:cNvPr id="37" name="TextBox 37"/>
            <p:cNvSpPr txBox="1"/>
            <p:nvPr/>
          </p:nvSpPr>
          <p:spPr>
            <a:xfrm>
              <a:off x="7988618" y="2942749"/>
              <a:ext cx="1542089"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AM/FM自动识别是SDR系统</a:t>
              </a:r>
            </a:p>
          </p:txBody>
        </p:sp>
        <p:sp>
          <p:nvSpPr>
            <p:cNvPr id="38" name="TextBox 38"/>
            <p:cNvSpPr txBox="1"/>
            <p:nvPr/>
          </p:nvSpPr>
          <p:spPr>
            <a:xfrm>
              <a:off x="7988618" y="3180874"/>
              <a:ext cx="965008"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"一通百通"的基础</a:t>
              </a:r>
            </a:p>
          </p:txBody>
        </p:sp>
        <p:sp>
          <p:nvSpPr>
            <p:cNvPr id="39" name="TextBox 39"/>
            <p:cNvSpPr txBox="1"/>
            <p:nvPr/>
          </p:nvSpPr>
          <p:spPr>
            <a:xfrm>
              <a:off x="7988618" y="3418999"/>
              <a:ext cx="1625445" cy="150041"/>
            </a:xfrm>
            <a:prstGeom prst="rect">
              <a:avLst/>
            </a:prstGeom>
            <a:noFill/>
            <a:ln>
              <a:noFill/>
            </a:ln>
          </p:spPr>
          <p:txBody>
            <a:bodyPr wrap="none" lIns="0" tIns="0" rIns="0" bIns="0" anchor="t" anchorCtr="0">
              <a:spAutoFit/>
            </a:bodyPr>
            <a:lstStyle/>
            <a:p>
              <a:pPr algn="l"/>
              <a:r>
                <a:rPr lang="zh-CN" sz="975" dirty="0">
                  <a:solidFill>
                    <a:schemeClr val="bg1">
                      <a:lumMod val="75000"/>
                    </a:schemeClr>
                  </a:solidFill>
                  <a:latin typeface="Arial"/>
                  <a:ea typeface="Microsoft YaHei"/>
                  <a:cs typeface="Arial"/>
                </a:rPr>
                <a:t>大幅降低设备成本与部署难度</a:t>
              </a:r>
            </a:p>
          </p:txBody>
        </p:sp>
        <p:sp>
          <p:nvSpPr>
            <p:cNvPr id="40" name="Rectangle 40"/>
            <p:cNvSpPr/>
            <p:nvPr/>
          </p:nvSpPr>
          <p:spPr>
            <a:xfrm>
              <a:off x="8001000" y="3714750"/>
              <a:ext cx="3238500" cy="190500"/>
            </a:xfrm>
            <a:prstGeom prst="roundRect">
              <a:avLst>
                <a:gd name="adj" fmla="val 20000"/>
              </a:avLst>
            </a:prstGeom>
            <a:solidFill>
              <a:srgbClr val="ECFDF5"/>
            </a:solidFill>
            <a:ln>
              <a:noFill/>
            </a:ln>
          </p:spPr>
        </p:sp>
        <p:sp>
          <p:nvSpPr>
            <p:cNvPr id="41" name="TextBox 41"/>
            <p:cNvSpPr txBox="1"/>
            <p:nvPr/>
          </p:nvSpPr>
          <p:spPr>
            <a:xfrm>
              <a:off x="9068752" y="3760470"/>
              <a:ext cx="1102995" cy="182880"/>
            </a:xfrm>
            <a:prstGeom prst="rect">
              <a:avLst/>
            </a:prstGeom>
            <a:noFill/>
            <a:ln>
              <a:noFill/>
            </a:ln>
          </p:spPr>
          <p:txBody>
            <a:bodyPr wrap="none" lIns="0" tIns="0" rIns="0" bIns="0" anchor="t" anchorCtr="0">
              <a:spAutoFit/>
            </a:bodyPr>
            <a:lstStyle/>
            <a:p>
              <a:pPr algn="ctr"/>
              <a:r>
                <a:rPr lang="zh-CN" sz="900" dirty="0">
                  <a:solidFill>
                    <a:srgbClr val="10B981"/>
                  </a:solidFill>
                  <a:latin typeface="Arial"/>
                  <a:ea typeface="Microsoft YaHei"/>
                  <a:cs typeface="Arial"/>
                </a:rPr>
                <a:t>实现通用解调的关键</a:t>
              </a:r>
            </a:p>
          </p:txBody>
        </p:sp>
      </p:grpSp>
      <p:sp>
        <p:nvSpPr>
          <p:cNvPr id="43" name="Rectangle 43"/>
          <p:cNvSpPr/>
          <p:nvPr/>
        </p:nvSpPr>
        <p:spPr>
          <a:xfrm>
            <a:off x="571500" y="4286250"/>
            <a:ext cx="11049000" cy="2095500"/>
          </a:xfrm>
          <a:prstGeom prst="roundRect">
            <a:avLst>
              <a:gd name="adj" fmla="val 5455"/>
            </a:avLst>
          </a:prstGeom>
          <a:solidFill>
            <a:srgbClr val="1E293B"/>
          </a:solidFill>
          <a:ln w="9525">
            <a:solidFill>
              <a:srgbClr val="334155"/>
            </a:solidFill>
          </a:ln>
        </p:spPr>
      </p:sp>
      <p:sp>
        <p:nvSpPr>
          <p:cNvPr id="44" name="TextBox 44"/>
          <p:cNvSpPr txBox="1"/>
          <p:nvPr/>
        </p:nvSpPr>
        <p:spPr>
          <a:xfrm>
            <a:off x="838200" y="4457700"/>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核心价值</a:t>
            </a:r>
          </a:p>
        </p:txBody>
      </p:sp>
      <p:sp>
        <p:nvSpPr>
          <p:cNvPr id="45" name="TextBox 45"/>
          <p:cNvSpPr txBox="1"/>
          <p:nvPr/>
        </p:nvSpPr>
        <p:spPr>
          <a:xfrm>
            <a:off x="842010" y="4823460"/>
            <a:ext cx="5495163"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AM/FM信号的精准识别是连接传统模拟通信与现代智能无线电技术的关键桥梁</a:t>
            </a:r>
          </a:p>
        </p:txBody>
      </p:sp>
      <p:sp>
        <p:nvSpPr>
          <p:cNvPr id="46" name="TextBox 46"/>
          <p:cNvSpPr txBox="1"/>
          <p:nvPr/>
        </p:nvSpPr>
        <p:spPr>
          <a:xfrm>
            <a:off x="842010" y="5109210"/>
            <a:ext cx="3582924"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实现从"被动接收"到"主动感知"频谱环境的第一步</a:t>
            </a:r>
          </a:p>
        </p:txBody>
      </p:sp>
      <p:sp>
        <p:nvSpPr>
          <p:cNvPr id="47" name="TextBox 47"/>
          <p:cNvSpPr txBox="1"/>
          <p:nvPr/>
        </p:nvSpPr>
        <p:spPr>
          <a:xfrm>
            <a:off x="842010" y="5394960"/>
            <a:ext cx="4351020"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为后续的自适应处理与动态资源分配提供不可或缺的基础支撑</a:t>
            </a:r>
          </a:p>
        </p:txBody>
      </p:sp>
      <p:grpSp>
        <p:nvGrpSpPr>
          <p:cNvPr id="51" name="Group 51"/>
          <p:cNvGrpSpPr/>
          <p:nvPr/>
        </p:nvGrpSpPr>
        <p:grpSpPr>
          <a:xfrm>
            <a:off x="857250" y="5810250"/>
            <a:ext cx="2667000" cy="476250"/>
            <a:chOff x="857250" y="5810250"/>
            <a:chExt cx="2667000" cy="476250"/>
          </a:xfrm>
        </p:grpSpPr>
        <p:sp>
          <p:nvSpPr>
            <p:cNvPr id="48" name="Rectangle 48"/>
            <p:cNvSpPr/>
            <p:nvPr/>
          </p:nvSpPr>
          <p:spPr>
            <a:xfrm>
              <a:off x="857250" y="5810250"/>
              <a:ext cx="2667000" cy="476250"/>
            </a:xfrm>
            <a:prstGeom prst="roundRect">
              <a:avLst>
                <a:gd name="adj" fmla="val 16000"/>
              </a:avLst>
            </a:prstGeom>
            <a:gradFill>
              <a:gsLst>
                <a:gs pos="0">
                  <a:srgbClr val="2563EB"/>
                </a:gs>
                <a:gs pos="100000">
                  <a:srgbClr val="8B5CF6"/>
                </a:gs>
              </a:gsLst>
              <a:lin ang="0" scaled="1"/>
            </a:gradFill>
            <a:ln>
              <a:noFill/>
            </a:ln>
          </p:spPr>
        </p:sp>
        <p:sp>
          <p:nvSpPr>
            <p:cNvPr id="49" name="TextBox 49"/>
            <p:cNvSpPr txBox="1"/>
            <p:nvPr/>
          </p:nvSpPr>
          <p:spPr>
            <a:xfrm>
              <a:off x="1662851" y="5887402"/>
              <a:ext cx="1055799"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频谱利用率提升</a:t>
              </a:r>
            </a:p>
          </p:txBody>
        </p:sp>
        <p:sp>
          <p:nvSpPr>
            <p:cNvPr id="50" name="TextBox 50"/>
            <p:cNvSpPr txBox="1"/>
            <p:nvPr/>
          </p:nvSpPr>
          <p:spPr>
            <a:xfrm>
              <a:off x="1585246" y="6094095"/>
              <a:ext cx="1211008" cy="182880"/>
            </a:xfrm>
            <a:prstGeom prst="rect">
              <a:avLst/>
            </a:prstGeom>
            <a:noFill/>
            <a:ln>
              <a:noFill/>
            </a:ln>
          </p:spPr>
          <p:txBody>
            <a:bodyPr wrap="none" lIns="0" tIns="0" rIns="0" bIns="0" anchor="t" anchorCtr="0">
              <a:spAutoFit/>
            </a:bodyPr>
            <a:lstStyle/>
            <a:p>
              <a:pPr algn="ctr"/>
              <a:r>
                <a:rPr lang="zh-CN" sz="900" dirty="0">
                  <a:solidFill>
                    <a:srgbClr val="0F172A"/>
                  </a:solidFill>
                  <a:latin typeface="Arial"/>
                  <a:ea typeface="Microsoft YaHei"/>
                  <a:cs typeface="Arial"/>
                </a:rPr>
                <a:t>Spectrum Efficiency</a:t>
              </a:r>
            </a:p>
          </p:txBody>
        </p:sp>
      </p:grpSp>
      <p:grpSp>
        <p:nvGrpSpPr>
          <p:cNvPr id="55" name="Group 55"/>
          <p:cNvGrpSpPr/>
          <p:nvPr/>
        </p:nvGrpSpPr>
        <p:grpSpPr>
          <a:xfrm>
            <a:off x="3810000" y="5810250"/>
            <a:ext cx="2667000" cy="476250"/>
            <a:chOff x="3810000" y="5810250"/>
            <a:chExt cx="2667000" cy="476250"/>
          </a:xfrm>
        </p:grpSpPr>
        <p:sp>
          <p:nvSpPr>
            <p:cNvPr id="52" name="Rectangle 52"/>
            <p:cNvSpPr/>
            <p:nvPr/>
          </p:nvSpPr>
          <p:spPr>
            <a:xfrm>
              <a:off x="3810000" y="5810250"/>
              <a:ext cx="2667000" cy="476250"/>
            </a:xfrm>
            <a:prstGeom prst="roundRect">
              <a:avLst>
                <a:gd name="adj" fmla="val 16000"/>
              </a:avLst>
            </a:prstGeom>
            <a:solidFill>
              <a:srgbClr val="818CF8"/>
            </a:solidFill>
            <a:ln>
              <a:noFill/>
            </a:ln>
          </p:spPr>
        </p:sp>
        <p:sp>
          <p:nvSpPr>
            <p:cNvPr id="53" name="TextBox 53"/>
            <p:cNvSpPr txBox="1"/>
            <p:nvPr/>
          </p:nvSpPr>
          <p:spPr>
            <a:xfrm>
              <a:off x="4615601" y="5887402"/>
              <a:ext cx="1055799"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电磁环境适应性</a:t>
              </a:r>
            </a:p>
          </p:txBody>
        </p:sp>
        <p:sp>
          <p:nvSpPr>
            <p:cNvPr id="54" name="TextBox 54"/>
            <p:cNvSpPr txBox="1"/>
            <p:nvPr/>
          </p:nvSpPr>
          <p:spPr>
            <a:xfrm>
              <a:off x="4306967" y="6094095"/>
              <a:ext cx="1673066" cy="182880"/>
            </a:xfrm>
            <a:prstGeom prst="rect">
              <a:avLst/>
            </a:prstGeom>
            <a:noFill/>
            <a:ln>
              <a:noFill/>
            </a:ln>
          </p:spPr>
          <p:txBody>
            <a:bodyPr wrap="none" lIns="0" tIns="0" rIns="0" bIns="0" anchor="t" anchorCtr="0">
              <a:spAutoFit/>
            </a:bodyPr>
            <a:lstStyle/>
            <a:p>
              <a:pPr algn="ctr"/>
              <a:r>
                <a:rPr lang="zh-CN" sz="900" dirty="0">
                  <a:solidFill>
                    <a:srgbClr val="0F172A"/>
                  </a:solidFill>
                  <a:latin typeface="Arial"/>
                  <a:ea typeface="Microsoft YaHei"/>
                  <a:cs typeface="Arial"/>
                </a:rPr>
                <a:t>EM Environment Adaptability</a:t>
              </a:r>
            </a:p>
          </p:txBody>
        </p:sp>
      </p:grpSp>
      <p:grpSp>
        <p:nvGrpSpPr>
          <p:cNvPr id="59" name="Group 59"/>
          <p:cNvGrpSpPr/>
          <p:nvPr/>
        </p:nvGrpSpPr>
        <p:grpSpPr>
          <a:xfrm>
            <a:off x="6762750" y="5810250"/>
            <a:ext cx="2667000" cy="476250"/>
            <a:chOff x="6762750" y="5810250"/>
            <a:chExt cx="2667000" cy="476250"/>
          </a:xfrm>
        </p:grpSpPr>
        <p:sp>
          <p:nvSpPr>
            <p:cNvPr id="56" name="Rectangle 56"/>
            <p:cNvSpPr/>
            <p:nvPr/>
          </p:nvSpPr>
          <p:spPr>
            <a:xfrm>
              <a:off x="6762750" y="5810250"/>
              <a:ext cx="2667000" cy="476250"/>
            </a:xfrm>
            <a:prstGeom prst="roundRect">
              <a:avLst>
                <a:gd name="adj" fmla="val 16000"/>
              </a:avLst>
            </a:prstGeom>
            <a:solidFill>
              <a:srgbClr val="10B981"/>
            </a:solidFill>
            <a:ln>
              <a:noFill/>
            </a:ln>
          </p:spPr>
        </p:sp>
        <p:sp>
          <p:nvSpPr>
            <p:cNvPr id="57" name="TextBox 57"/>
            <p:cNvSpPr txBox="1"/>
            <p:nvPr/>
          </p:nvSpPr>
          <p:spPr>
            <a:xfrm>
              <a:off x="7641860" y="5887402"/>
              <a:ext cx="90878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设备成本降低</a:t>
              </a:r>
            </a:p>
          </p:txBody>
        </p:sp>
        <p:sp>
          <p:nvSpPr>
            <p:cNvPr id="58" name="TextBox 58"/>
            <p:cNvSpPr txBox="1"/>
            <p:nvPr/>
          </p:nvSpPr>
          <p:spPr>
            <a:xfrm>
              <a:off x="7652766" y="6094095"/>
              <a:ext cx="886968" cy="182880"/>
            </a:xfrm>
            <a:prstGeom prst="rect">
              <a:avLst/>
            </a:prstGeom>
            <a:noFill/>
            <a:ln>
              <a:noFill/>
            </a:ln>
          </p:spPr>
          <p:txBody>
            <a:bodyPr wrap="none" lIns="0" tIns="0" rIns="0" bIns="0" anchor="t" anchorCtr="0">
              <a:spAutoFit/>
            </a:bodyPr>
            <a:lstStyle/>
            <a:p>
              <a:pPr algn="ctr"/>
              <a:r>
                <a:rPr lang="zh-CN" sz="900" dirty="0">
                  <a:solidFill>
                    <a:srgbClr val="0F172A"/>
                  </a:solidFill>
                  <a:latin typeface="Arial"/>
                  <a:ea typeface="Microsoft YaHei"/>
                  <a:cs typeface="Arial"/>
                </a:rPr>
                <a:t>Cost Reduction</a:t>
              </a:r>
            </a:p>
          </p:txBody>
        </p:sp>
      </p:grpSp>
      <p:sp>
        <p:nvSpPr>
          <p:cNvPr id="60" name="TextBox 60"/>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P20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9009397"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传统方法 vs 深度学习 Traditional vs Deep Learning</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4355" y="997268"/>
            <a:ext cx="4052391" cy="207749"/>
          </a:xfrm>
          <a:prstGeom prst="rect">
            <a:avLst/>
          </a:prstGeom>
          <a:noFill/>
          <a:ln>
            <a:noFill/>
          </a:ln>
        </p:spPr>
        <p:txBody>
          <a:bodyPr wrap="none" lIns="0" tIns="0" rIns="0" bIns="0" anchor="t" anchorCtr="0">
            <a:spAutoFit/>
          </a:bodyPr>
          <a:lstStyle/>
          <a:p>
            <a:pPr algn="l"/>
            <a:r>
              <a:rPr lang="zh-CN" sz="1350" dirty="0">
                <a:solidFill>
                  <a:schemeClr val="bg1">
                    <a:lumMod val="75000"/>
                  </a:schemeClr>
                </a:solidFill>
                <a:latin typeface="Arial"/>
                <a:ea typeface="Microsoft YaHei"/>
                <a:cs typeface="Arial"/>
              </a:rPr>
              <a:t>技术范式的更迭：从"特征工程驱动"到"数据智能驱动"</a:t>
            </a:r>
          </a:p>
        </p:txBody>
      </p:sp>
      <p:sp>
        <p:nvSpPr>
          <p:cNvPr id="7" name="Rectangle 7"/>
          <p:cNvSpPr/>
          <p:nvPr/>
        </p:nvSpPr>
        <p:spPr>
          <a:xfrm>
            <a:off x="571500" y="1524000"/>
            <a:ext cx="5334000" cy="3238500"/>
          </a:xfrm>
          <a:prstGeom prst="roundRect">
            <a:avLst>
              <a:gd name="adj" fmla="val 3529"/>
            </a:avLst>
          </a:prstGeom>
          <a:solidFill>
            <a:srgbClr val="FEF2F2"/>
          </a:solidFill>
          <a:ln w="19050">
            <a:solidFill>
              <a:srgbClr val="EF4444"/>
            </a:solidFill>
          </a:ln>
        </p:spPr>
      </p:sp>
      <p:sp>
        <p:nvSpPr>
          <p:cNvPr id="8" name="TextBox 8"/>
          <p:cNvSpPr txBox="1"/>
          <p:nvPr/>
        </p:nvSpPr>
        <p:spPr>
          <a:xfrm>
            <a:off x="836295" y="1679258"/>
            <a:ext cx="1532046" cy="335280"/>
          </a:xfrm>
          <a:prstGeom prst="rect">
            <a:avLst/>
          </a:prstGeom>
          <a:noFill/>
          <a:ln>
            <a:noFill/>
          </a:ln>
        </p:spPr>
        <p:txBody>
          <a:bodyPr wrap="none" lIns="0" tIns="0" rIns="0" bIns="0" anchor="t" anchorCtr="0">
            <a:spAutoFit/>
          </a:bodyPr>
          <a:lstStyle/>
          <a:p>
            <a:pPr algn="l"/>
            <a:r>
              <a:rPr lang="zh-CN" sz="1650" b="1" dirty="0">
                <a:solidFill>
                  <a:srgbClr val="F87171"/>
                </a:solidFill>
                <a:latin typeface="Arial"/>
                <a:ea typeface="Microsoft YaHei"/>
                <a:cs typeface="Arial"/>
              </a:rPr>
              <a:t>传统 AMC 方法</a:t>
            </a:r>
          </a:p>
        </p:txBody>
      </p:sp>
      <p:sp>
        <p:nvSpPr>
          <p:cNvPr id="9" name="Rectangle 9"/>
          <p:cNvSpPr/>
          <p:nvPr/>
        </p:nvSpPr>
        <p:spPr>
          <a:xfrm>
            <a:off x="857250" y="2000250"/>
            <a:ext cx="952500" cy="28575"/>
          </a:xfrm>
          <a:prstGeom prst="rect">
            <a:avLst/>
          </a:prstGeom>
          <a:solidFill>
            <a:srgbClr val="F87171"/>
          </a:solidFill>
          <a:ln>
            <a:noFill/>
          </a:ln>
        </p:spPr>
      </p:sp>
      <p:sp>
        <p:nvSpPr>
          <p:cNvPr id="10" name="TextBox 10"/>
          <p:cNvSpPr txBox="1"/>
          <p:nvPr/>
        </p:nvSpPr>
        <p:spPr>
          <a:xfrm>
            <a:off x="842010" y="2251710"/>
            <a:ext cx="769441" cy="184666"/>
          </a:xfrm>
          <a:prstGeom prst="rect">
            <a:avLst/>
          </a:prstGeom>
          <a:noFill/>
          <a:ln>
            <a:noFill/>
          </a:ln>
        </p:spPr>
        <p:txBody>
          <a:bodyPr wrap="none" lIns="0" tIns="0" rIns="0" bIns="0" anchor="t" anchorCtr="0">
            <a:spAutoFit/>
          </a:bodyPr>
          <a:lstStyle/>
          <a:p>
            <a:pPr algn="l"/>
            <a:r>
              <a:rPr lang="zh-CN" sz="1200" dirty="0">
                <a:solidFill>
                  <a:schemeClr val="bg1">
                    <a:lumMod val="50000"/>
                  </a:schemeClr>
                </a:solidFill>
                <a:latin typeface="Arial"/>
                <a:ea typeface="Microsoft YaHei"/>
                <a:cs typeface="Arial"/>
              </a:rPr>
              <a:t>核心特点：</a:t>
            </a:r>
          </a:p>
        </p:txBody>
      </p:sp>
      <p:sp>
        <p:nvSpPr>
          <p:cNvPr id="11" name="TextBox 11"/>
          <p:cNvSpPr txBox="1"/>
          <p:nvPr/>
        </p:nvSpPr>
        <p:spPr>
          <a:xfrm>
            <a:off x="843915" y="2553652"/>
            <a:ext cx="182589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高度依赖专家手工设计特征</a:t>
            </a:r>
          </a:p>
        </p:txBody>
      </p:sp>
      <p:sp>
        <p:nvSpPr>
          <p:cNvPr id="12" name="TextBox 12"/>
          <p:cNvSpPr txBox="1"/>
          <p:nvPr/>
        </p:nvSpPr>
        <p:spPr>
          <a:xfrm>
            <a:off x="843915" y="2791778"/>
            <a:ext cx="2105930"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高阶累积量、循环谱等统计特征</a:t>
            </a:r>
          </a:p>
        </p:txBody>
      </p:sp>
      <p:sp>
        <p:nvSpPr>
          <p:cNvPr id="13" name="TextBox 13"/>
          <p:cNvSpPr txBox="1"/>
          <p:nvPr/>
        </p:nvSpPr>
        <p:spPr>
          <a:xfrm>
            <a:off x="843915" y="3029902"/>
            <a:ext cx="1545860"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需要领域专家先验知识</a:t>
            </a:r>
          </a:p>
        </p:txBody>
      </p:sp>
      <p:sp>
        <p:nvSpPr>
          <p:cNvPr id="14" name="TextBox 14"/>
          <p:cNvSpPr txBox="1"/>
          <p:nvPr/>
        </p:nvSpPr>
        <p:spPr>
          <a:xfrm>
            <a:off x="842010" y="3394710"/>
            <a:ext cx="769441" cy="184666"/>
          </a:xfrm>
          <a:prstGeom prst="rect">
            <a:avLst/>
          </a:prstGeom>
          <a:noFill/>
          <a:ln>
            <a:noFill/>
          </a:ln>
        </p:spPr>
        <p:txBody>
          <a:bodyPr wrap="none" lIns="0" tIns="0" rIns="0" bIns="0" anchor="t" anchorCtr="0">
            <a:spAutoFit/>
          </a:bodyPr>
          <a:lstStyle/>
          <a:p>
            <a:pPr algn="l"/>
            <a:r>
              <a:rPr lang="zh-CN" sz="1200" dirty="0">
                <a:solidFill>
                  <a:schemeClr val="bg1">
                    <a:lumMod val="50000"/>
                  </a:schemeClr>
                </a:solidFill>
                <a:latin typeface="Arial"/>
                <a:ea typeface="Microsoft YaHei"/>
                <a:cs typeface="Arial"/>
              </a:rPr>
              <a:t>主要局限：</a:t>
            </a:r>
          </a:p>
        </p:txBody>
      </p:sp>
      <p:sp>
        <p:nvSpPr>
          <p:cNvPr id="15" name="TextBox 15"/>
          <p:cNvSpPr txBox="1"/>
          <p:nvPr/>
        </p:nvSpPr>
        <p:spPr>
          <a:xfrm>
            <a:off x="843915" y="3696652"/>
            <a:ext cx="1685877" cy="213360"/>
          </a:xfrm>
          <a:prstGeom prst="rect">
            <a:avLst/>
          </a:prstGeom>
          <a:noFill/>
          <a:ln>
            <a:noFill/>
          </a:ln>
        </p:spPr>
        <p:txBody>
          <a:bodyPr wrap="none" lIns="0" tIns="0" rIns="0" bIns="0" anchor="t" anchorCtr="0">
            <a:spAutoFit/>
          </a:bodyPr>
          <a:lstStyle/>
          <a:p>
            <a:pPr algn="l"/>
            <a:r>
              <a:rPr lang="zh-CN" sz="1050" dirty="0">
                <a:solidFill>
                  <a:srgbClr val="F87171"/>
                </a:solidFill>
                <a:latin typeface="Arial"/>
                <a:ea typeface="Microsoft YaHei"/>
                <a:cs typeface="Arial"/>
              </a:rPr>
              <a:t>✗ 低信噪比下性能严重退化</a:t>
            </a:r>
          </a:p>
        </p:txBody>
      </p:sp>
      <p:sp>
        <p:nvSpPr>
          <p:cNvPr id="16" name="TextBox 16"/>
          <p:cNvSpPr txBox="1"/>
          <p:nvPr/>
        </p:nvSpPr>
        <p:spPr>
          <a:xfrm>
            <a:off x="843915" y="3934778"/>
            <a:ext cx="1545860" cy="213360"/>
          </a:xfrm>
          <a:prstGeom prst="rect">
            <a:avLst/>
          </a:prstGeom>
          <a:noFill/>
          <a:ln>
            <a:noFill/>
          </a:ln>
        </p:spPr>
        <p:txBody>
          <a:bodyPr wrap="none" lIns="0" tIns="0" rIns="0" bIns="0" anchor="t" anchorCtr="0">
            <a:spAutoFit/>
          </a:bodyPr>
          <a:lstStyle/>
          <a:p>
            <a:pPr algn="l"/>
            <a:r>
              <a:rPr lang="zh-CN" sz="1050" dirty="0">
                <a:solidFill>
                  <a:srgbClr val="F87171"/>
                </a:solidFill>
                <a:latin typeface="Arial"/>
                <a:ea typeface="Microsoft YaHei"/>
                <a:cs typeface="Arial"/>
              </a:rPr>
              <a:t>✗ 复杂时变信道适应性差</a:t>
            </a:r>
          </a:p>
        </p:txBody>
      </p:sp>
      <p:sp>
        <p:nvSpPr>
          <p:cNvPr id="17" name="TextBox 17"/>
          <p:cNvSpPr txBox="1"/>
          <p:nvPr/>
        </p:nvSpPr>
        <p:spPr>
          <a:xfrm>
            <a:off x="843915" y="4172902"/>
            <a:ext cx="845772" cy="213360"/>
          </a:xfrm>
          <a:prstGeom prst="rect">
            <a:avLst/>
          </a:prstGeom>
          <a:noFill/>
          <a:ln>
            <a:noFill/>
          </a:ln>
        </p:spPr>
        <p:txBody>
          <a:bodyPr wrap="none" lIns="0" tIns="0" rIns="0" bIns="0" anchor="t" anchorCtr="0">
            <a:spAutoFit/>
          </a:bodyPr>
          <a:lstStyle/>
          <a:p>
            <a:pPr algn="l"/>
            <a:r>
              <a:rPr lang="zh-CN" sz="1050" dirty="0">
                <a:solidFill>
                  <a:srgbClr val="F87171"/>
                </a:solidFill>
                <a:latin typeface="Arial"/>
                <a:ea typeface="Microsoft YaHei"/>
                <a:cs typeface="Arial"/>
              </a:rPr>
              <a:t>✗ 泛化能力弱</a:t>
            </a:r>
          </a:p>
        </p:txBody>
      </p:sp>
      <p:sp>
        <p:nvSpPr>
          <p:cNvPr id="18" name="TextBox 18"/>
          <p:cNvSpPr txBox="1"/>
          <p:nvPr/>
        </p:nvSpPr>
        <p:spPr>
          <a:xfrm>
            <a:off x="843915" y="4411028"/>
            <a:ext cx="1685877" cy="213360"/>
          </a:xfrm>
          <a:prstGeom prst="rect">
            <a:avLst/>
          </a:prstGeom>
          <a:noFill/>
          <a:ln>
            <a:noFill/>
          </a:ln>
        </p:spPr>
        <p:txBody>
          <a:bodyPr wrap="none" lIns="0" tIns="0" rIns="0" bIns="0" anchor="t" anchorCtr="0">
            <a:spAutoFit/>
          </a:bodyPr>
          <a:lstStyle/>
          <a:p>
            <a:pPr algn="l"/>
            <a:r>
              <a:rPr lang="zh-CN" sz="1050" dirty="0">
                <a:solidFill>
                  <a:srgbClr val="F87171"/>
                </a:solidFill>
                <a:latin typeface="Arial"/>
                <a:ea typeface="Microsoft YaHei"/>
                <a:cs typeface="Arial"/>
              </a:rPr>
              <a:t>✗ 开发周期长、迭代成本高</a:t>
            </a:r>
          </a:p>
        </p:txBody>
      </p:sp>
      <p:sp>
        <p:nvSpPr>
          <p:cNvPr id="19" name="Rectangle 19"/>
          <p:cNvSpPr/>
          <p:nvPr/>
        </p:nvSpPr>
        <p:spPr>
          <a:xfrm>
            <a:off x="6286500" y="1524000"/>
            <a:ext cx="5334000" cy="3238500"/>
          </a:xfrm>
          <a:prstGeom prst="roundRect">
            <a:avLst>
              <a:gd name="adj" fmla="val 3529"/>
            </a:avLst>
          </a:prstGeom>
          <a:solidFill>
            <a:srgbClr val="ECFDF5"/>
          </a:solidFill>
          <a:ln w="19050">
            <a:solidFill>
              <a:srgbClr val="10B981"/>
            </a:solidFill>
          </a:ln>
        </p:spPr>
      </p:sp>
      <p:sp>
        <p:nvSpPr>
          <p:cNvPr id="20" name="TextBox 20"/>
          <p:cNvSpPr txBox="1"/>
          <p:nvPr/>
        </p:nvSpPr>
        <p:spPr>
          <a:xfrm>
            <a:off x="6551295" y="1679258"/>
            <a:ext cx="2132721" cy="335280"/>
          </a:xfrm>
          <a:prstGeom prst="rect">
            <a:avLst/>
          </a:prstGeom>
          <a:noFill/>
          <a:ln>
            <a:noFill/>
          </a:ln>
        </p:spPr>
        <p:txBody>
          <a:bodyPr wrap="none" lIns="0" tIns="0" rIns="0" bIns="0" anchor="t" anchorCtr="0">
            <a:spAutoFit/>
          </a:bodyPr>
          <a:lstStyle/>
          <a:p>
            <a:pPr algn="l"/>
            <a:r>
              <a:rPr lang="zh-CN" sz="1650" b="1" dirty="0">
                <a:solidFill>
                  <a:srgbClr val="10B981"/>
                </a:solidFill>
                <a:latin typeface="Arial"/>
                <a:ea typeface="Microsoft YaHei"/>
                <a:cs typeface="Arial"/>
              </a:rPr>
              <a:t>深度学习方法 (CNN)</a:t>
            </a:r>
          </a:p>
        </p:txBody>
      </p:sp>
      <p:sp>
        <p:nvSpPr>
          <p:cNvPr id="21" name="Rectangle 21"/>
          <p:cNvSpPr/>
          <p:nvPr/>
        </p:nvSpPr>
        <p:spPr>
          <a:xfrm>
            <a:off x="6572250" y="2000250"/>
            <a:ext cx="952500" cy="28575"/>
          </a:xfrm>
          <a:prstGeom prst="rect">
            <a:avLst/>
          </a:prstGeom>
          <a:solidFill>
            <a:srgbClr val="10B981"/>
          </a:solidFill>
          <a:ln>
            <a:noFill/>
          </a:ln>
        </p:spPr>
      </p:sp>
      <p:sp>
        <p:nvSpPr>
          <p:cNvPr id="22" name="TextBox 22"/>
          <p:cNvSpPr txBox="1"/>
          <p:nvPr/>
        </p:nvSpPr>
        <p:spPr>
          <a:xfrm>
            <a:off x="6557010" y="2251710"/>
            <a:ext cx="769441" cy="184666"/>
          </a:xfrm>
          <a:prstGeom prst="rect">
            <a:avLst/>
          </a:prstGeom>
          <a:noFill/>
          <a:ln>
            <a:noFill/>
          </a:ln>
        </p:spPr>
        <p:txBody>
          <a:bodyPr wrap="none" lIns="0" tIns="0" rIns="0" bIns="0" anchor="t" anchorCtr="0">
            <a:spAutoFit/>
          </a:bodyPr>
          <a:lstStyle/>
          <a:p>
            <a:pPr algn="l"/>
            <a:r>
              <a:rPr lang="zh-CN" sz="1200" dirty="0">
                <a:solidFill>
                  <a:schemeClr val="bg1">
                    <a:lumMod val="50000"/>
                  </a:schemeClr>
                </a:solidFill>
                <a:latin typeface="Arial"/>
                <a:ea typeface="Microsoft YaHei"/>
                <a:cs typeface="Arial"/>
              </a:rPr>
              <a:t>核心优势：</a:t>
            </a:r>
          </a:p>
        </p:txBody>
      </p:sp>
      <p:sp>
        <p:nvSpPr>
          <p:cNvPr id="23" name="TextBox 23"/>
          <p:cNvSpPr txBox="1"/>
          <p:nvPr/>
        </p:nvSpPr>
        <p:spPr>
          <a:xfrm>
            <a:off x="6558915" y="2553652"/>
            <a:ext cx="112580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端到端自主学习</a:t>
            </a:r>
          </a:p>
        </p:txBody>
      </p:sp>
      <p:sp>
        <p:nvSpPr>
          <p:cNvPr id="24" name="TextBox 24"/>
          <p:cNvSpPr txBox="1"/>
          <p:nvPr/>
        </p:nvSpPr>
        <p:spPr>
          <a:xfrm>
            <a:off x="6558915" y="2791778"/>
            <a:ext cx="12658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深层时空特征挖掘</a:t>
            </a:r>
          </a:p>
        </p:txBody>
      </p:sp>
      <p:sp>
        <p:nvSpPr>
          <p:cNvPr id="25" name="TextBox 25"/>
          <p:cNvSpPr txBox="1"/>
          <p:nvPr/>
        </p:nvSpPr>
        <p:spPr>
          <a:xfrm>
            <a:off x="6558915" y="3029902"/>
            <a:ext cx="1125807"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 复杂环境鲁棒性</a:t>
            </a:r>
          </a:p>
        </p:txBody>
      </p:sp>
      <p:sp>
        <p:nvSpPr>
          <p:cNvPr id="26" name="TextBox 26"/>
          <p:cNvSpPr txBox="1"/>
          <p:nvPr/>
        </p:nvSpPr>
        <p:spPr>
          <a:xfrm>
            <a:off x="6557010" y="3394710"/>
            <a:ext cx="769441" cy="184666"/>
          </a:xfrm>
          <a:prstGeom prst="rect">
            <a:avLst/>
          </a:prstGeom>
          <a:noFill/>
          <a:ln>
            <a:noFill/>
          </a:ln>
        </p:spPr>
        <p:txBody>
          <a:bodyPr wrap="none" lIns="0" tIns="0" rIns="0" bIns="0" anchor="t" anchorCtr="0">
            <a:spAutoFit/>
          </a:bodyPr>
          <a:lstStyle/>
          <a:p>
            <a:pPr algn="l"/>
            <a:r>
              <a:rPr lang="zh-CN" sz="1200" dirty="0">
                <a:solidFill>
                  <a:schemeClr val="bg1">
                    <a:lumMod val="50000"/>
                  </a:schemeClr>
                </a:solidFill>
                <a:latin typeface="Arial"/>
                <a:ea typeface="Microsoft YaHei"/>
                <a:cs typeface="Arial"/>
              </a:rPr>
              <a:t>关键突破：</a:t>
            </a:r>
          </a:p>
        </p:txBody>
      </p:sp>
      <p:sp>
        <p:nvSpPr>
          <p:cNvPr id="27" name="TextBox 27"/>
          <p:cNvSpPr txBox="1"/>
          <p:nvPr/>
        </p:nvSpPr>
        <p:spPr>
          <a:xfrm>
            <a:off x="6558915" y="3696652"/>
            <a:ext cx="154586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 摒弃繁琐人工特征工程</a:t>
            </a:r>
          </a:p>
        </p:txBody>
      </p:sp>
      <p:sp>
        <p:nvSpPr>
          <p:cNvPr id="28" name="TextBox 28"/>
          <p:cNvSpPr txBox="1"/>
          <p:nvPr/>
        </p:nvSpPr>
        <p:spPr>
          <a:xfrm>
            <a:off x="6558915" y="3934778"/>
            <a:ext cx="1629870"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 直接从原始I/Q信号学习</a:t>
            </a:r>
          </a:p>
        </p:txBody>
      </p:sp>
      <p:sp>
        <p:nvSpPr>
          <p:cNvPr id="29" name="TextBox 29"/>
          <p:cNvSpPr txBox="1"/>
          <p:nvPr/>
        </p:nvSpPr>
        <p:spPr>
          <a:xfrm>
            <a:off x="6558915" y="4172902"/>
            <a:ext cx="1685877"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 局部感知与权值共享机制</a:t>
            </a:r>
          </a:p>
        </p:txBody>
      </p:sp>
      <p:sp>
        <p:nvSpPr>
          <p:cNvPr id="30" name="TextBox 30"/>
          <p:cNvSpPr txBox="1"/>
          <p:nvPr/>
        </p:nvSpPr>
        <p:spPr>
          <a:xfrm>
            <a:off x="6558915" y="4411028"/>
            <a:ext cx="1405842"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 自适应不同信道畸变</a:t>
            </a:r>
          </a:p>
        </p:txBody>
      </p:sp>
      <p:sp>
        <p:nvSpPr>
          <p:cNvPr id="31" name="Rectangle 31"/>
          <p:cNvSpPr/>
          <p:nvPr/>
        </p:nvSpPr>
        <p:spPr>
          <a:xfrm>
            <a:off x="571500" y="4953000"/>
            <a:ext cx="11049000" cy="1524000"/>
          </a:xfrm>
          <a:prstGeom prst="roundRect">
            <a:avLst>
              <a:gd name="adj" fmla="val 7500"/>
            </a:avLst>
          </a:prstGeom>
          <a:solidFill>
            <a:srgbClr val="1E293B"/>
          </a:solidFill>
          <a:ln w="9525">
            <a:solidFill>
              <a:srgbClr val="334155"/>
            </a:solidFill>
          </a:ln>
        </p:spPr>
      </p:sp>
      <p:sp>
        <p:nvSpPr>
          <p:cNvPr id="32" name="TextBox 32"/>
          <p:cNvSpPr txBox="1"/>
          <p:nvPr/>
        </p:nvSpPr>
        <p:spPr>
          <a:xfrm>
            <a:off x="838200" y="512445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技术范式跃迁</a:t>
            </a:r>
          </a:p>
        </p:txBody>
      </p:sp>
      <p:grpSp>
        <p:nvGrpSpPr>
          <p:cNvPr id="37" name="Group 37"/>
          <p:cNvGrpSpPr/>
          <p:nvPr/>
        </p:nvGrpSpPr>
        <p:grpSpPr>
          <a:xfrm>
            <a:off x="857250" y="5524500"/>
            <a:ext cx="3333750" cy="762000"/>
            <a:chOff x="857250" y="5524500"/>
            <a:chExt cx="3333750" cy="762000"/>
          </a:xfrm>
        </p:grpSpPr>
        <p:sp>
          <p:nvSpPr>
            <p:cNvPr id="33" name="Rectangle 33"/>
            <p:cNvSpPr/>
            <p:nvPr/>
          </p:nvSpPr>
          <p:spPr>
            <a:xfrm>
              <a:off x="857250" y="5524500"/>
              <a:ext cx="3333750" cy="762000"/>
            </a:xfrm>
            <a:prstGeom prst="roundRect">
              <a:avLst>
                <a:gd name="adj" fmla="val 10000"/>
              </a:avLst>
            </a:prstGeom>
            <a:solidFill>
              <a:srgbClr val="0F172A"/>
            </a:solidFill>
            <a:ln w="9525">
              <a:solidFill>
                <a:srgbClr val="334155"/>
              </a:solidFill>
            </a:ln>
          </p:spPr>
        </p:sp>
        <p:sp>
          <p:nvSpPr>
            <p:cNvPr id="34" name="TextBox 34"/>
            <p:cNvSpPr txBox="1"/>
            <p:nvPr/>
          </p:nvSpPr>
          <p:spPr>
            <a:xfrm>
              <a:off x="2069735" y="5649278"/>
              <a:ext cx="908780" cy="213360"/>
            </a:xfrm>
            <a:prstGeom prst="rect">
              <a:avLst/>
            </a:prstGeom>
            <a:noFill/>
            <a:ln>
              <a:noFill/>
            </a:ln>
          </p:spPr>
          <p:txBody>
            <a:bodyPr wrap="none" lIns="0" tIns="0" rIns="0" bIns="0" anchor="t" anchorCtr="0">
              <a:spAutoFit/>
            </a:bodyPr>
            <a:lstStyle/>
            <a:p>
              <a:pPr algn="ctr"/>
              <a:r>
                <a:rPr lang="zh-CN" sz="1050" b="1" dirty="0">
                  <a:solidFill>
                    <a:srgbClr val="F87171"/>
                  </a:solidFill>
                  <a:latin typeface="Arial"/>
                  <a:ea typeface="Microsoft YaHei"/>
                  <a:cs typeface="Arial"/>
                </a:rPr>
                <a:t>特征工程驱动</a:t>
              </a:r>
            </a:p>
          </p:txBody>
        </p:sp>
        <p:sp>
          <p:nvSpPr>
            <p:cNvPr id="35" name="TextBox 35"/>
            <p:cNvSpPr txBox="1"/>
            <p:nvPr/>
          </p:nvSpPr>
          <p:spPr>
            <a:xfrm>
              <a:off x="1767508" y="5903595"/>
              <a:ext cx="1513235" cy="138499"/>
            </a:xfrm>
            <a:prstGeom prst="rect">
              <a:avLst/>
            </a:prstGeom>
            <a:noFill/>
            <a:ln>
              <a:noFill/>
            </a:ln>
          </p:spPr>
          <p:txBody>
            <a:bodyPr wrap="none" lIns="0" tIns="0" rIns="0" bIns="0" anchor="t" anchorCtr="0">
              <a:spAutoFit/>
            </a:bodyPr>
            <a:lstStyle/>
            <a:p>
              <a:pPr algn="ctr"/>
              <a:r>
                <a:rPr lang="zh-CN" sz="900" dirty="0">
                  <a:solidFill>
                    <a:schemeClr val="bg1">
                      <a:lumMod val="75000"/>
                    </a:schemeClr>
                  </a:solidFill>
                  <a:latin typeface="Arial"/>
                  <a:ea typeface="Microsoft YaHei"/>
                  <a:cs typeface="Arial"/>
                </a:rPr>
                <a:t>人工设计 → 手动提取 → 分类</a:t>
              </a:r>
            </a:p>
          </p:txBody>
        </p:sp>
        <p:sp>
          <p:nvSpPr>
            <p:cNvPr id="36" name="TextBox 36"/>
            <p:cNvSpPr txBox="1"/>
            <p:nvPr/>
          </p:nvSpPr>
          <p:spPr>
            <a:xfrm>
              <a:off x="2206730" y="6102191"/>
              <a:ext cx="634789" cy="126958"/>
            </a:xfrm>
            <a:prstGeom prst="rect">
              <a:avLst/>
            </a:prstGeom>
            <a:noFill/>
            <a:ln>
              <a:noFill/>
            </a:ln>
          </p:spPr>
          <p:txBody>
            <a:bodyPr wrap="none" lIns="0" tIns="0" rIns="0" bIns="0" anchor="t" anchorCtr="0">
              <a:spAutoFit/>
            </a:bodyPr>
            <a:lstStyle/>
            <a:p>
              <a:pPr algn="ctr"/>
              <a:r>
                <a:rPr lang="zh-CN" sz="825" dirty="0">
                  <a:solidFill>
                    <a:schemeClr val="bg1">
                      <a:lumMod val="75000"/>
                    </a:schemeClr>
                  </a:solidFill>
                  <a:latin typeface="Arial"/>
                  <a:ea typeface="Microsoft YaHei"/>
                  <a:cs typeface="Arial"/>
                </a:rPr>
                <a:t>依赖专家知识</a:t>
              </a:r>
            </a:p>
          </p:txBody>
        </p:sp>
      </p:grpSp>
      <p:sp>
        <p:nvSpPr>
          <p:cNvPr id="38" name="TextBox 38"/>
          <p:cNvSpPr txBox="1"/>
          <p:nvPr/>
        </p:nvSpPr>
        <p:spPr>
          <a:xfrm>
            <a:off x="4354830" y="5678805"/>
            <a:ext cx="207359" cy="426720"/>
          </a:xfrm>
          <a:prstGeom prst="rect">
            <a:avLst/>
          </a:prstGeom>
          <a:noFill/>
          <a:ln>
            <a:noFill/>
          </a:ln>
        </p:spPr>
        <p:txBody>
          <a:bodyPr wrap="none" lIns="0" tIns="0" rIns="0" bIns="0" anchor="t" anchorCtr="0">
            <a:spAutoFit/>
          </a:bodyPr>
          <a:lstStyle/>
          <a:p>
            <a:pPr algn="l"/>
            <a:r>
              <a:rPr lang="zh-CN" sz="2100" dirty="0">
                <a:solidFill>
                  <a:srgbClr val="818CF8"/>
                </a:solidFill>
                <a:latin typeface="Arial"/>
                <a:ea typeface="Microsoft YaHei"/>
                <a:cs typeface="Arial"/>
              </a:rPr>
              <a:t>→</a:t>
            </a:r>
          </a:p>
        </p:txBody>
      </p:sp>
      <p:grpSp>
        <p:nvGrpSpPr>
          <p:cNvPr id="43" name="Group 43"/>
          <p:cNvGrpSpPr/>
          <p:nvPr/>
        </p:nvGrpSpPr>
        <p:grpSpPr>
          <a:xfrm>
            <a:off x="4762500" y="5524500"/>
            <a:ext cx="3333750" cy="762000"/>
            <a:chOff x="4762500" y="5524500"/>
            <a:chExt cx="3333750" cy="762000"/>
          </a:xfrm>
        </p:grpSpPr>
        <p:sp>
          <p:nvSpPr>
            <p:cNvPr id="39" name="Rectangle 39"/>
            <p:cNvSpPr/>
            <p:nvPr/>
          </p:nvSpPr>
          <p:spPr>
            <a:xfrm>
              <a:off x="4762500" y="5524500"/>
              <a:ext cx="3333750" cy="762000"/>
            </a:xfrm>
            <a:prstGeom prst="roundRect">
              <a:avLst>
                <a:gd name="adj" fmla="val 10000"/>
              </a:avLst>
            </a:prstGeom>
            <a:solidFill>
              <a:srgbClr val="0F172A"/>
            </a:solidFill>
            <a:ln w="9525">
              <a:solidFill>
                <a:srgbClr val="334155"/>
              </a:solidFill>
            </a:ln>
          </p:spPr>
        </p:sp>
        <p:sp>
          <p:nvSpPr>
            <p:cNvPr id="40" name="TextBox 40"/>
            <p:cNvSpPr txBox="1"/>
            <p:nvPr/>
          </p:nvSpPr>
          <p:spPr>
            <a:xfrm>
              <a:off x="5974985" y="5649278"/>
              <a:ext cx="908780"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a:ea typeface="Microsoft YaHei"/>
                  <a:cs typeface="Arial"/>
                </a:rPr>
                <a:t>数据智能驱动</a:t>
              </a:r>
            </a:p>
          </p:txBody>
        </p:sp>
        <p:sp>
          <p:nvSpPr>
            <p:cNvPr id="41" name="TextBox 41"/>
            <p:cNvSpPr txBox="1"/>
            <p:nvPr/>
          </p:nvSpPr>
          <p:spPr>
            <a:xfrm>
              <a:off x="5547723" y="5903595"/>
              <a:ext cx="1763304"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原始数据 → CNN自动学习 → 分类</a:t>
              </a:r>
            </a:p>
          </p:txBody>
        </p:sp>
        <p:sp>
          <p:nvSpPr>
            <p:cNvPr id="42" name="TextBox 42"/>
            <p:cNvSpPr txBox="1"/>
            <p:nvPr/>
          </p:nvSpPr>
          <p:spPr>
            <a:xfrm>
              <a:off x="6111980" y="6102191"/>
              <a:ext cx="634789"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无需人工干预</a:t>
              </a:r>
            </a:p>
          </p:txBody>
        </p:sp>
      </p:grpSp>
      <p:sp>
        <p:nvSpPr>
          <p:cNvPr id="44" name="Rectangle 44"/>
          <p:cNvSpPr/>
          <p:nvPr/>
        </p:nvSpPr>
        <p:spPr>
          <a:xfrm>
            <a:off x="8286750" y="5524500"/>
            <a:ext cx="2952750" cy="762000"/>
          </a:xfrm>
          <a:prstGeom prst="roundRect">
            <a:avLst>
              <a:gd name="adj" fmla="val 10000"/>
            </a:avLst>
          </a:prstGeom>
          <a:solidFill>
            <a:srgbClr val="10B981"/>
          </a:solidFill>
          <a:ln>
            <a:noFill/>
          </a:ln>
        </p:spPr>
      </p:sp>
      <p:sp>
        <p:nvSpPr>
          <p:cNvPr id="45" name="TextBox 45"/>
          <p:cNvSpPr txBox="1"/>
          <p:nvPr/>
        </p:nvSpPr>
        <p:spPr>
          <a:xfrm>
            <a:off x="9235226" y="5696902"/>
            <a:ext cx="1055799"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性能指数级跃升</a:t>
            </a:r>
          </a:p>
        </p:txBody>
      </p:sp>
      <p:sp>
        <p:nvSpPr>
          <p:cNvPr id="46" name="TextBox 46"/>
          <p:cNvSpPr txBox="1"/>
          <p:nvPr/>
        </p:nvSpPr>
        <p:spPr>
          <a:xfrm>
            <a:off x="9031605" y="5951220"/>
            <a:ext cx="1463040" cy="182880"/>
          </a:xfrm>
          <a:prstGeom prst="rect">
            <a:avLst/>
          </a:prstGeom>
          <a:noFill/>
          <a:ln>
            <a:noFill/>
          </a:ln>
        </p:spPr>
        <p:txBody>
          <a:bodyPr wrap="none" lIns="0" tIns="0" rIns="0" bIns="0" anchor="t" anchorCtr="0">
            <a:spAutoFit/>
          </a:bodyPr>
          <a:lstStyle/>
          <a:p>
            <a:pPr algn="ctr"/>
            <a:r>
              <a:rPr lang="zh-CN" sz="900" dirty="0">
                <a:solidFill>
                  <a:srgbClr val="0F172A"/>
                </a:solidFill>
                <a:latin typeface="Arial"/>
                <a:ea typeface="Microsoft YaHei"/>
                <a:cs typeface="Arial"/>
              </a:rPr>
              <a:t>可扩展、自适应的智能框架</a:t>
            </a:r>
          </a:p>
        </p:txBody>
      </p:sp>
      <p:sp>
        <p:nvSpPr>
          <p:cNvPr id="47" name="TextBox 47"/>
          <p:cNvSpPr txBox="1"/>
          <p:nvPr/>
        </p:nvSpPr>
        <p:spPr>
          <a:xfrm>
            <a:off x="8919293" y="6149816"/>
            <a:ext cx="1687663" cy="167640"/>
          </a:xfrm>
          <a:prstGeom prst="rect">
            <a:avLst/>
          </a:prstGeom>
          <a:noFill/>
          <a:ln>
            <a:noFill/>
          </a:ln>
        </p:spPr>
        <p:txBody>
          <a:bodyPr wrap="none" lIns="0" tIns="0" rIns="0" bIns="0" anchor="t" anchorCtr="0">
            <a:spAutoFit/>
          </a:bodyPr>
          <a:lstStyle/>
          <a:p>
            <a:pPr algn="ctr"/>
            <a:r>
              <a:rPr lang="zh-CN" sz="825" dirty="0">
                <a:solidFill>
                  <a:srgbClr val="0F172A"/>
                </a:solidFill>
                <a:latin typeface="Arial"/>
                <a:ea typeface="Microsoft YaHei"/>
                <a:cs typeface="Arial"/>
              </a:rPr>
              <a:t>Exponential Performance Boost</a:t>
            </a:r>
          </a:p>
        </p:txBody>
      </p:sp>
      <p:sp>
        <p:nvSpPr>
          <p:cNvPr id="48" name="TextBox 48"/>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P21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569167"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调制原理 Modulation Principles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143000"/>
            <a:ext cx="5334000" cy="2857500"/>
          </a:xfrm>
          <a:prstGeom prst="roundRect">
            <a:avLst>
              <a:gd name="adj" fmla="val 4000"/>
            </a:avLst>
          </a:prstGeom>
          <a:solidFill>
            <a:srgbClr val="1E293B"/>
          </a:solidFill>
          <a:ln w="9525">
            <a:solidFill>
              <a:srgbClr val="334155"/>
            </a:solidFill>
          </a:ln>
        </p:spPr>
      </p:sp>
      <p:sp>
        <p:nvSpPr>
          <p:cNvPr id="7" name="TextBox 7"/>
          <p:cNvSpPr txBox="1"/>
          <p:nvPr/>
        </p:nvSpPr>
        <p:spPr>
          <a:xfrm>
            <a:off x="834390" y="1329690"/>
            <a:ext cx="3863997" cy="365760"/>
          </a:xfrm>
          <a:prstGeom prst="rect">
            <a:avLst/>
          </a:prstGeom>
          <a:noFill/>
          <a:ln>
            <a:noFill/>
          </a:ln>
        </p:spPr>
        <p:txBody>
          <a:bodyPr wrap="none" lIns="0" tIns="0" rIns="0" bIns="0" anchor="t" anchorCtr="0">
            <a:spAutoFit/>
          </a:bodyPr>
          <a:lstStyle/>
          <a:p>
            <a:pPr algn="l"/>
            <a:r>
              <a:rPr lang="zh-CN" sz="1800" b="1" dirty="0">
                <a:gradFill>
                  <a:gsLst>
                    <a:gs pos="0">
                      <a:srgbClr val="2563EB"/>
                    </a:gs>
                    <a:gs pos="100000">
                      <a:srgbClr val="8B5CF6"/>
                    </a:gs>
                  </a:gsLst>
                  <a:lin ang="0" scaled="1"/>
                </a:gradFill>
                <a:latin typeface="Arial"/>
                <a:ea typeface="Microsoft YaHei"/>
                <a:cs typeface="Arial"/>
              </a:rPr>
              <a:t>AM 调幅 (Amplitude Modulation)</a:t>
            </a:r>
          </a:p>
        </p:txBody>
      </p:sp>
      <p:sp>
        <p:nvSpPr>
          <p:cNvPr id="8" name="Rectangle 8"/>
          <p:cNvSpPr/>
          <p:nvPr/>
        </p:nvSpPr>
        <p:spPr>
          <a:xfrm>
            <a:off x="857250" y="1666875"/>
            <a:ext cx="952500" cy="28575"/>
          </a:xfrm>
          <a:prstGeom prst="rect">
            <a:avLst/>
          </a:prstGeom>
          <a:gradFill>
            <a:gsLst>
              <a:gs pos="0">
                <a:srgbClr val="2563EB"/>
              </a:gs>
              <a:gs pos="100000">
                <a:srgbClr val="8B5CF6"/>
              </a:gs>
            </a:gsLst>
            <a:lin ang="0" scaled="1"/>
          </a:gradFill>
          <a:ln>
            <a:noFill/>
          </a:ln>
        </p:spPr>
      </p:sp>
      <p:sp>
        <p:nvSpPr>
          <p:cNvPr id="9" name="TextBox 9"/>
          <p:cNvSpPr txBox="1"/>
          <p:nvPr/>
        </p:nvSpPr>
        <p:spPr>
          <a:xfrm>
            <a:off x="842010" y="1870710"/>
            <a:ext cx="75857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调制公式:</a:t>
            </a:r>
          </a:p>
        </p:txBody>
      </p:sp>
      <p:sp>
        <p:nvSpPr>
          <p:cNvPr id="10" name="Rectangle 10"/>
          <p:cNvSpPr/>
          <p:nvPr/>
        </p:nvSpPr>
        <p:spPr>
          <a:xfrm>
            <a:off x="857250" y="2143125"/>
            <a:ext cx="4762500" cy="476250"/>
          </a:xfrm>
          <a:prstGeom prst="roundRect">
            <a:avLst>
              <a:gd name="adj" fmla="val 16000"/>
            </a:avLst>
          </a:prstGeom>
          <a:solidFill>
            <a:srgbClr val="0F172A"/>
          </a:solidFill>
          <a:ln w="9525">
            <a:solidFill>
              <a:srgbClr val="334155"/>
            </a:solidFill>
          </a:ln>
        </p:spPr>
      </p:sp>
      <mc:AlternateContent xmlns:mc="http://schemas.openxmlformats.org/markup-compatibility/2006" xmlns:a14="http://schemas.microsoft.com/office/drawing/2010/main">
        <mc:Choice Requires="a14">
          <p:sp>
            <p:nvSpPr>
              <p:cNvPr id="11" name="TextBox 11"/>
              <p:cNvSpPr txBox="1"/>
              <p:nvPr/>
            </p:nvSpPr>
            <p:spPr>
              <a:xfrm>
                <a:off x="1598916" y="2314575"/>
                <a:ext cx="3279167" cy="230832"/>
              </a:xfrm>
              <a:prstGeom prst="rect">
                <a:avLst/>
              </a:prstGeom>
              <a:noFill/>
              <a:ln>
                <a:noFill/>
              </a:ln>
            </p:spPr>
            <p:txBody>
              <a:bodyPr wrap="none" lIns="0" tIns="0" rIns="0" bIns="0" anchor="t" anchorCtr="0">
                <a:spAutoFit/>
              </a:bodyPr>
              <a:lstStyle/>
              <a:p>
                <a:pPr algn="ctr"/>
                <a14:m>
                  <m:oMathPara xmlns:m="http://schemas.openxmlformats.org/officeDocument/2006/math">
                    <m:oMathParaPr>
                      <m:jc m:val="centerGroup"/>
                    </m:oMathParaPr>
                    <m:oMath xmlns:m="http://schemas.openxmlformats.org/officeDocument/2006/math">
                      <m:sSub>
                        <m:sSubPr>
                          <m:ctrlPr>
                            <a:rPr lang="zh-CN" altLang="en-US" sz="1500" i="1" dirty="0" smtClean="0">
                              <a:solidFill>
                                <a:srgbClr val="CBD5E1"/>
                              </a:solidFill>
                              <a:latin typeface="Cambria Math" panose="02040503050406030204" pitchFamily="18" charset="0"/>
                              <a:ea typeface="Microsoft YaHei"/>
                              <a:cs typeface="Cambria Math"/>
                            </a:rPr>
                          </m:ctrlPr>
                        </m:sSubPr>
                        <m:e>
                          <m:r>
                            <a:rPr lang="zh-CN" altLang="en-US" sz="1500" i="1" dirty="0" smtClean="0">
                              <a:solidFill>
                                <a:srgbClr val="CBD5E1"/>
                              </a:solidFill>
                              <a:latin typeface="Cambria Math" panose="02040503050406030204" pitchFamily="18" charset="0"/>
                              <a:ea typeface="Microsoft YaHei"/>
                              <a:cs typeface="Cambria Math"/>
                            </a:rPr>
                            <m:t>𝑠</m:t>
                          </m:r>
                        </m:e>
                        <m:sub>
                          <m:r>
                            <a:rPr lang="zh-CN" altLang="en-US" sz="1500" i="1" dirty="0">
                              <a:solidFill>
                                <a:srgbClr val="CBD5E1"/>
                              </a:solidFill>
                              <a:latin typeface="Cambria Math" panose="02040503050406030204" pitchFamily="18" charset="0"/>
                              <a:ea typeface="Microsoft YaHei"/>
                              <a:cs typeface="Cambria Math"/>
                            </a:rPr>
                            <m:t>𝐴</m:t>
                          </m:r>
                        </m:sub>
                      </m:sSub>
                      <m:r>
                        <a:rPr lang="zh-CN" altLang="en-US" sz="1500" i="1" dirty="0">
                          <a:solidFill>
                            <a:srgbClr val="CBD5E1"/>
                          </a:solidFill>
                          <a:latin typeface="Cambria Math" panose="02040503050406030204" pitchFamily="18" charset="0"/>
                          <a:ea typeface="Microsoft YaHei"/>
                          <a:cs typeface="Cambria Math"/>
                        </a:rPr>
                        <m:t>𝑀</m:t>
                      </m:r>
                      <m:d>
                        <m:dPr>
                          <m:ctrlPr>
                            <a:rPr lang="zh-CN" altLang="en-US" sz="1500" i="1" dirty="0">
                              <a:solidFill>
                                <a:srgbClr val="CBD5E1"/>
                              </a:solidFill>
                              <a:latin typeface="Cambria Math" panose="02040503050406030204" pitchFamily="18" charset="0"/>
                              <a:ea typeface="Microsoft YaHei"/>
                              <a:cs typeface="Cambria Math"/>
                            </a:rPr>
                          </m:ctrlPr>
                        </m:dPr>
                        <m:e>
                          <m:r>
                            <a:rPr lang="zh-CN" altLang="en-US" sz="1500" i="1" dirty="0">
                              <a:solidFill>
                                <a:srgbClr val="CBD5E1"/>
                              </a:solidFill>
                              <a:latin typeface="Cambria Math" panose="02040503050406030204" pitchFamily="18" charset="0"/>
                              <a:ea typeface="Microsoft YaHei"/>
                              <a:cs typeface="Cambria Math"/>
                            </a:rPr>
                            <m:t>𝑡</m:t>
                          </m:r>
                        </m:e>
                      </m:d>
                      <m:r>
                        <a:rPr lang="zh-CN" sz="1500" i="1" dirty="0">
                          <a:solidFill>
                            <a:srgbClr val="CBD5E1"/>
                          </a:solidFill>
                          <a:latin typeface="Cambria Math" panose="02040503050406030204" pitchFamily="18" charset="0"/>
                          <a:ea typeface="Microsoft YaHei"/>
                          <a:cs typeface="Cambria Math"/>
                        </a:rPr>
                        <m:t>=</m:t>
                      </m:r>
                      <m:d>
                        <m:dPr>
                          <m:begChr m:val="["/>
                          <m:endChr m:val="]"/>
                          <m:ctrlPr>
                            <a:rPr lang="zh-CN" altLang="en-US" sz="1500" i="1" dirty="0">
                              <a:solidFill>
                                <a:srgbClr val="CBD5E1"/>
                              </a:solidFill>
                              <a:latin typeface="Cambria Math" panose="02040503050406030204" pitchFamily="18" charset="0"/>
                              <a:ea typeface="Microsoft YaHei"/>
                              <a:cs typeface="Cambria Math"/>
                            </a:rPr>
                          </m:ctrlPr>
                        </m:dPr>
                        <m:e>
                          <m:r>
                            <a:rPr lang="zh-CN" sz="1500" i="1" dirty="0">
                              <a:solidFill>
                                <a:srgbClr val="CBD5E1"/>
                              </a:solidFill>
                              <a:latin typeface="Cambria Math" panose="02040503050406030204" pitchFamily="18" charset="0"/>
                              <a:ea typeface="Microsoft YaHei"/>
                              <a:cs typeface="Cambria Math"/>
                            </a:rPr>
                            <m:t>1+</m:t>
                          </m:r>
                          <m:r>
                            <a:rPr lang="zh-CN" altLang="en-US" sz="1500" i="1" dirty="0">
                              <a:solidFill>
                                <a:srgbClr val="CBD5E1"/>
                              </a:solidFill>
                              <a:latin typeface="Cambria Math" panose="02040503050406030204" pitchFamily="18" charset="0"/>
                              <a:ea typeface="Microsoft YaHei"/>
                              <a:cs typeface="Cambria Math"/>
                            </a:rPr>
                            <m:t>𝑚</m:t>
                          </m:r>
                          <m:r>
                            <a:rPr lang="zh-CN" sz="1500" i="1" dirty="0">
                              <a:solidFill>
                                <a:srgbClr val="CBD5E1"/>
                              </a:solidFill>
                              <a:latin typeface="Cambria Math" panose="02040503050406030204" pitchFamily="18" charset="0"/>
                              <a:ea typeface="Microsoft YaHei"/>
                              <a:cs typeface="Cambria Math"/>
                            </a:rPr>
                            <m:t>·</m:t>
                          </m:r>
                          <m:r>
                            <a:rPr lang="zh-CN" altLang="en-US" sz="1500" i="1" dirty="0">
                              <a:solidFill>
                                <a:srgbClr val="CBD5E1"/>
                              </a:solidFill>
                              <a:latin typeface="Cambria Math" panose="02040503050406030204" pitchFamily="18" charset="0"/>
                              <a:ea typeface="Microsoft YaHei"/>
                              <a:cs typeface="Cambria Math"/>
                            </a:rPr>
                            <m:t>𝑥</m:t>
                          </m:r>
                          <m:d>
                            <m:dPr>
                              <m:ctrlPr>
                                <a:rPr lang="zh-CN" altLang="en-US" sz="1500" i="1" dirty="0">
                                  <a:solidFill>
                                    <a:srgbClr val="CBD5E1"/>
                                  </a:solidFill>
                                  <a:latin typeface="Cambria Math" panose="02040503050406030204" pitchFamily="18" charset="0"/>
                                  <a:ea typeface="Microsoft YaHei"/>
                                  <a:cs typeface="Cambria Math"/>
                                </a:rPr>
                              </m:ctrlPr>
                            </m:dPr>
                            <m:e>
                              <m:r>
                                <a:rPr lang="zh-CN" altLang="en-US" sz="1500" i="1" dirty="0">
                                  <a:solidFill>
                                    <a:srgbClr val="CBD5E1"/>
                                  </a:solidFill>
                                  <a:latin typeface="Cambria Math" panose="02040503050406030204" pitchFamily="18" charset="0"/>
                                  <a:ea typeface="Microsoft YaHei"/>
                                  <a:cs typeface="Cambria Math"/>
                                </a:rPr>
                                <m:t>𝑡</m:t>
                              </m:r>
                            </m:e>
                          </m:d>
                        </m:e>
                      </m:d>
                      <m:r>
                        <a:rPr lang="zh-CN" sz="1500" i="1" dirty="0">
                          <a:solidFill>
                            <a:srgbClr val="CBD5E1"/>
                          </a:solidFill>
                          <a:latin typeface="Cambria Math" panose="02040503050406030204" pitchFamily="18" charset="0"/>
                          <a:ea typeface="Microsoft YaHei"/>
                          <a:cs typeface="Cambria Math"/>
                        </a:rPr>
                        <m:t>·</m:t>
                      </m:r>
                      <m:sSub>
                        <m:sSubPr>
                          <m:ctrlPr>
                            <a:rPr lang="zh-CN" altLang="en-US" sz="1500" i="1" dirty="0">
                              <a:solidFill>
                                <a:srgbClr val="CBD5E1"/>
                              </a:solidFill>
                              <a:latin typeface="Cambria Math" panose="02040503050406030204" pitchFamily="18" charset="0"/>
                              <a:ea typeface="Microsoft YaHei"/>
                              <a:cs typeface="Cambria Math"/>
                            </a:rPr>
                          </m:ctrlPr>
                        </m:sSubPr>
                        <m:e>
                          <m:r>
                            <a:rPr lang="zh-CN" altLang="en-US" sz="1500" i="1" dirty="0">
                              <a:solidFill>
                                <a:srgbClr val="CBD5E1"/>
                              </a:solidFill>
                              <a:latin typeface="Cambria Math" panose="02040503050406030204" pitchFamily="18" charset="0"/>
                              <a:ea typeface="Microsoft YaHei"/>
                              <a:cs typeface="Cambria Math"/>
                            </a:rPr>
                            <m:t>𝐴</m:t>
                          </m:r>
                        </m:e>
                        <m:sub>
                          <m:r>
                            <a:rPr lang="zh-CN" altLang="en-US" sz="1500" i="1" dirty="0">
                              <a:solidFill>
                                <a:srgbClr val="CBD5E1"/>
                              </a:solidFill>
                              <a:latin typeface="Cambria Math" panose="02040503050406030204" pitchFamily="18" charset="0"/>
                              <a:ea typeface="Microsoft YaHei"/>
                              <a:cs typeface="Cambria Math"/>
                            </a:rPr>
                            <m:t>𝑐</m:t>
                          </m:r>
                        </m:sub>
                      </m:sSub>
                      <m:r>
                        <a:rPr lang="zh-CN" altLang="en-US" sz="1500" i="1" dirty="0">
                          <a:solidFill>
                            <a:srgbClr val="CBD5E1"/>
                          </a:solidFill>
                          <a:latin typeface="Cambria Math" panose="02040503050406030204" pitchFamily="18" charset="0"/>
                          <a:ea typeface="Microsoft YaHei"/>
                          <a:cs typeface="Cambria Math"/>
                        </a:rPr>
                        <m:t>𝑐𝑜</m:t>
                      </m:r>
                      <m:func>
                        <m:funcPr>
                          <m:ctrlPr>
                            <a:rPr lang="zh-CN" altLang="en-US" sz="1500" i="1" dirty="0">
                              <a:solidFill>
                                <a:srgbClr val="CBD5E1"/>
                              </a:solidFill>
                              <a:latin typeface="Cambria Math" panose="02040503050406030204" pitchFamily="18" charset="0"/>
                              <a:ea typeface="Microsoft YaHei"/>
                              <a:cs typeface="Cambria Math"/>
                            </a:rPr>
                          </m:ctrlPr>
                        </m:funcPr>
                        <m:fName>
                          <m:r>
                            <a:rPr lang="zh-CN" altLang="en-US" sz="1500" i="1" dirty="0">
                              <a:solidFill>
                                <a:srgbClr val="CBD5E1"/>
                              </a:solidFill>
                              <a:latin typeface="Cambria Math" panose="02040503050406030204" pitchFamily="18" charset="0"/>
                              <a:ea typeface="Microsoft YaHei"/>
                              <a:cs typeface="Cambria Math"/>
                            </a:rPr>
                            <m:t>𝑠</m:t>
                          </m:r>
                        </m:fName>
                        <m:e>
                          <m:d>
                            <m:dPr>
                              <m:ctrlPr>
                                <a:rPr lang="zh-CN" altLang="en-US" sz="1500" i="1" dirty="0">
                                  <a:solidFill>
                                    <a:srgbClr val="CBD5E1"/>
                                  </a:solidFill>
                                  <a:latin typeface="Cambria Math" panose="02040503050406030204" pitchFamily="18" charset="0"/>
                                  <a:ea typeface="Microsoft YaHei"/>
                                  <a:cs typeface="Cambria Math"/>
                                </a:rPr>
                              </m:ctrlPr>
                            </m:dPr>
                            <m:e>
                              <m:r>
                                <a:rPr lang="zh-CN" sz="1500" i="1" dirty="0">
                                  <a:solidFill>
                                    <a:srgbClr val="CBD5E1"/>
                                  </a:solidFill>
                                  <a:latin typeface="Cambria Math" panose="02040503050406030204" pitchFamily="18" charset="0"/>
                                  <a:ea typeface="Microsoft YaHei"/>
                                  <a:cs typeface="Cambria Math"/>
                                </a:rPr>
                                <m:t>2</m:t>
                              </m:r>
                              <m:r>
                                <a:rPr lang="zh-CN" altLang="en-US" sz="1500" i="1" dirty="0">
                                  <a:solidFill>
                                    <a:srgbClr val="CBD5E1"/>
                                  </a:solidFill>
                                  <a:latin typeface="Cambria Math" panose="02040503050406030204" pitchFamily="18" charset="0"/>
                                  <a:ea typeface="Microsoft YaHei"/>
                                  <a:cs typeface="Cambria Math"/>
                                </a:rPr>
                                <m:t>𝜋</m:t>
                              </m:r>
                              <m:sSub>
                                <m:sSubPr>
                                  <m:ctrlPr>
                                    <a:rPr lang="zh-CN" altLang="en-US" sz="1500" i="1" dirty="0">
                                      <a:solidFill>
                                        <a:srgbClr val="CBD5E1"/>
                                      </a:solidFill>
                                      <a:latin typeface="Cambria Math" panose="02040503050406030204" pitchFamily="18" charset="0"/>
                                      <a:ea typeface="Microsoft YaHei"/>
                                      <a:cs typeface="Cambria Math"/>
                                    </a:rPr>
                                  </m:ctrlPr>
                                </m:sSubPr>
                                <m:e>
                                  <m:r>
                                    <a:rPr lang="zh-CN" altLang="en-US" sz="1500" i="1" dirty="0">
                                      <a:solidFill>
                                        <a:srgbClr val="CBD5E1"/>
                                      </a:solidFill>
                                      <a:latin typeface="Cambria Math" panose="02040503050406030204" pitchFamily="18" charset="0"/>
                                      <a:ea typeface="Microsoft YaHei"/>
                                      <a:cs typeface="Cambria Math"/>
                                    </a:rPr>
                                    <m:t>𝑓</m:t>
                                  </m:r>
                                </m:e>
                                <m:sub>
                                  <m:r>
                                    <a:rPr lang="zh-CN" altLang="en-US" sz="1500" i="1" dirty="0">
                                      <a:solidFill>
                                        <a:srgbClr val="CBD5E1"/>
                                      </a:solidFill>
                                      <a:latin typeface="Cambria Math" panose="02040503050406030204" pitchFamily="18" charset="0"/>
                                      <a:ea typeface="Microsoft YaHei"/>
                                      <a:cs typeface="Cambria Math"/>
                                    </a:rPr>
                                    <m:t>𝑐</m:t>
                                  </m:r>
                                </m:sub>
                              </m:sSub>
                              <m:r>
                                <a:rPr lang="zh-CN" altLang="en-US" sz="1500" i="1" dirty="0">
                                  <a:solidFill>
                                    <a:srgbClr val="CBD5E1"/>
                                  </a:solidFill>
                                  <a:latin typeface="Cambria Math" panose="02040503050406030204" pitchFamily="18" charset="0"/>
                                  <a:ea typeface="Microsoft YaHei"/>
                                  <a:cs typeface="Cambria Math"/>
                                </a:rPr>
                                <m:t>𝑡</m:t>
                              </m:r>
                            </m:e>
                          </m:d>
                        </m:e>
                      </m:func>
                    </m:oMath>
                  </m:oMathPara>
                </a14:m>
                <a:endParaRPr lang="zh-CN" sz="1500" dirty="0">
                  <a:solidFill>
                    <a:srgbClr val="CBD5E1"/>
                  </a:solidFill>
                  <a:latin typeface="Cambria Math"/>
                  <a:ea typeface="Microsoft YaHei"/>
                  <a:cs typeface="Cambria Math"/>
                </a:endParaRPr>
              </a:p>
            </p:txBody>
          </p:sp>
        </mc:Choice>
        <mc:Fallback xmlns="">
          <p:sp>
            <p:nvSpPr>
              <p:cNvPr id="11" name="TextBox 11"/>
              <p:cNvSpPr txBox="1">
                <a:spLocks noRot="1" noChangeAspect="1" noMove="1" noResize="1" noEditPoints="1" noAdjustHandles="1" noChangeArrowheads="1" noChangeShapeType="1" noTextEdit="1"/>
              </p:cNvSpPr>
              <p:nvPr/>
            </p:nvSpPr>
            <p:spPr>
              <a:xfrm>
                <a:off x="1598916" y="2314575"/>
                <a:ext cx="3279167" cy="230832"/>
              </a:xfrm>
              <a:prstGeom prst="rect">
                <a:avLst/>
              </a:prstGeom>
              <a:blipFill>
                <a:blip r:embed="rId2"/>
                <a:stretch>
                  <a:fillRect l="-929" b="-36842"/>
                </a:stretch>
              </a:blipFill>
              <a:ln>
                <a:noFill/>
              </a:ln>
            </p:spPr>
            <p:txBody>
              <a:bodyPr/>
              <a:lstStyle/>
              <a:p>
                <a:r>
                  <a:rPr lang="zh-CN" altLang="en-US">
                    <a:noFill/>
                  </a:rPr>
                  <a:t> </a:t>
                </a:r>
              </a:p>
            </p:txBody>
          </p:sp>
        </mc:Fallback>
      </mc:AlternateContent>
      <p:sp>
        <p:nvSpPr>
          <p:cNvPr id="12" name="TextBox 12"/>
          <p:cNvSpPr txBox="1"/>
          <p:nvPr/>
        </p:nvSpPr>
        <p:spPr>
          <a:xfrm>
            <a:off x="842010" y="2823210"/>
            <a:ext cx="75857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参数说明:</a:t>
            </a:r>
          </a:p>
        </p:txBody>
      </p:sp>
      <p:sp>
        <p:nvSpPr>
          <p:cNvPr id="13" name="TextBox 13"/>
          <p:cNvSpPr txBox="1"/>
          <p:nvPr/>
        </p:nvSpPr>
        <p:spPr>
          <a:xfrm>
            <a:off x="843915" y="3125152"/>
            <a:ext cx="80791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m: 调制指数</a:t>
            </a:r>
          </a:p>
        </p:txBody>
      </p:sp>
      <p:sp>
        <p:nvSpPr>
          <p:cNvPr id="14" name="TextBox 14"/>
          <p:cNvSpPr txBox="1"/>
          <p:nvPr/>
        </p:nvSpPr>
        <p:spPr>
          <a:xfrm>
            <a:off x="843915" y="3363278"/>
            <a:ext cx="88966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x(t): 消息信号</a:t>
            </a:r>
          </a:p>
        </p:txBody>
      </p:sp>
      <mc:AlternateContent xmlns:mc="http://schemas.openxmlformats.org/markup-compatibility/2006" xmlns:a14="http://schemas.microsoft.com/office/drawing/2010/main">
        <mc:Choice Requires="a14">
          <p:sp>
            <p:nvSpPr>
              <p:cNvPr id="15" name="TextBox 15"/>
              <p:cNvSpPr txBox="1"/>
              <p:nvPr/>
            </p:nvSpPr>
            <p:spPr>
              <a:xfrm>
                <a:off x="843915" y="3601402"/>
                <a:ext cx="80220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a:t>
                </a:r>
                <a14:m>
                  <m:oMath xmlns:m="http://schemas.openxmlformats.org/officeDocument/2006/math">
                    <m:sSub>
                      <m:sSubPr>
                        <m:ctrlPr>
                          <a:rPr lang="zh-CN" altLang="en-US" sz="1050" i="1" dirty="0" smtClean="0">
                            <a:solidFill>
                              <a:schemeClr val="bg1">
                                <a:lumMod val="65000"/>
                              </a:schemeClr>
                            </a:solidFill>
                            <a:latin typeface="Cambria Math" panose="02040503050406030204" pitchFamily="18" charset="0"/>
                            <a:ea typeface="Microsoft YaHei"/>
                            <a:cs typeface="Arial"/>
                          </a:rPr>
                        </m:ctrlPr>
                      </m:sSubPr>
                      <m:e>
                        <m:r>
                          <a:rPr lang="zh-CN" altLang="en-US" sz="1050" i="1" dirty="0">
                            <a:solidFill>
                              <a:schemeClr val="bg1">
                                <a:lumMod val="65000"/>
                              </a:schemeClr>
                            </a:solidFill>
                            <a:latin typeface="Cambria Math" panose="02040503050406030204" pitchFamily="18" charset="0"/>
                            <a:ea typeface="Microsoft YaHei"/>
                            <a:cs typeface="Arial"/>
                          </a:rPr>
                          <m:t>𝐴</m:t>
                        </m:r>
                      </m:e>
                      <m:sub>
                        <m:r>
                          <a:rPr lang="zh-CN" altLang="en-US" sz="1050" i="1" dirty="0">
                            <a:solidFill>
                              <a:schemeClr val="bg1">
                                <a:lumMod val="65000"/>
                              </a:schemeClr>
                            </a:solidFill>
                            <a:latin typeface="Cambria Math" panose="02040503050406030204" pitchFamily="18" charset="0"/>
                            <a:ea typeface="Microsoft YaHei"/>
                            <a:cs typeface="Arial"/>
                          </a:rPr>
                          <m:t>𝑐</m:t>
                        </m:r>
                      </m:sub>
                    </m:sSub>
                  </m:oMath>
                </a14:m>
                <a:r>
                  <a:rPr lang="zh-CN" sz="1050" dirty="0">
                    <a:solidFill>
                      <a:schemeClr val="bg1">
                        <a:lumMod val="65000"/>
                      </a:schemeClr>
                    </a:solidFill>
                    <a:latin typeface="Arial"/>
                    <a:ea typeface="Microsoft YaHei"/>
                    <a:cs typeface="Arial"/>
                  </a:rPr>
                  <a:t>: 载波振幅</a:t>
                </a:r>
              </a:p>
            </p:txBody>
          </p:sp>
        </mc:Choice>
        <mc:Fallback xmlns="">
          <p:sp>
            <p:nvSpPr>
              <p:cNvPr id="15" name="TextBox 15"/>
              <p:cNvSpPr txBox="1">
                <a:spLocks noRot="1" noChangeAspect="1" noMove="1" noResize="1" noEditPoints="1" noAdjustHandles="1" noChangeArrowheads="1" noChangeShapeType="1" noTextEdit="1"/>
              </p:cNvSpPr>
              <p:nvPr/>
            </p:nvSpPr>
            <p:spPr>
              <a:xfrm>
                <a:off x="843915" y="3601402"/>
                <a:ext cx="802207" cy="161583"/>
              </a:xfrm>
              <a:prstGeom prst="rect">
                <a:avLst/>
              </a:prstGeom>
              <a:blipFill>
                <a:blip r:embed="rId3"/>
                <a:stretch>
                  <a:fillRect l="-9848" t="-26923" r="-9848" b="-5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6"/>
              <p:cNvSpPr txBox="1"/>
              <p:nvPr/>
            </p:nvSpPr>
            <p:spPr>
              <a:xfrm>
                <a:off x="843915" y="3839528"/>
                <a:ext cx="76469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a:t>
                </a:r>
                <a14:m>
                  <m:oMath xmlns:m="http://schemas.openxmlformats.org/officeDocument/2006/math">
                    <m:sSub>
                      <m:sSubPr>
                        <m:ctrlPr>
                          <a:rPr lang="zh-CN" altLang="en-US" sz="1050" i="1" dirty="0" smtClean="0">
                            <a:solidFill>
                              <a:schemeClr val="bg1">
                                <a:lumMod val="65000"/>
                              </a:schemeClr>
                            </a:solidFill>
                            <a:latin typeface="Cambria Math" panose="02040503050406030204" pitchFamily="18" charset="0"/>
                            <a:ea typeface="Microsoft YaHei"/>
                            <a:cs typeface="Arial"/>
                          </a:rPr>
                        </m:ctrlPr>
                      </m:sSubPr>
                      <m:e>
                        <m:r>
                          <a:rPr lang="zh-CN" altLang="en-US" sz="1050" i="1" dirty="0">
                            <a:solidFill>
                              <a:schemeClr val="bg1">
                                <a:lumMod val="65000"/>
                              </a:schemeClr>
                            </a:solidFill>
                            <a:latin typeface="Cambria Math" panose="02040503050406030204" pitchFamily="18" charset="0"/>
                            <a:ea typeface="Microsoft YaHei"/>
                            <a:cs typeface="Arial"/>
                          </a:rPr>
                          <m:t>𝑓</m:t>
                        </m:r>
                      </m:e>
                      <m:sub>
                        <m:r>
                          <a:rPr lang="zh-CN" altLang="en-US" sz="1050" i="1" dirty="0">
                            <a:solidFill>
                              <a:schemeClr val="bg1">
                                <a:lumMod val="65000"/>
                              </a:schemeClr>
                            </a:solidFill>
                            <a:latin typeface="Cambria Math" panose="02040503050406030204" pitchFamily="18" charset="0"/>
                            <a:ea typeface="Microsoft YaHei"/>
                            <a:cs typeface="Arial"/>
                          </a:rPr>
                          <m:t>𝑐</m:t>
                        </m:r>
                      </m:sub>
                    </m:sSub>
                  </m:oMath>
                </a14:m>
                <a:r>
                  <a:rPr lang="zh-CN" sz="1050" dirty="0">
                    <a:solidFill>
                      <a:schemeClr val="bg1">
                        <a:lumMod val="65000"/>
                      </a:schemeClr>
                    </a:solidFill>
                    <a:latin typeface="Arial"/>
                    <a:ea typeface="Microsoft YaHei"/>
                    <a:cs typeface="Arial"/>
                  </a:rPr>
                  <a:t>: 载波频率</a:t>
                </a:r>
              </a:p>
            </p:txBody>
          </p:sp>
        </mc:Choice>
        <mc:Fallback xmlns="">
          <p:sp>
            <p:nvSpPr>
              <p:cNvPr id="16" name="TextBox 16"/>
              <p:cNvSpPr txBox="1">
                <a:spLocks noRot="1" noChangeAspect="1" noMove="1" noResize="1" noEditPoints="1" noAdjustHandles="1" noChangeArrowheads="1" noChangeShapeType="1" noTextEdit="1"/>
              </p:cNvSpPr>
              <p:nvPr/>
            </p:nvSpPr>
            <p:spPr>
              <a:xfrm>
                <a:off x="843915" y="3839528"/>
                <a:ext cx="764697" cy="161583"/>
              </a:xfrm>
              <a:prstGeom prst="rect">
                <a:avLst/>
              </a:prstGeom>
              <a:blipFill>
                <a:blip r:embed="rId4"/>
                <a:stretch>
                  <a:fillRect l="-10317" t="-26923" r="-10317" b="-50000"/>
                </a:stretch>
              </a:blipFill>
              <a:ln>
                <a:noFill/>
              </a:ln>
            </p:spPr>
            <p:txBody>
              <a:bodyPr/>
              <a:lstStyle/>
              <a:p>
                <a:r>
                  <a:rPr lang="zh-CN" altLang="en-US">
                    <a:noFill/>
                  </a:rPr>
                  <a:t> </a:t>
                </a:r>
              </a:p>
            </p:txBody>
          </p:sp>
        </mc:Fallback>
      </mc:AlternateContent>
      <p:sp>
        <p:nvSpPr>
          <p:cNvPr id="17" name="Rectangle 17"/>
          <p:cNvSpPr/>
          <p:nvPr/>
        </p:nvSpPr>
        <p:spPr>
          <a:xfrm>
            <a:off x="6286500" y="1143000"/>
            <a:ext cx="5334000" cy="2857500"/>
          </a:xfrm>
          <a:prstGeom prst="roundRect">
            <a:avLst>
              <a:gd name="adj" fmla="val 4000"/>
            </a:avLst>
          </a:prstGeom>
          <a:solidFill>
            <a:srgbClr val="1E293B"/>
          </a:solidFill>
          <a:ln w="9525">
            <a:solidFill>
              <a:srgbClr val="334155"/>
            </a:solidFill>
          </a:ln>
        </p:spPr>
      </p:sp>
      <p:sp>
        <p:nvSpPr>
          <p:cNvPr id="18" name="TextBox 18"/>
          <p:cNvSpPr txBox="1"/>
          <p:nvPr/>
        </p:nvSpPr>
        <p:spPr>
          <a:xfrm>
            <a:off x="6549390" y="1329690"/>
            <a:ext cx="3939607" cy="365760"/>
          </a:xfrm>
          <a:prstGeom prst="rect">
            <a:avLst/>
          </a:prstGeom>
          <a:noFill/>
          <a:ln>
            <a:noFill/>
          </a:ln>
        </p:spPr>
        <p:txBody>
          <a:bodyPr wrap="none" lIns="0" tIns="0" rIns="0" bIns="0" anchor="t" anchorCtr="0">
            <a:spAutoFit/>
          </a:bodyPr>
          <a:lstStyle/>
          <a:p>
            <a:pPr algn="l"/>
            <a:r>
              <a:rPr lang="zh-CN" sz="1800" b="1" dirty="0">
                <a:solidFill>
                  <a:srgbClr val="818CF8"/>
                </a:solidFill>
                <a:latin typeface="Arial"/>
                <a:ea typeface="Microsoft YaHei"/>
                <a:cs typeface="Arial"/>
              </a:rPr>
              <a:t>FM 调频 (Frequency Modulation)</a:t>
            </a:r>
          </a:p>
        </p:txBody>
      </p:sp>
      <p:sp>
        <p:nvSpPr>
          <p:cNvPr id="19" name="Rectangle 19"/>
          <p:cNvSpPr/>
          <p:nvPr/>
        </p:nvSpPr>
        <p:spPr>
          <a:xfrm>
            <a:off x="6572250" y="1666875"/>
            <a:ext cx="952500" cy="28575"/>
          </a:xfrm>
          <a:prstGeom prst="rect">
            <a:avLst/>
          </a:prstGeom>
          <a:solidFill>
            <a:srgbClr val="818CF8"/>
          </a:solidFill>
          <a:ln>
            <a:noFill/>
          </a:ln>
        </p:spPr>
      </p:sp>
      <p:sp>
        <p:nvSpPr>
          <p:cNvPr id="20" name="TextBox 20"/>
          <p:cNvSpPr txBox="1"/>
          <p:nvPr/>
        </p:nvSpPr>
        <p:spPr>
          <a:xfrm>
            <a:off x="6557010" y="1870710"/>
            <a:ext cx="75857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调制公式:</a:t>
            </a:r>
          </a:p>
        </p:txBody>
      </p:sp>
      <p:sp>
        <p:nvSpPr>
          <p:cNvPr id="21" name="Rectangle 21"/>
          <p:cNvSpPr/>
          <p:nvPr/>
        </p:nvSpPr>
        <p:spPr>
          <a:xfrm>
            <a:off x="6549390" y="2282190"/>
            <a:ext cx="4762500" cy="476250"/>
          </a:xfrm>
          <a:prstGeom prst="roundRect">
            <a:avLst>
              <a:gd name="adj" fmla="val 16000"/>
            </a:avLst>
          </a:prstGeom>
          <a:solidFill>
            <a:srgbClr val="0F172A"/>
          </a:solidFill>
          <a:ln w="9525">
            <a:solidFill>
              <a:srgbClr val="334155"/>
            </a:solidFill>
          </a:ln>
        </p:spPr>
      </p:sp>
      <mc:AlternateContent xmlns:mc="http://schemas.openxmlformats.org/markup-compatibility/2006" xmlns:a14="http://schemas.microsoft.com/office/drawing/2010/main">
        <mc:Choice Requires="a14">
          <p:sp>
            <p:nvSpPr>
              <p:cNvPr id="22" name="TextBox 22"/>
              <p:cNvSpPr txBox="1"/>
              <p:nvPr/>
            </p:nvSpPr>
            <p:spPr>
              <a:xfrm>
                <a:off x="6939616" y="2314575"/>
                <a:ext cx="4027769" cy="518604"/>
              </a:xfrm>
              <a:prstGeom prst="rect">
                <a:avLst/>
              </a:prstGeom>
              <a:noFill/>
              <a:ln>
                <a:noFill/>
              </a:ln>
            </p:spPr>
            <p:txBody>
              <a:bodyPr wrap="square" lIns="0" tIns="0" rIns="0" bIns="0" anchor="t" anchorCtr="0">
                <a:spAutoFit/>
              </a:bodyPr>
              <a:lstStyle/>
              <a:p>
                <a:pPr algn="ctr"/>
                <a14:m>
                  <m:oMathPara xmlns:m="http://schemas.openxmlformats.org/officeDocument/2006/math">
                    <m:oMathParaPr>
                      <m:jc m:val="centerGroup"/>
                    </m:oMathParaPr>
                    <m:oMath xmlns:m="http://schemas.openxmlformats.org/officeDocument/2006/math">
                      <m:sSub>
                        <m:sSubPr>
                          <m:ctrlPr>
                            <a:rPr lang="zh-CN" altLang="en-US" sz="1500" i="1" dirty="0" smtClean="0">
                              <a:solidFill>
                                <a:srgbClr val="CBD5E1"/>
                              </a:solidFill>
                              <a:latin typeface="Cambria Math" panose="02040503050406030204" pitchFamily="18" charset="0"/>
                              <a:ea typeface="Microsoft YaHei"/>
                              <a:cs typeface="Cambria Math"/>
                            </a:rPr>
                          </m:ctrlPr>
                        </m:sSubPr>
                        <m:e>
                          <m:r>
                            <a:rPr lang="zh-CN" altLang="en-US" sz="1500" i="1" dirty="0" smtClean="0">
                              <a:solidFill>
                                <a:srgbClr val="CBD5E1"/>
                              </a:solidFill>
                              <a:latin typeface="Cambria Math" panose="02040503050406030204" pitchFamily="18" charset="0"/>
                              <a:ea typeface="Microsoft YaHei"/>
                              <a:cs typeface="Cambria Math"/>
                            </a:rPr>
                            <m:t>𝑠</m:t>
                          </m:r>
                        </m:e>
                        <m:sub>
                          <m:r>
                            <a:rPr lang="zh-CN" altLang="en-US" sz="1500" i="1" dirty="0" smtClean="0">
                              <a:solidFill>
                                <a:srgbClr val="CBD5E1"/>
                              </a:solidFill>
                              <a:latin typeface="Cambria Math" panose="02040503050406030204" pitchFamily="18" charset="0"/>
                              <a:ea typeface="Microsoft YaHei"/>
                              <a:cs typeface="Cambria Math"/>
                            </a:rPr>
                            <m:t>𝐹</m:t>
                          </m:r>
                        </m:sub>
                      </m:sSub>
                      <m:r>
                        <a:rPr lang="zh-CN" altLang="en-US" sz="1500" i="1" dirty="0" smtClean="0">
                          <a:solidFill>
                            <a:srgbClr val="CBD5E1"/>
                          </a:solidFill>
                          <a:latin typeface="Cambria Math" panose="02040503050406030204" pitchFamily="18" charset="0"/>
                          <a:ea typeface="Microsoft YaHei"/>
                          <a:cs typeface="Cambria Math"/>
                        </a:rPr>
                        <m:t>𝑀</m:t>
                      </m:r>
                      <m:d>
                        <m:dPr>
                          <m:ctrlPr>
                            <a:rPr lang="zh-CN" altLang="en-US" sz="1500" i="1" dirty="0" smtClean="0">
                              <a:solidFill>
                                <a:srgbClr val="CBD5E1"/>
                              </a:solidFill>
                              <a:latin typeface="Cambria Math" panose="02040503050406030204" pitchFamily="18" charset="0"/>
                              <a:ea typeface="Microsoft YaHei"/>
                              <a:cs typeface="Cambria Math"/>
                            </a:rPr>
                          </m:ctrlPr>
                        </m:dPr>
                        <m:e>
                          <m:r>
                            <a:rPr lang="zh-CN" altLang="en-US" sz="1500" i="1" dirty="0" smtClean="0">
                              <a:solidFill>
                                <a:srgbClr val="CBD5E1"/>
                              </a:solidFill>
                              <a:latin typeface="Cambria Math" panose="02040503050406030204" pitchFamily="18" charset="0"/>
                              <a:ea typeface="Microsoft YaHei"/>
                              <a:cs typeface="Cambria Math"/>
                            </a:rPr>
                            <m:t>𝑡</m:t>
                          </m:r>
                        </m:e>
                      </m:d>
                      <m:r>
                        <a:rPr lang="zh-CN" sz="1500" i="1" dirty="0" smtClean="0">
                          <a:solidFill>
                            <a:srgbClr val="CBD5E1"/>
                          </a:solidFill>
                          <a:latin typeface="Cambria Math" panose="02040503050406030204" pitchFamily="18" charset="0"/>
                          <a:ea typeface="Microsoft YaHei"/>
                          <a:cs typeface="Cambria Math"/>
                        </a:rPr>
                        <m:t>=</m:t>
                      </m:r>
                      <m:sSub>
                        <m:sSubPr>
                          <m:ctrlPr>
                            <a:rPr lang="zh-CN" altLang="en-US" sz="1500" i="1" dirty="0" smtClean="0">
                              <a:solidFill>
                                <a:srgbClr val="CBD5E1"/>
                              </a:solidFill>
                              <a:latin typeface="Cambria Math" panose="02040503050406030204" pitchFamily="18" charset="0"/>
                              <a:ea typeface="Microsoft YaHei"/>
                              <a:cs typeface="Cambria Math"/>
                            </a:rPr>
                          </m:ctrlPr>
                        </m:sSubPr>
                        <m:e>
                          <m:r>
                            <a:rPr lang="zh-CN" altLang="en-US" sz="1500" i="1" dirty="0" smtClean="0">
                              <a:solidFill>
                                <a:srgbClr val="CBD5E1"/>
                              </a:solidFill>
                              <a:latin typeface="Cambria Math" panose="02040503050406030204" pitchFamily="18" charset="0"/>
                              <a:ea typeface="Microsoft YaHei"/>
                              <a:cs typeface="Cambria Math"/>
                            </a:rPr>
                            <m:t>𝐴</m:t>
                          </m:r>
                        </m:e>
                        <m:sub>
                          <m:r>
                            <a:rPr lang="zh-CN" altLang="en-US" sz="1500" i="1" dirty="0" smtClean="0">
                              <a:solidFill>
                                <a:srgbClr val="CBD5E1"/>
                              </a:solidFill>
                              <a:latin typeface="Cambria Math" panose="02040503050406030204" pitchFamily="18" charset="0"/>
                              <a:ea typeface="Microsoft YaHei"/>
                              <a:cs typeface="Cambria Math"/>
                            </a:rPr>
                            <m:t>𝑐</m:t>
                          </m:r>
                        </m:sub>
                      </m:sSub>
                      <m:r>
                        <a:rPr lang="zh-CN" altLang="en-US" sz="1500" i="1" dirty="0" smtClean="0">
                          <a:solidFill>
                            <a:srgbClr val="CBD5E1"/>
                          </a:solidFill>
                          <a:latin typeface="Cambria Math" panose="02040503050406030204" pitchFamily="18" charset="0"/>
                          <a:ea typeface="Microsoft YaHei"/>
                          <a:cs typeface="Cambria Math"/>
                        </a:rPr>
                        <m:t>𝑐𝑜</m:t>
                      </m:r>
                      <m:func>
                        <m:funcPr>
                          <m:ctrlPr>
                            <a:rPr lang="zh-CN" altLang="en-US" sz="1500" i="1" dirty="0" smtClean="0">
                              <a:solidFill>
                                <a:srgbClr val="CBD5E1"/>
                              </a:solidFill>
                              <a:latin typeface="Cambria Math" panose="02040503050406030204" pitchFamily="18" charset="0"/>
                              <a:ea typeface="Microsoft YaHei"/>
                              <a:cs typeface="Cambria Math"/>
                            </a:rPr>
                          </m:ctrlPr>
                        </m:funcPr>
                        <m:fName>
                          <m:r>
                            <a:rPr lang="zh-CN" altLang="en-US" sz="1500" i="1" dirty="0" smtClean="0">
                              <a:solidFill>
                                <a:srgbClr val="CBD5E1"/>
                              </a:solidFill>
                              <a:latin typeface="Cambria Math" panose="02040503050406030204" pitchFamily="18" charset="0"/>
                              <a:ea typeface="Microsoft YaHei"/>
                              <a:cs typeface="Cambria Math"/>
                            </a:rPr>
                            <m:t>𝑠</m:t>
                          </m:r>
                        </m:fName>
                        <m:e>
                          <m:d>
                            <m:dPr>
                              <m:ctrlPr>
                                <a:rPr lang="zh-CN" altLang="en-US" sz="1500" i="1" dirty="0" smtClean="0">
                                  <a:solidFill>
                                    <a:srgbClr val="CBD5E1"/>
                                  </a:solidFill>
                                  <a:latin typeface="Cambria Math" panose="02040503050406030204" pitchFamily="18" charset="0"/>
                                  <a:ea typeface="Microsoft YaHei"/>
                                  <a:cs typeface="Cambria Math"/>
                                </a:rPr>
                              </m:ctrlPr>
                            </m:dPr>
                            <m:e>
                              <m:r>
                                <a:rPr lang="zh-CN" sz="1500" i="1" dirty="0" smtClean="0">
                                  <a:solidFill>
                                    <a:srgbClr val="CBD5E1"/>
                                  </a:solidFill>
                                  <a:latin typeface="Cambria Math" panose="02040503050406030204" pitchFamily="18" charset="0"/>
                                  <a:ea typeface="Microsoft YaHei"/>
                                  <a:cs typeface="Cambria Math"/>
                                </a:rPr>
                                <m:t>2</m:t>
                              </m:r>
                              <m:r>
                                <a:rPr lang="zh-CN" altLang="en-US" sz="1500" i="1" dirty="0" smtClean="0">
                                  <a:solidFill>
                                    <a:srgbClr val="CBD5E1"/>
                                  </a:solidFill>
                                  <a:latin typeface="Cambria Math" panose="02040503050406030204" pitchFamily="18" charset="0"/>
                                  <a:ea typeface="Microsoft YaHei"/>
                                  <a:cs typeface="Cambria Math"/>
                                </a:rPr>
                                <m:t>𝜋</m:t>
                              </m:r>
                              <m:sSub>
                                <m:sSubPr>
                                  <m:ctrlPr>
                                    <a:rPr lang="zh-CN" altLang="en-US" sz="1500" i="1" dirty="0" smtClean="0">
                                      <a:solidFill>
                                        <a:srgbClr val="CBD5E1"/>
                                      </a:solidFill>
                                      <a:latin typeface="Cambria Math" panose="02040503050406030204" pitchFamily="18" charset="0"/>
                                      <a:ea typeface="Microsoft YaHei"/>
                                      <a:cs typeface="Cambria Math"/>
                                    </a:rPr>
                                  </m:ctrlPr>
                                </m:sSubPr>
                                <m:e>
                                  <m:r>
                                    <a:rPr lang="zh-CN" altLang="en-US" sz="1500" i="1" dirty="0" smtClean="0">
                                      <a:solidFill>
                                        <a:srgbClr val="CBD5E1"/>
                                      </a:solidFill>
                                      <a:latin typeface="Cambria Math" panose="02040503050406030204" pitchFamily="18" charset="0"/>
                                      <a:ea typeface="Microsoft YaHei"/>
                                      <a:cs typeface="Cambria Math"/>
                                    </a:rPr>
                                    <m:t>𝑓</m:t>
                                  </m:r>
                                </m:e>
                                <m:sub>
                                  <m:r>
                                    <a:rPr lang="zh-CN" altLang="en-US" sz="1500" i="1" dirty="0" smtClean="0">
                                      <a:solidFill>
                                        <a:srgbClr val="CBD5E1"/>
                                      </a:solidFill>
                                      <a:latin typeface="Cambria Math" panose="02040503050406030204" pitchFamily="18" charset="0"/>
                                      <a:ea typeface="Microsoft YaHei"/>
                                      <a:cs typeface="Cambria Math"/>
                                    </a:rPr>
                                    <m:t>𝑐</m:t>
                                  </m:r>
                                </m:sub>
                              </m:sSub>
                              <m:r>
                                <a:rPr lang="zh-CN" altLang="en-US" sz="1500" i="1" dirty="0" smtClean="0">
                                  <a:solidFill>
                                    <a:srgbClr val="CBD5E1"/>
                                  </a:solidFill>
                                  <a:latin typeface="Cambria Math" panose="02040503050406030204" pitchFamily="18" charset="0"/>
                                  <a:ea typeface="Microsoft YaHei"/>
                                  <a:cs typeface="Cambria Math"/>
                                </a:rPr>
                                <m:t>𝑡</m:t>
                              </m:r>
                              <m:r>
                                <a:rPr lang="zh-CN" sz="1500" i="1" dirty="0" smtClean="0">
                                  <a:solidFill>
                                    <a:srgbClr val="CBD5E1"/>
                                  </a:solidFill>
                                  <a:latin typeface="Cambria Math" panose="02040503050406030204" pitchFamily="18" charset="0"/>
                                  <a:ea typeface="Microsoft YaHei"/>
                                  <a:cs typeface="Cambria Math"/>
                                </a:rPr>
                                <m:t>+2</m:t>
                              </m:r>
                              <m:r>
                                <a:rPr lang="zh-CN" altLang="en-US" sz="1500" i="1" dirty="0" smtClean="0">
                                  <a:solidFill>
                                    <a:srgbClr val="CBD5E1"/>
                                  </a:solidFill>
                                  <a:latin typeface="Cambria Math" panose="02040503050406030204" pitchFamily="18" charset="0"/>
                                  <a:ea typeface="Microsoft YaHei"/>
                                  <a:cs typeface="Cambria Math"/>
                                </a:rPr>
                                <m:t>𝜋</m:t>
                              </m:r>
                              <m:sSub>
                                <m:sSubPr>
                                  <m:ctrlPr>
                                    <a:rPr lang="zh-CN" altLang="en-US" sz="1500" i="1" dirty="0" smtClean="0">
                                      <a:solidFill>
                                        <a:srgbClr val="CBD5E1"/>
                                      </a:solidFill>
                                      <a:latin typeface="Cambria Math" panose="02040503050406030204" pitchFamily="18" charset="0"/>
                                      <a:ea typeface="Microsoft YaHei"/>
                                      <a:cs typeface="Cambria Math"/>
                                    </a:rPr>
                                  </m:ctrlPr>
                                </m:sSubPr>
                                <m:e>
                                  <m:r>
                                    <a:rPr lang="zh-CN" altLang="en-US" sz="1500" i="1" dirty="0" smtClean="0">
                                      <a:solidFill>
                                        <a:srgbClr val="CBD5E1"/>
                                      </a:solidFill>
                                      <a:latin typeface="Cambria Math" panose="02040503050406030204" pitchFamily="18" charset="0"/>
                                      <a:ea typeface="Microsoft YaHei"/>
                                      <a:cs typeface="Cambria Math"/>
                                    </a:rPr>
                                    <m:t>𝑘</m:t>
                                  </m:r>
                                </m:e>
                                <m:sub>
                                  <m:r>
                                    <a:rPr lang="zh-CN" altLang="en-US" sz="1500" i="1" dirty="0" smtClean="0">
                                      <a:solidFill>
                                        <a:srgbClr val="CBD5E1"/>
                                      </a:solidFill>
                                      <a:latin typeface="Cambria Math" panose="02040503050406030204" pitchFamily="18" charset="0"/>
                                      <a:ea typeface="Microsoft YaHei"/>
                                      <a:cs typeface="Cambria Math"/>
                                    </a:rPr>
                                    <m:t>𝑓</m:t>
                                  </m:r>
                                </m:sub>
                              </m:sSub>
                              <m:nary>
                                <m:naryPr>
                                  <m:subHide m:val="on"/>
                                  <m:supHide m:val="on"/>
                                  <m:ctrlPr>
                                    <a:rPr lang="zh-CN" altLang="en-US" sz="1500" i="1" dirty="0" smtClean="0">
                                      <a:solidFill>
                                        <a:srgbClr val="CBD5E1"/>
                                      </a:solidFill>
                                      <a:latin typeface="Cambria Math" panose="02040503050406030204" pitchFamily="18" charset="0"/>
                                      <a:ea typeface="Microsoft YaHei"/>
                                      <a:cs typeface="Cambria Math"/>
                                    </a:rPr>
                                  </m:ctrlPr>
                                </m:naryPr>
                                <m:sub/>
                                <m:sup/>
                                <m:e>
                                  <m:r>
                                    <a:rPr lang="zh-CN" altLang="en-US" sz="1500" i="1" dirty="0" smtClean="0">
                                      <a:solidFill>
                                        <a:srgbClr val="CBD5E1"/>
                                      </a:solidFill>
                                      <a:latin typeface="Cambria Math" panose="02040503050406030204" pitchFamily="18" charset="0"/>
                                      <a:ea typeface="Microsoft YaHei"/>
                                      <a:cs typeface="Cambria Math"/>
                                    </a:rPr>
                                    <m:t>𝑥</m:t>
                                  </m:r>
                                  <m:d>
                                    <m:dPr>
                                      <m:ctrlPr>
                                        <a:rPr lang="zh-CN" altLang="en-US" sz="1500" i="1" dirty="0" smtClean="0">
                                          <a:solidFill>
                                            <a:srgbClr val="CBD5E1"/>
                                          </a:solidFill>
                                          <a:latin typeface="Cambria Math" panose="02040503050406030204" pitchFamily="18" charset="0"/>
                                          <a:ea typeface="Microsoft YaHei"/>
                                          <a:cs typeface="Cambria Math"/>
                                        </a:rPr>
                                      </m:ctrlPr>
                                    </m:dPr>
                                    <m:e>
                                      <m:r>
                                        <a:rPr lang="zh-CN" altLang="en-US" sz="1500" i="1" dirty="0" smtClean="0">
                                          <a:solidFill>
                                            <a:srgbClr val="CBD5E1"/>
                                          </a:solidFill>
                                          <a:latin typeface="Cambria Math" panose="02040503050406030204" pitchFamily="18" charset="0"/>
                                          <a:ea typeface="Microsoft YaHei"/>
                                          <a:cs typeface="Cambria Math"/>
                                        </a:rPr>
                                        <m:t>𝜏</m:t>
                                      </m:r>
                                    </m:e>
                                  </m:d>
                                  <m:r>
                                    <a:rPr lang="zh-CN" altLang="en-US" sz="1500" i="1" dirty="0" smtClean="0">
                                      <a:solidFill>
                                        <a:srgbClr val="CBD5E1"/>
                                      </a:solidFill>
                                      <a:latin typeface="Cambria Math" panose="02040503050406030204" pitchFamily="18" charset="0"/>
                                      <a:ea typeface="Microsoft YaHei"/>
                                      <a:cs typeface="Cambria Math"/>
                                    </a:rPr>
                                    <m:t>𝑑</m:t>
                                  </m:r>
                                  <m:r>
                                    <a:rPr lang="zh-CN" altLang="en-US" sz="1500" i="1" dirty="0" smtClean="0">
                                      <a:solidFill>
                                        <a:srgbClr val="CBD5E1"/>
                                      </a:solidFill>
                                      <a:latin typeface="Cambria Math" panose="02040503050406030204" pitchFamily="18" charset="0"/>
                                      <a:ea typeface="Microsoft YaHei"/>
                                      <a:cs typeface="Cambria Math"/>
                                    </a:rPr>
                                    <m:t>𝜏</m:t>
                                  </m:r>
                                </m:e>
                              </m:nary>
                            </m:e>
                          </m:d>
                        </m:e>
                      </m:func>
                    </m:oMath>
                  </m:oMathPara>
                </a14:m>
                <a:endParaRPr lang="zh-CN" sz="1500" dirty="0">
                  <a:solidFill>
                    <a:srgbClr val="CBD5E1"/>
                  </a:solidFill>
                  <a:latin typeface="Cambria Math"/>
                  <a:ea typeface="Microsoft YaHei"/>
                  <a:cs typeface="Cambria Math"/>
                </a:endParaRPr>
              </a:p>
            </p:txBody>
          </p:sp>
        </mc:Choice>
        <mc:Fallback xmlns="">
          <p:sp>
            <p:nvSpPr>
              <p:cNvPr id="22" name="TextBox 22"/>
              <p:cNvSpPr txBox="1">
                <a:spLocks noRot="1" noChangeAspect="1" noMove="1" noResize="1" noEditPoints="1" noAdjustHandles="1" noChangeArrowheads="1" noChangeShapeType="1" noTextEdit="1"/>
              </p:cNvSpPr>
              <p:nvPr/>
            </p:nvSpPr>
            <p:spPr>
              <a:xfrm>
                <a:off x="6939616" y="2314575"/>
                <a:ext cx="4027769" cy="518604"/>
              </a:xfrm>
              <a:prstGeom prst="rect">
                <a:avLst/>
              </a:prstGeom>
              <a:blipFill>
                <a:blip r:embed="rId5"/>
                <a:stretch>
                  <a:fillRect/>
                </a:stretch>
              </a:blipFill>
              <a:ln>
                <a:noFill/>
              </a:ln>
            </p:spPr>
            <p:txBody>
              <a:bodyPr/>
              <a:lstStyle/>
              <a:p>
                <a:r>
                  <a:rPr lang="zh-CN" altLang="en-US">
                    <a:noFill/>
                  </a:rPr>
                  <a:t> </a:t>
                </a:r>
              </a:p>
            </p:txBody>
          </p:sp>
        </mc:Fallback>
      </mc:AlternateContent>
      <p:sp>
        <p:nvSpPr>
          <p:cNvPr id="23" name="TextBox 23"/>
          <p:cNvSpPr txBox="1"/>
          <p:nvPr/>
        </p:nvSpPr>
        <p:spPr>
          <a:xfrm>
            <a:off x="6557010" y="2823210"/>
            <a:ext cx="75857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参数说明:</a:t>
            </a:r>
          </a:p>
        </p:txBody>
      </p:sp>
      <mc:AlternateContent xmlns:mc="http://schemas.openxmlformats.org/markup-compatibility/2006" xmlns:a14="http://schemas.microsoft.com/office/drawing/2010/main">
        <mc:Choice Requires="a14">
          <p:sp>
            <p:nvSpPr>
              <p:cNvPr id="24" name="TextBox 24"/>
              <p:cNvSpPr txBox="1"/>
              <p:nvPr/>
            </p:nvSpPr>
            <p:spPr>
              <a:xfrm>
                <a:off x="6558915" y="3125152"/>
                <a:ext cx="828817" cy="174535"/>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a:t>
                </a:r>
                <a14:m>
                  <m:oMath xmlns:m="http://schemas.openxmlformats.org/officeDocument/2006/math">
                    <m:sSub>
                      <m:sSubPr>
                        <m:ctrlPr>
                          <a:rPr lang="zh-CN" altLang="en-US" sz="1050" i="1" dirty="0" smtClean="0">
                            <a:solidFill>
                              <a:schemeClr val="bg1">
                                <a:lumMod val="65000"/>
                              </a:schemeClr>
                            </a:solidFill>
                            <a:latin typeface="Cambria Math" panose="02040503050406030204" pitchFamily="18" charset="0"/>
                            <a:ea typeface="Microsoft YaHei"/>
                            <a:cs typeface="Arial"/>
                          </a:rPr>
                        </m:ctrlPr>
                      </m:sSubPr>
                      <m:e>
                        <m:r>
                          <a:rPr lang="zh-CN" altLang="en-US" sz="1050" i="1" dirty="0" smtClean="0">
                            <a:solidFill>
                              <a:schemeClr val="bg1">
                                <a:lumMod val="65000"/>
                              </a:schemeClr>
                            </a:solidFill>
                            <a:latin typeface="Cambria Math" panose="02040503050406030204" pitchFamily="18" charset="0"/>
                            <a:ea typeface="Microsoft YaHei"/>
                            <a:cs typeface="Arial"/>
                          </a:rPr>
                          <m:t>𝑘</m:t>
                        </m:r>
                      </m:e>
                      <m:sub>
                        <m:r>
                          <a:rPr lang="zh-CN" altLang="en-US" sz="1050" i="1" dirty="0">
                            <a:solidFill>
                              <a:schemeClr val="bg1">
                                <a:lumMod val="65000"/>
                              </a:schemeClr>
                            </a:solidFill>
                            <a:latin typeface="Cambria Math" panose="02040503050406030204" pitchFamily="18" charset="0"/>
                            <a:ea typeface="Microsoft YaHei"/>
                            <a:cs typeface="Arial"/>
                          </a:rPr>
                          <m:t>𝑓</m:t>
                        </m:r>
                      </m:sub>
                    </m:sSub>
                  </m:oMath>
                </a14:m>
                <a:r>
                  <a:rPr lang="zh-CN" sz="1050" dirty="0">
                    <a:solidFill>
                      <a:schemeClr val="bg1">
                        <a:lumMod val="65000"/>
                      </a:schemeClr>
                    </a:solidFill>
                    <a:latin typeface="Arial"/>
                    <a:ea typeface="Microsoft YaHei"/>
                    <a:cs typeface="Arial"/>
                  </a:rPr>
                  <a:t>: 频偏常数</a:t>
                </a:r>
              </a:p>
            </p:txBody>
          </p:sp>
        </mc:Choice>
        <mc:Fallback xmlns="">
          <p:sp>
            <p:nvSpPr>
              <p:cNvPr id="24" name="TextBox 24"/>
              <p:cNvSpPr txBox="1">
                <a:spLocks noRot="1" noChangeAspect="1" noMove="1" noResize="1" noEditPoints="1" noAdjustHandles="1" noChangeArrowheads="1" noChangeShapeType="1" noTextEdit="1"/>
              </p:cNvSpPr>
              <p:nvPr/>
            </p:nvSpPr>
            <p:spPr>
              <a:xfrm>
                <a:off x="6558915" y="3125152"/>
                <a:ext cx="828817" cy="174535"/>
              </a:xfrm>
              <a:prstGeom prst="rect">
                <a:avLst/>
              </a:prstGeom>
              <a:blipFill>
                <a:blip r:embed="rId6"/>
                <a:stretch>
                  <a:fillRect l="-10294" t="-25000" r="-9559" b="-39286"/>
                </a:stretch>
              </a:blipFill>
              <a:ln>
                <a:noFill/>
              </a:ln>
            </p:spPr>
            <p:txBody>
              <a:bodyPr/>
              <a:lstStyle/>
              <a:p>
                <a:r>
                  <a:rPr lang="zh-CN" altLang="en-US">
                    <a:noFill/>
                  </a:rPr>
                  <a:t> </a:t>
                </a:r>
              </a:p>
            </p:txBody>
          </p:sp>
        </mc:Fallback>
      </mc:AlternateContent>
      <p:sp>
        <p:nvSpPr>
          <p:cNvPr id="25" name="TextBox 25"/>
          <p:cNvSpPr txBox="1"/>
          <p:nvPr/>
        </p:nvSpPr>
        <p:spPr>
          <a:xfrm>
            <a:off x="6558915" y="3363278"/>
            <a:ext cx="90569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x(τ): 消息信号</a:t>
            </a:r>
          </a:p>
        </p:txBody>
      </p:sp>
      <mc:AlternateContent xmlns:mc="http://schemas.openxmlformats.org/markup-compatibility/2006" xmlns:a14="http://schemas.microsoft.com/office/drawing/2010/main">
        <mc:Choice Requires="a14">
          <p:sp>
            <p:nvSpPr>
              <p:cNvPr id="26" name="TextBox 26"/>
              <p:cNvSpPr txBox="1"/>
              <p:nvPr/>
            </p:nvSpPr>
            <p:spPr>
              <a:xfrm>
                <a:off x="6558915" y="3601402"/>
                <a:ext cx="83907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a:t>
                </a:r>
                <a14:m>
                  <m:oMath xmlns:m="http://schemas.openxmlformats.org/officeDocument/2006/math">
                    <m:sSub>
                      <m:sSubPr>
                        <m:ctrlPr>
                          <a:rPr lang="zh-CN" altLang="en-US" sz="1050" i="1" dirty="0" smtClean="0">
                            <a:solidFill>
                              <a:schemeClr val="bg1">
                                <a:lumMod val="65000"/>
                              </a:schemeClr>
                            </a:solidFill>
                            <a:latin typeface="Cambria Math" panose="02040503050406030204" pitchFamily="18" charset="0"/>
                            <a:ea typeface="Microsoft YaHei"/>
                            <a:cs typeface="Arial"/>
                          </a:rPr>
                        </m:ctrlPr>
                      </m:sSubPr>
                      <m:e>
                        <m:r>
                          <a:rPr lang="zh-CN" altLang="en-US" sz="1050" i="1" dirty="0" smtClean="0">
                            <a:solidFill>
                              <a:schemeClr val="bg1">
                                <a:lumMod val="65000"/>
                              </a:schemeClr>
                            </a:solidFill>
                            <a:latin typeface="Cambria Math" panose="02040503050406030204" pitchFamily="18" charset="0"/>
                            <a:ea typeface="Microsoft YaHei"/>
                            <a:cs typeface="Arial"/>
                          </a:rPr>
                          <m:t>𝐴</m:t>
                        </m:r>
                      </m:e>
                      <m:sub>
                        <m:r>
                          <a:rPr lang="zh-CN" altLang="en-US" sz="1050" i="1" dirty="0">
                            <a:solidFill>
                              <a:schemeClr val="bg1">
                                <a:lumMod val="65000"/>
                              </a:schemeClr>
                            </a:solidFill>
                            <a:latin typeface="Cambria Math" panose="02040503050406030204" pitchFamily="18" charset="0"/>
                            <a:ea typeface="Microsoft YaHei"/>
                            <a:cs typeface="Arial"/>
                          </a:rPr>
                          <m:t>𝑐</m:t>
                        </m:r>
                      </m:sub>
                    </m:sSub>
                  </m:oMath>
                </a14:m>
                <a:r>
                  <a:rPr lang="zh-CN" sz="1050" dirty="0">
                    <a:solidFill>
                      <a:schemeClr val="bg1">
                        <a:lumMod val="65000"/>
                      </a:schemeClr>
                    </a:solidFill>
                    <a:latin typeface="Arial"/>
                    <a:ea typeface="Microsoft YaHei"/>
                    <a:cs typeface="Arial"/>
                  </a:rPr>
                  <a:t>: 载波振幅</a:t>
                </a:r>
              </a:p>
            </p:txBody>
          </p:sp>
        </mc:Choice>
        <mc:Fallback xmlns="">
          <p:sp>
            <p:nvSpPr>
              <p:cNvPr id="26" name="TextBox 26"/>
              <p:cNvSpPr txBox="1">
                <a:spLocks noRot="1" noChangeAspect="1" noMove="1" noResize="1" noEditPoints="1" noAdjustHandles="1" noChangeArrowheads="1" noChangeShapeType="1" noTextEdit="1"/>
              </p:cNvSpPr>
              <p:nvPr/>
            </p:nvSpPr>
            <p:spPr>
              <a:xfrm>
                <a:off x="6558915" y="3601402"/>
                <a:ext cx="839076" cy="161583"/>
              </a:xfrm>
              <a:prstGeom prst="rect">
                <a:avLst/>
              </a:prstGeom>
              <a:blipFill>
                <a:blip r:embed="rId7"/>
                <a:stretch>
                  <a:fillRect l="-10145" t="-26923" r="-8696" b="-5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Box 27"/>
              <p:cNvSpPr txBox="1"/>
              <p:nvPr/>
            </p:nvSpPr>
            <p:spPr>
              <a:xfrm>
                <a:off x="6558915" y="3839528"/>
                <a:ext cx="80156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 </a:t>
                </a:r>
                <a14:m>
                  <m:oMath xmlns:m="http://schemas.openxmlformats.org/officeDocument/2006/math">
                    <m:sSub>
                      <m:sSubPr>
                        <m:ctrlPr>
                          <a:rPr lang="zh-CN" altLang="en-US" sz="1050" i="1" dirty="0" smtClean="0">
                            <a:solidFill>
                              <a:schemeClr val="bg1">
                                <a:lumMod val="65000"/>
                              </a:schemeClr>
                            </a:solidFill>
                            <a:latin typeface="Cambria Math" panose="02040503050406030204" pitchFamily="18" charset="0"/>
                            <a:ea typeface="Microsoft YaHei"/>
                            <a:cs typeface="Arial"/>
                          </a:rPr>
                        </m:ctrlPr>
                      </m:sSubPr>
                      <m:e>
                        <m:r>
                          <a:rPr lang="zh-CN" altLang="en-US" sz="1050" i="1" dirty="0" smtClean="0">
                            <a:solidFill>
                              <a:schemeClr val="bg1">
                                <a:lumMod val="65000"/>
                              </a:schemeClr>
                            </a:solidFill>
                            <a:latin typeface="Cambria Math" panose="02040503050406030204" pitchFamily="18" charset="0"/>
                            <a:ea typeface="Microsoft YaHei"/>
                            <a:cs typeface="Arial"/>
                          </a:rPr>
                          <m:t>𝑓</m:t>
                        </m:r>
                      </m:e>
                      <m:sub>
                        <m:r>
                          <a:rPr lang="zh-CN" altLang="en-US" sz="1050" i="1" dirty="0">
                            <a:solidFill>
                              <a:schemeClr val="bg1">
                                <a:lumMod val="65000"/>
                              </a:schemeClr>
                            </a:solidFill>
                            <a:latin typeface="Cambria Math" panose="02040503050406030204" pitchFamily="18" charset="0"/>
                            <a:ea typeface="Microsoft YaHei"/>
                            <a:cs typeface="Arial"/>
                          </a:rPr>
                          <m:t>𝑐</m:t>
                        </m:r>
                      </m:sub>
                    </m:sSub>
                  </m:oMath>
                </a14:m>
                <a:r>
                  <a:rPr lang="zh-CN" sz="1050" dirty="0">
                    <a:solidFill>
                      <a:schemeClr val="bg1">
                        <a:lumMod val="65000"/>
                      </a:schemeClr>
                    </a:solidFill>
                    <a:latin typeface="Arial"/>
                    <a:ea typeface="Microsoft YaHei"/>
                    <a:cs typeface="Arial"/>
                  </a:rPr>
                  <a:t>: 载波频率</a:t>
                </a:r>
              </a:p>
            </p:txBody>
          </p:sp>
        </mc:Choice>
        <mc:Fallback xmlns="">
          <p:sp>
            <p:nvSpPr>
              <p:cNvPr id="27" name="TextBox 27"/>
              <p:cNvSpPr txBox="1">
                <a:spLocks noRot="1" noChangeAspect="1" noMove="1" noResize="1" noEditPoints="1" noAdjustHandles="1" noChangeArrowheads="1" noChangeShapeType="1" noTextEdit="1"/>
              </p:cNvSpPr>
              <p:nvPr/>
            </p:nvSpPr>
            <p:spPr>
              <a:xfrm>
                <a:off x="6558915" y="3839528"/>
                <a:ext cx="801566" cy="161583"/>
              </a:xfrm>
              <a:prstGeom prst="rect">
                <a:avLst/>
              </a:prstGeom>
              <a:blipFill>
                <a:blip r:embed="rId8"/>
                <a:stretch>
                  <a:fillRect l="-10687" t="-26923" r="-9924" b="-50000"/>
                </a:stretch>
              </a:blipFill>
              <a:ln>
                <a:noFill/>
              </a:ln>
            </p:spPr>
            <p:txBody>
              <a:bodyPr/>
              <a:lstStyle/>
              <a:p>
                <a:r>
                  <a:rPr lang="zh-CN" altLang="en-US">
                    <a:noFill/>
                  </a:rPr>
                  <a:t> </a:t>
                </a:r>
              </a:p>
            </p:txBody>
          </p:sp>
        </mc:Fallback>
      </mc:AlternateContent>
      <p:sp>
        <p:nvSpPr>
          <p:cNvPr id="28" name="Rectangle 28"/>
          <p:cNvSpPr/>
          <p:nvPr/>
        </p:nvSpPr>
        <p:spPr>
          <a:xfrm>
            <a:off x="571500" y="4286250"/>
            <a:ext cx="11049000" cy="2095500"/>
          </a:xfrm>
          <a:prstGeom prst="roundRect">
            <a:avLst>
              <a:gd name="adj" fmla="val 5455"/>
            </a:avLst>
          </a:prstGeom>
          <a:solidFill>
            <a:srgbClr val="1E293B"/>
          </a:solidFill>
          <a:ln w="9525">
            <a:solidFill>
              <a:srgbClr val="334155"/>
            </a:solidFill>
          </a:ln>
        </p:spPr>
      </p:sp>
      <p:sp>
        <p:nvSpPr>
          <p:cNvPr id="29" name="TextBox 29"/>
          <p:cNvSpPr txBox="1"/>
          <p:nvPr/>
        </p:nvSpPr>
        <p:spPr>
          <a:xfrm>
            <a:off x="834390" y="4472940"/>
            <a:ext cx="1734331" cy="365760"/>
          </a:xfrm>
          <a:prstGeom prst="rect">
            <a:avLst/>
          </a:prstGeom>
          <a:noFill/>
          <a:ln>
            <a:noFill/>
          </a:ln>
        </p:spPr>
        <p:txBody>
          <a:bodyPr wrap="none" lIns="0" tIns="0" rIns="0" bIns="0" anchor="t" anchorCtr="0">
            <a:spAutoFit/>
          </a:bodyPr>
          <a:lstStyle/>
          <a:p>
            <a:pPr algn="l"/>
            <a:r>
              <a:rPr lang="zh-CN" sz="1800" b="1" dirty="0">
                <a:solidFill>
                  <a:srgbClr val="CBD5E1"/>
                </a:solidFill>
                <a:latin typeface="Arial"/>
                <a:ea typeface="Microsoft YaHei"/>
                <a:cs typeface="Arial"/>
              </a:rPr>
              <a:t>AWGN 信道模型</a:t>
            </a:r>
          </a:p>
        </p:txBody>
      </p:sp>
      <p:sp>
        <p:nvSpPr>
          <p:cNvPr id="30" name="Rectangle 30"/>
          <p:cNvSpPr/>
          <p:nvPr/>
        </p:nvSpPr>
        <p:spPr>
          <a:xfrm>
            <a:off x="857250" y="4810125"/>
            <a:ext cx="1143000" cy="28575"/>
          </a:xfrm>
          <a:prstGeom prst="rect">
            <a:avLst/>
          </a:prstGeom>
          <a:solidFill>
            <a:srgbClr val="10B981"/>
          </a:solidFill>
          <a:ln>
            <a:noFill/>
          </a:ln>
        </p:spPr>
      </p:sp>
      <p:sp>
        <p:nvSpPr>
          <p:cNvPr id="31" name="TextBox 31"/>
          <p:cNvSpPr txBox="1"/>
          <p:nvPr/>
        </p:nvSpPr>
        <p:spPr>
          <a:xfrm>
            <a:off x="842010" y="5013960"/>
            <a:ext cx="75857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信道模型:</a:t>
            </a:r>
          </a:p>
        </p:txBody>
      </p:sp>
      <p:sp>
        <p:nvSpPr>
          <p:cNvPr id="32" name="TextBox 32"/>
          <p:cNvSpPr txBox="1"/>
          <p:nvPr/>
        </p:nvSpPr>
        <p:spPr>
          <a:xfrm>
            <a:off x="840105" y="5283518"/>
            <a:ext cx="1636490" cy="274320"/>
          </a:xfrm>
          <a:prstGeom prst="rect">
            <a:avLst/>
          </a:prstGeom>
          <a:noFill/>
          <a:ln>
            <a:noFill/>
          </a:ln>
        </p:spPr>
        <p:txBody>
          <a:bodyPr wrap="none" lIns="0" tIns="0" rIns="0" bIns="0" anchor="t" anchorCtr="0">
            <a:spAutoFit/>
          </a:bodyPr>
          <a:lstStyle/>
          <a:p>
            <a:pPr algn="l"/>
            <a:r>
              <a:rPr lang="zh-CN" sz="1350" dirty="0">
                <a:solidFill>
                  <a:srgbClr val="CBD5E1"/>
                </a:solidFill>
                <a:latin typeface="Cambria Math"/>
                <a:ea typeface="Microsoft YaHei"/>
                <a:cs typeface="Cambria Math"/>
              </a:rPr>
              <a:t>r(t) = s(t) + n(t)</a:t>
            </a:r>
          </a:p>
        </p:txBody>
      </p:sp>
      <p:sp>
        <p:nvSpPr>
          <p:cNvPr id="33" name="TextBox 33"/>
          <p:cNvSpPr txBox="1"/>
          <p:nvPr/>
        </p:nvSpPr>
        <p:spPr>
          <a:xfrm>
            <a:off x="843915" y="5601652"/>
            <a:ext cx="161903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n(t) ~ N(0, σ²) (高斯白噪声)</a:t>
            </a:r>
          </a:p>
        </p:txBody>
      </p:sp>
      <p:sp>
        <p:nvSpPr>
          <p:cNvPr id="34" name="TextBox 34"/>
          <p:cNvSpPr txBox="1"/>
          <p:nvPr/>
        </p:nvSpPr>
        <p:spPr>
          <a:xfrm>
            <a:off x="842010" y="5966460"/>
            <a:ext cx="1086612"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信噪比 (SNR):</a:t>
            </a:r>
          </a:p>
        </p:txBody>
      </p:sp>
      <mc:AlternateContent xmlns:mc="http://schemas.openxmlformats.org/markup-compatibility/2006" xmlns:a14="http://schemas.microsoft.com/office/drawing/2010/main">
        <mc:Choice Requires="a14">
          <p:sp>
            <p:nvSpPr>
              <p:cNvPr id="35" name="TextBox 35"/>
              <p:cNvSpPr txBox="1"/>
              <p:nvPr/>
            </p:nvSpPr>
            <p:spPr>
              <a:xfrm>
                <a:off x="840105" y="6188392"/>
                <a:ext cx="2037033" cy="207749"/>
              </a:xfrm>
              <a:prstGeom prst="rect">
                <a:avLst/>
              </a:prstGeom>
              <a:noFill/>
              <a:ln>
                <a:noFill/>
              </a:ln>
            </p:spPr>
            <p:txBody>
              <a:bodyPr wrap="none" lIns="0" tIns="0" rIns="0" bIns="0" anchor="t" anchorCtr="0">
                <a:spAutoFit/>
              </a:bodyPr>
              <a:lstStyle/>
              <a:p>
                <a:pPr algn="l"/>
                <a:r>
                  <a:rPr lang="zh-CN" sz="1350" dirty="0">
                    <a:solidFill>
                      <a:srgbClr val="CBD5E1"/>
                    </a:solidFill>
                    <a:latin typeface="Cambria Math"/>
                    <a:ea typeface="Microsoft YaHei"/>
                    <a:cs typeface="Cambria Math"/>
                  </a:rPr>
                  <a:t>SNR(dB) = 10 log₁₀(</a:t>
                </a:r>
                <a14:m>
                  <m:oMath xmlns:m="http://schemas.openxmlformats.org/officeDocument/2006/math">
                    <m:sSub>
                      <m:sSubPr>
                        <m:ctrlPr>
                          <a:rPr lang="zh-CN" altLang="en-US" sz="1350" i="1" dirty="0" smtClean="0">
                            <a:solidFill>
                              <a:srgbClr val="CBD5E1"/>
                            </a:solidFill>
                            <a:latin typeface="Cambria Math" panose="02040503050406030204" pitchFamily="18" charset="0"/>
                            <a:ea typeface="Microsoft YaHei"/>
                            <a:cs typeface="Cambria Math"/>
                          </a:rPr>
                        </m:ctrlPr>
                      </m:sSubPr>
                      <m:e>
                        <m:r>
                          <a:rPr lang="zh-CN" altLang="en-US" sz="1350" i="1" dirty="0" smtClean="0">
                            <a:solidFill>
                              <a:srgbClr val="CBD5E1"/>
                            </a:solidFill>
                            <a:latin typeface="Cambria Math" panose="02040503050406030204" pitchFamily="18" charset="0"/>
                            <a:ea typeface="Microsoft YaHei"/>
                            <a:cs typeface="Cambria Math"/>
                          </a:rPr>
                          <m:t>𝑃</m:t>
                        </m:r>
                      </m:e>
                      <m:sub>
                        <m:r>
                          <a:rPr lang="zh-CN" altLang="en-US" sz="1350" i="1" dirty="0">
                            <a:solidFill>
                              <a:srgbClr val="CBD5E1"/>
                            </a:solidFill>
                            <a:latin typeface="Cambria Math" panose="02040503050406030204" pitchFamily="18" charset="0"/>
                            <a:ea typeface="Microsoft YaHei"/>
                            <a:cs typeface="Cambria Math"/>
                          </a:rPr>
                          <m:t>𝑠</m:t>
                        </m:r>
                      </m:sub>
                    </m:sSub>
                  </m:oMath>
                </a14:m>
                <a:r>
                  <a:rPr lang="zh-CN" sz="1350" dirty="0">
                    <a:solidFill>
                      <a:srgbClr val="CBD5E1"/>
                    </a:solidFill>
                    <a:latin typeface="Cambria Math"/>
                    <a:ea typeface="Microsoft YaHei"/>
                    <a:cs typeface="Cambria Math"/>
                  </a:rPr>
                  <a:t>/ </a:t>
                </a:r>
                <a14:m>
                  <m:oMath xmlns:m="http://schemas.openxmlformats.org/officeDocument/2006/math">
                    <m:sSub>
                      <m:sSubPr>
                        <m:ctrlPr>
                          <a:rPr lang="zh-CN" altLang="en-US" sz="1350" i="1" dirty="0" smtClean="0">
                            <a:solidFill>
                              <a:srgbClr val="CBD5E1"/>
                            </a:solidFill>
                            <a:latin typeface="Cambria Math" panose="02040503050406030204" pitchFamily="18" charset="0"/>
                            <a:ea typeface="Microsoft YaHei"/>
                            <a:cs typeface="Cambria Math"/>
                          </a:rPr>
                        </m:ctrlPr>
                      </m:sSubPr>
                      <m:e>
                        <m:r>
                          <a:rPr lang="zh-CN" altLang="en-US" sz="1350" i="1" dirty="0" smtClean="0">
                            <a:solidFill>
                              <a:srgbClr val="CBD5E1"/>
                            </a:solidFill>
                            <a:latin typeface="Cambria Math" panose="02040503050406030204" pitchFamily="18" charset="0"/>
                            <a:ea typeface="Microsoft YaHei"/>
                            <a:cs typeface="Cambria Math"/>
                          </a:rPr>
                          <m:t>𝑃</m:t>
                        </m:r>
                      </m:e>
                      <m:sub>
                        <m:r>
                          <a:rPr lang="zh-CN" altLang="en-US" sz="1350" i="1" dirty="0">
                            <a:solidFill>
                              <a:srgbClr val="CBD5E1"/>
                            </a:solidFill>
                            <a:latin typeface="Cambria Math" panose="02040503050406030204" pitchFamily="18" charset="0"/>
                            <a:ea typeface="Microsoft YaHei"/>
                            <a:cs typeface="Cambria Math"/>
                          </a:rPr>
                          <m:t>𝑛</m:t>
                        </m:r>
                      </m:sub>
                    </m:sSub>
                  </m:oMath>
                </a14:m>
                <a:r>
                  <a:rPr lang="zh-CN" sz="1350" dirty="0">
                    <a:solidFill>
                      <a:srgbClr val="CBD5E1"/>
                    </a:solidFill>
                    <a:latin typeface="Cambria Math"/>
                    <a:ea typeface="Microsoft YaHei"/>
                    <a:cs typeface="Cambria Math"/>
                  </a:rPr>
                  <a:t>)</a:t>
                </a:r>
              </a:p>
            </p:txBody>
          </p:sp>
        </mc:Choice>
        <mc:Fallback xmlns="">
          <p:sp>
            <p:nvSpPr>
              <p:cNvPr id="35" name="TextBox 35"/>
              <p:cNvSpPr txBox="1">
                <a:spLocks noRot="1" noChangeAspect="1" noMove="1" noResize="1" noEditPoints="1" noAdjustHandles="1" noChangeArrowheads="1" noChangeShapeType="1" noTextEdit="1"/>
              </p:cNvSpPr>
              <p:nvPr/>
            </p:nvSpPr>
            <p:spPr>
              <a:xfrm>
                <a:off x="840105" y="6188392"/>
                <a:ext cx="2037033" cy="207749"/>
              </a:xfrm>
              <a:prstGeom prst="rect">
                <a:avLst/>
              </a:prstGeom>
              <a:blipFill>
                <a:blip r:embed="rId9"/>
                <a:stretch>
                  <a:fillRect l="-5389" t="-29412" r="-4192" b="-50000"/>
                </a:stretch>
              </a:blipFill>
              <a:ln>
                <a:noFill/>
              </a:ln>
            </p:spPr>
            <p:txBody>
              <a:bodyPr/>
              <a:lstStyle/>
              <a:p>
                <a:r>
                  <a:rPr lang="zh-CN" altLang="en-US">
                    <a:noFill/>
                  </a:rPr>
                  <a:t> </a:t>
                </a:r>
              </a:p>
            </p:txBody>
          </p:sp>
        </mc:Fallback>
      </mc:AlternateContent>
      <p:sp>
        <p:nvSpPr>
          <p:cNvPr id="36" name="TextBox 36"/>
          <p:cNvSpPr txBox="1"/>
          <p:nvPr/>
        </p:nvSpPr>
        <p:spPr>
          <a:xfrm>
            <a:off x="6273165" y="5030152"/>
            <a:ext cx="575479"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信号功率:</a:t>
            </a:r>
          </a:p>
        </p:txBody>
      </p:sp>
      <mc:AlternateContent xmlns:mc="http://schemas.openxmlformats.org/markup-compatibility/2006" xmlns:a14="http://schemas.microsoft.com/office/drawing/2010/main">
        <mc:Choice Requires="a14">
          <p:sp>
            <p:nvSpPr>
              <p:cNvPr id="37" name="TextBox 37"/>
              <p:cNvSpPr txBox="1"/>
              <p:nvPr/>
            </p:nvSpPr>
            <p:spPr>
              <a:xfrm>
                <a:off x="6273165" y="5268278"/>
                <a:ext cx="681790" cy="161583"/>
              </a:xfrm>
              <a:prstGeom prst="rect">
                <a:avLst/>
              </a:prstGeom>
              <a:noFill/>
              <a:ln>
                <a:noFill/>
              </a:ln>
            </p:spPr>
            <p:txBody>
              <a:bodyPr wrap="none" lIns="0" tIns="0" rIns="0" bIns="0" anchor="t" anchorCtr="0">
                <a:spAutoFit/>
              </a:bodyPr>
              <a:lstStyle/>
              <a:p>
                <a:pPr algn="l"/>
                <a14:m>
                  <m:oMath xmlns:m="http://schemas.openxmlformats.org/officeDocument/2006/math">
                    <m:sSub>
                      <m:sSubPr>
                        <m:ctrlPr>
                          <a:rPr lang="zh-CN" altLang="en-US" sz="1050" i="1" dirty="0" smtClean="0">
                            <a:solidFill>
                              <a:srgbClr val="CBD5E1"/>
                            </a:solidFill>
                            <a:latin typeface="Cambria Math" panose="02040503050406030204" pitchFamily="18" charset="0"/>
                            <a:ea typeface="Microsoft YaHei"/>
                            <a:cs typeface="Cambria Math"/>
                          </a:rPr>
                        </m:ctrlPr>
                      </m:sSubPr>
                      <m:e>
                        <m:r>
                          <a:rPr lang="zh-CN" altLang="en-US" sz="1050" i="1" dirty="0" smtClean="0">
                            <a:solidFill>
                              <a:srgbClr val="CBD5E1"/>
                            </a:solidFill>
                            <a:latin typeface="Cambria Math" panose="02040503050406030204" pitchFamily="18" charset="0"/>
                            <a:ea typeface="Microsoft YaHei"/>
                            <a:cs typeface="Cambria Math"/>
                          </a:rPr>
                          <m:t>𝑃</m:t>
                        </m:r>
                      </m:e>
                      <m:sub>
                        <m:r>
                          <a:rPr lang="zh-CN" altLang="en-US" sz="1050" i="1" dirty="0">
                            <a:solidFill>
                              <a:srgbClr val="CBD5E1"/>
                            </a:solidFill>
                            <a:latin typeface="Cambria Math" panose="02040503050406030204" pitchFamily="18" charset="0"/>
                            <a:ea typeface="Microsoft YaHei"/>
                            <a:cs typeface="Cambria Math"/>
                          </a:rPr>
                          <m:t>𝑠</m:t>
                        </m:r>
                      </m:sub>
                    </m:sSub>
                  </m:oMath>
                </a14:m>
                <a:r>
                  <a:rPr lang="zh-CN" sz="1050" dirty="0">
                    <a:solidFill>
                      <a:srgbClr val="CBD5E1"/>
                    </a:solidFill>
                    <a:latin typeface="Cambria Math"/>
                    <a:ea typeface="Microsoft YaHei"/>
                    <a:cs typeface="Cambria Math"/>
                  </a:rPr>
                  <a:t>= E[s²(t)]</a:t>
                </a:r>
              </a:p>
            </p:txBody>
          </p:sp>
        </mc:Choice>
        <mc:Fallback xmlns="">
          <p:sp>
            <p:nvSpPr>
              <p:cNvPr id="37" name="TextBox 37"/>
              <p:cNvSpPr txBox="1">
                <a:spLocks noRot="1" noChangeAspect="1" noMove="1" noResize="1" noEditPoints="1" noAdjustHandles="1" noChangeArrowheads="1" noChangeShapeType="1" noTextEdit="1"/>
              </p:cNvSpPr>
              <p:nvPr/>
            </p:nvSpPr>
            <p:spPr>
              <a:xfrm>
                <a:off x="6273165" y="5268278"/>
                <a:ext cx="681790" cy="161583"/>
              </a:xfrm>
              <a:prstGeom prst="rect">
                <a:avLst/>
              </a:prstGeom>
              <a:blipFill>
                <a:blip r:embed="rId10"/>
                <a:stretch>
                  <a:fillRect l="-7143" t="-25926" r="-11607" b="-48148"/>
                </a:stretch>
              </a:blipFill>
              <a:ln>
                <a:noFill/>
              </a:ln>
            </p:spPr>
            <p:txBody>
              <a:bodyPr/>
              <a:lstStyle/>
              <a:p>
                <a:r>
                  <a:rPr lang="zh-CN" altLang="en-US">
                    <a:noFill/>
                  </a:rPr>
                  <a:t> </a:t>
                </a:r>
              </a:p>
            </p:txBody>
          </p:sp>
        </mc:Fallback>
      </mc:AlternateContent>
      <p:sp>
        <p:nvSpPr>
          <p:cNvPr id="38" name="TextBox 38"/>
          <p:cNvSpPr txBox="1"/>
          <p:nvPr/>
        </p:nvSpPr>
        <p:spPr>
          <a:xfrm>
            <a:off x="6273165" y="5649278"/>
            <a:ext cx="575479"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噪声功率:</a:t>
            </a:r>
          </a:p>
        </p:txBody>
      </p:sp>
      <mc:AlternateContent xmlns:mc="http://schemas.openxmlformats.org/markup-compatibility/2006" xmlns:a14="http://schemas.microsoft.com/office/drawing/2010/main">
        <mc:Choice Requires="a14">
          <p:sp>
            <p:nvSpPr>
              <p:cNvPr id="39" name="TextBox 39"/>
              <p:cNvSpPr txBox="1"/>
              <p:nvPr/>
            </p:nvSpPr>
            <p:spPr>
              <a:xfrm>
                <a:off x="6273165" y="5887402"/>
                <a:ext cx="389722" cy="161583"/>
              </a:xfrm>
              <a:prstGeom prst="rect">
                <a:avLst/>
              </a:prstGeom>
              <a:noFill/>
              <a:ln>
                <a:noFill/>
              </a:ln>
            </p:spPr>
            <p:txBody>
              <a:bodyPr wrap="none" lIns="0" tIns="0" rIns="0" bIns="0" anchor="t" anchorCtr="0">
                <a:spAutoFit/>
              </a:bodyPr>
              <a:lstStyle/>
              <a:p>
                <a:pPr algn="l"/>
                <a14:m>
                  <m:oMath xmlns:m="http://schemas.openxmlformats.org/officeDocument/2006/math">
                    <m:sSub>
                      <m:sSubPr>
                        <m:ctrlPr>
                          <a:rPr lang="zh-CN" altLang="en-US" sz="1050" i="1" dirty="0" smtClean="0">
                            <a:solidFill>
                              <a:srgbClr val="CBD5E1"/>
                            </a:solidFill>
                            <a:latin typeface="Cambria Math" panose="02040503050406030204" pitchFamily="18" charset="0"/>
                            <a:ea typeface="Microsoft YaHei"/>
                            <a:cs typeface="Cambria Math"/>
                          </a:rPr>
                        </m:ctrlPr>
                      </m:sSubPr>
                      <m:e>
                        <m:r>
                          <a:rPr lang="zh-CN" altLang="en-US" sz="1050" i="1" dirty="0" smtClean="0">
                            <a:solidFill>
                              <a:srgbClr val="CBD5E1"/>
                            </a:solidFill>
                            <a:latin typeface="Cambria Math" panose="02040503050406030204" pitchFamily="18" charset="0"/>
                            <a:ea typeface="Microsoft YaHei"/>
                            <a:cs typeface="Cambria Math"/>
                          </a:rPr>
                          <m:t>𝑃</m:t>
                        </m:r>
                      </m:e>
                      <m:sub>
                        <m:r>
                          <a:rPr lang="zh-CN" altLang="en-US" sz="1050" i="1" dirty="0">
                            <a:solidFill>
                              <a:srgbClr val="CBD5E1"/>
                            </a:solidFill>
                            <a:latin typeface="Cambria Math" panose="02040503050406030204" pitchFamily="18" charset="0"/>
                            <a:ea typeface="Microsoft YaHei"/>
                            <a:cs typeface="Cambria Math"/>
                          </a:rPr>
                          <m:t>𝑛</m:t>
                        </m:r>
                      </m:sub>
                    </m:sSub>
                  </m:oMath>
                </a14:m>
                <a:r>
                  <a:rPr lang="zh-CN" sz="1050" dirty="0">
                    <a:solidFill>
                      <a:srgbClr val="CBD5E1"/>
                    </a:solidFill>
                    <a:latin typeface="Cambria Math"/>
                    <a:ea typeface="Microsoft YaHei"/>
                    <a:cs typeface="Cambria Math"/>
                  </a:rPr>
                  <a:t>= σ²</a:t>
                </a:r>
              </a:p>
            </p:txBody>
          </p:sp>
        </mc:Choice>
        <mc:Fallback xmlns="">
          <p:sp>
            <p:nvSpPr>
              <p:cNvPr id="39" name="TextBox 39"/>
              <p:cNvSpPr txBox="1">
                <a:spLocks noRot="1" noChangeAspect="1" noMove="1" noResize="1" noEditPoints="1" noAdjustHandles="1" noChangeArrowheads="1" noChangeShapeType="1" noTextEdit="1"/>
              </p:cNvSpPr>
              <p:nvPr/>
            </p:nvSpPr>
            <p:spPr>
              <a:xfrm>
                <a:off x="6273165" y="5887402"/>
                <a:ext cx="389722" cy="161583"/>
              </a:xfrm>
              <a:prstGeom prst="rect">
                <a:avLst/>
              </a:prstGeom>
              <a:blipFill>
                <a:blip r:embed="rId11"/>
                <a:stretch>
                  <a:fillRect l="-12500" t="-26923" r="-21875" b="-50000"/>
                </a:stretch>
              </a:blipFill>
              <a:ln>
                <a:noFill/>
              </a:ln>
            </p:spPr>
            <p:txBody>
              <a:bodyPr/>
              <a:lstStyle/>
              <a:p>
                <a:r>
                  <a:rPr lang="zh-CN" altLang="en-US">
                    <a:noFill/>
                  </a:rPr>
                  <a:t> </a:t>
                </a:r>
              </a:p>
            </p:txBody>
          </p:sp>
        </mc:Fallback>
      </mc:AlternateContent>
      <p:sp>
        <p:nvSpPr>
          <p:cNvPr id="40" name="Rectangle 40"/>
          <p:cNvSpPr/>
          <p:nvPr/>
        </p:nvSpPr>
        <p:spPr>
          <a:xfrm>
            <a:off x="6286500" y="6191250"/>
            <a:ext cx="4953000" cy="285750"/>
          </a:xfrm>
          <a:prstGeom prst="roundRect">
            <a:avLst>
              <a:gd name="adj" fmla="val 26667"/>
            </a:avLst>
          </a:prstGeom>
          <a:solidFill>
            <a:srgbClr val="0F172A"/>
          </a:solidFill>
          <a:ln w="9525">
            <a:solidFill>
              <a:srgbClr val="334155"/>
            </a:solidFill>
          </a:ln>
        </p:spPr>
      </p:sp>
      <p:sp>
        <p:nvSpPr>
          <p:cNvPr id="41" name="TextBox 41"/>
          <p:cNvSpPr txBox="1"/>
          <p:nvPr/>
        </p:nvSpPr>
        <p:spPr>
          <a:xfrm>
            <a:off x="7404949" y="6295549"/>
            <a:ext cx="2716101" cy="198120"/>
          </a:xfrm>
          <a:prstGeom prst="rect">
            <a:avLst/>
          </a:prstGeom>
          <a:noFill/>
          <a:ln>
            <a:noFill/>
          </a:ln>
        </p:spPr>
        <p:txBody>
          <a:bodyPr wrap="none" lIns="0" tIns="0" rIns="0" bIns="0" anchor="t" anchorCtr="0">
            <a:spAutoFit/>
          </a:bodyPr>
          <a:lstStyle/>
          <a:p>
            <a:pPr algn="ctr"/>
            <a:r>
              <a:rPr lang="zh-CN" sz="975" dirty="0">
                <a:solidFill>
                  <a:srgbClr val="10B981"/>
                </a:solidFill>
                <a:latin typeface="Arial"/>
                <a:ea typeface="Microsoft YaHei"/>
                <a:cs typeface="Arial"/>
              </a:rPr>
              <a:t>在 SNR&gt;5dB 时，模型识别准确率可达 95% 以上</a:t>
            </a:r>
          </a:p>
        </p:txBody>
      </p:sp>
      <p:sp>
        <p:nvSpPr>
          <p:cNvPr id="42" name="TextBox 42"/>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531363"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系统架构 System Architecture</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2450" y="981075"/>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整体架构</a:t>
            </a:r>
          </a:p>
        </p:txBody>
      </p:sp>
      <p:grpSp>
        <p:nvGrpSpPr>
          <p:cNvPr id="37" name="Group 37"/>
          <p:cNvGrpSpPr/>
          <p:nvPr/>
        </p:nvGrpSpPr>
        <p:grpSpPr>
          <a:xfrm>
            <a:off x="571500" y="1524000"/>
            <a:ext cx="11049000" cy="952500"/>
            <a:chOff x="571500" y="1524000"/>
            <a:chExt cx="11049000" cy="952500"/>
          </a:xfrm>
        </p:grpSpPr>
        <p:sp>
          <p:nvSpPr>
            <p:cNvPr id="7" name="Rectangle 7"/>
            <p:cNvSpPr/>
            <p:nvPr/>
          </p:nvSpPr>
          <p:spPr>
            <a:xfrm>
              <a:off x="571500" y="1524000"/>
              <a:ext cx="11049000" cy="952500"/>
            </a:xfrm>
            <a:prstGeom prst="roundRect">
              <a:avLst>
                <a:gd name="adj" fmla="val 12000"/>
              </a:avLst>
            </a:prstGeom>
            <a:solidFill>
              <a:srgbClr val="1E293B"/>
            </a:solidFill>
            <a:ln w="9525">
              <a:solidFill>
                <a:srgbClr val="334155"/>
              </a:solidFill>
            </a:ln>
          </p:spPr>
        </p:sp>
        <p:grpSp>
          <p:nvGrpSpPr>
            <p:cNvPr id="11" name="Group 11"/>
            <p:cNvGrpSpPr/>
            <p:nvPr/>
          </p:nvGrpSpPr>
          <p:grpSpPr>
            <a:xfrm>
              <a:off x="952500" y="1714500"/>
              <a:ext cx="1143000" cy="571500"/>
              <a:chOff x="952500" y="1714500"/>
              <a:chExt cx="1143000" cy="571500"/>
            </a:xfrm>
          </p:grpSpPr>
          <p:sp>
            <p:nvSpPr>
              <p:cNvPr id="8" name="Rectangle 8"/>
              <p:cNvSpPr/>
              <p:nvPr/>
            </p:nvSpPr>
            <p:spPr>
              <a:xfrm>
                <a:off x="952500" y="1714500"/>
                <a:ext cx="1143000" cy="571500"/>
              </a:xfrm>
              <a:prstGeom prst="roundRect">
                <a:avLst>
                  <a:gd name="adj" fmla="val 13333"/>
                </a:avLst>
              </a:prstGeom>
              <a:solidFill>
                <a:srgbClr val="0F172A"/>
              </a:solidFill>
              <a:ln w="19050">
                <a:solidFill>
                  <a:srgbClr val="2563EB"/>
                </a:solidFill>
              </a:ln>
            </p:spPr>
          </p:sp>
          <p:sp>
            <p:nvSpPr>
              <p:cNvPr id="9" name="TextBox 9"/>
              <p:cNvSpPr txBox="1"/>
              <p:nvPr/>
            </p:nvSpPr>
            <p:spPr>
              <a:xfrm>
                <a:off x="1230630" y="1839278"/>
                <a:ext cx="586740" cy="213360"/>
              </a:xfrm>
              <a:prstGeom prst="rect">
                <a:avLst/>
              </a:prstGeom>
              <a:noFill/>
              <a:ln>
                <a:noFill/>
              </a:ln>
            </p:spPr>
            <p:txBody>
              <a:bodyPr wrap="none" lIns="0" tIns="0" rIns="0" bIns="0" anchor="t" anchorCtr="0">
                <a:spAutoFit/>
              </a:bodyPr>
              <a:lstStyle/>
              <a:p>
                <a:pPr algn="ctr"/>
                <a:r>
                  <a:rPr lang="zh-CN" sz="1050" dirty="0">
                    <a:gradFill>
                      <a:gsLst>
                        <a:gs pos="0">
                          <a:srgbClr val="2563EB"/>
                        </a:gs>
                        <a:gs pos="100000">
                          <a:srgbClr val="8B5CF6"/>
                        </a:gs>
                      </a:gsLst>
                      <a:lin ang="0" scaled="1"/>
                    </a:gradFill>
                    <a:latin typeface="Arial"/>
                    <a:ea typeface="Microsoft YaHei"/>
                    <a:cs typeface="Arial"/>
                  </a:rPr>
                  <a:t>原始信号</a:t>
                </a:r>
              </a:p>
            </p:txBody>
          </p:sp>
          <p:sp>
            <p:nvSpPr>
              <p:cNvPr id="10" name="TextBox 10"/>
              <p:cNvSpPr txBox="1"/>
              <p:nvPr/>
            </p:nvSpPr>
            <p:spPr>
              <a:xfrm>
                <a:off x="1375722" y="2054066"/>
                <a:ext cx="296555"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Signal</a:t>
                </a:r>
              </a:p>
            </p:txBody>
          </p:sp>
        </p:grpSp>
        <p:sp>
          <p:nvSpPr>
            <p:cNvPr id="12" name="Line 12"/>
            <p:cNvSpPr/>
            <p:nvPr/>
          </p:nvSpPr>
          <p:spPr>
            <a:xfrm>
              <a:off x="2095500" y="2000250"/>
              <a:ext cx="571500" cy="9525"/>
            </a:xfrm>
            <a:custGeom>
              <a:avLst/>
              <a:gdLst/>
              <a:ahLst/>
              <a:cxnLst/>
              <a:rect l="l" t="t" r="r" b="b"/>
              <a:pathLst>
                <a:path w="571500" h="9525">
                  <a:moveTo>
                    <a:pt x="0" y="0"/>
                  </a:moveTo>
                  <a:lnTo>
                    <a:pt x="571500" y="0"/>
                  </a:lnTo>
                </a:path>
              </a:pathLst>
            </a:custGeom>
            <a:noFill/>
            <a:ln w="19050">
              <a:solidFill>
                <a:srgbClr val="64748B"/>
              </a:solidFill>
            </a:ln>
          </p:spPr>
        </p:sp>
        <p:grpSp>
          <p:nvGrpSpPr>
            <p:cNvPr id="16" name="Group 16"/>
            <p:cNvGrpSpPr/>
            <p:nvPr/>
          </p:nvGrpSpPr>
          <p:grpSpPr>
            <a:xfrm>
              <a:off x="2667000" y="1714500"/>
              <a:ext cx="1143000" cy="571500"/>
              <a:chOff x="2667000" y="1714500"/>
              <a:chExt cx="1143000" cy="571500"/>
            </a:xfrm>
          </p:grpSpPr>
          <p:sp>
            <p:nvSpPr>
              <p:cNvPr id="13" name="Rectangle 13"/>
              <p:cNvSpPr/>
              <p:nvPr/>
            </p:nvSpPr>
            <p:spPr>
              <a:xfrm>
                <a:off x="2667000" y="1714500"/>
                <a:ext cx="1143000" cy="571500"/>
              </a:xfrm>
              <a:prstGeom prst="roundRect">
                <a:avLst>
                  <a:gd name="adj" fmla="val 13333"/>
                </a:avLst>
              </a:prstGeom>
              <a:solidFill>
                <a:srgbClr val="0F172A"/>
              </a:solidFill>
              <a:ln w="19050">
                <a:solidFill>
                  <a:srgbClr val="8B5CF6"/>
                </a:solidFill>
              </a:ln>
            </p:spPr>
          </p:sp>
          <p:sp>
            <p:nvSpPr>
              <p:cNvPr id="14" name="TextBox 14"/>
              <p:cNvSpPr txBox="1"/>
              <p:nvPr/>
            </p:nvSpPr>
            <p:spPr>
              <a:xfrm>
                <a:off x="3085148" y="1839278"/>
                <a:ext cx="306705" cy="213360"/>
              </a:xfrm>
              <a:prstGeom prst="rect">
                <a:avLst/>
              </a:prstGeom>
              <a:noFill/>
              <a:ln>
                <a:noFill/>
              </a:ln>
            </p:spPr>
            <p:txBody>
              <a:bodyPr wrap="none" lIns="0" tIns="0" rIns="0" bIns="0" anchor="t" anchorCtr="0">
                <a:spAutoFit/>
              </a:bodyPr>
              <a:lstStyle/>
              <a:p>
                <a:pPr algn="ctr"/>
                <a:r>
                  <a:rPr lang="zh-CN" sz="1050" dirty="0">
                    <a:solidFill>
                      <a:srgbClr val="818CF8"/>
                    </a:solidFill>
                    <a:latin typeface="Arial"/>
                    <a:ea typeface="Microsoft YaHei"/>
                    <a:cs typeface="Arial"/>
                  </a:rPr>
                  <a:t>调制</a:t>
                </a:r>
              </a:p>
            </p:txBody>
          </p:sp>
          <p:sp>
            <p:nvSpPr>
              <p:cNvPr id="15" name="TextBox 15"/>
              <p:cNvSpPr txBox="1"/>
              <p:nvPr/>
            </p:nvSpPr>
            <p:spPr>
              <a:xfrm>
                <a:off x="2978012" y="2054066"/>
                <a:ext cx="520976"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Modulation</a:t>
                </a:r>
              </a:p>
            </p:txBody>
          </p:sp>
        </p:grpSp>
        <p:sp>
          <p:nvSpPr>
            <p:cNvPr id="17" name="Line 17"/>
            <p:cNvSpPr/>
            <p:nvPr/>
          </p:nvSpPr>
          <p:spPr>
            <a:xfrm>
              <a:off x="3810000" y="2000250"/>
              <a:ext cx="571500" cy="9525"/>
            </a:xfrm>
            <a:custGeom>
              <a:avLst/>
              <a:gdLst/>
              <a:ahLst/>
              <a:cxnLst/>
              <a:rect l="l" t="t" r="r" b="b"/>
              <a:pathLst>
                <a:path w="571500" h="9525">
                  <a:moveTo>
                    <a:pt x="0" y="0"/>
                  </a:moveTo>
                  <a:lnTo>
                    <a:pt x="571500" y="0"/>
                  </a:lnTo>
                </a:path>
              </a:pathLst>
            </a:custGeom>
            <a:noFill/>
            <a:ln w="19050">
              <a:solidFill>
                <a:srgbClr val="64748B"/>
              </a:solidFill>
            </a:ln>
          </p:spPr>
        </p:sp>
        <p:grpSp>
          <p:nvGrpSpPr>
            <p:cNvPr id="21" name="Group 21"/>
            <p:cNvGrpSpPr/>
            <p:nvPr/>
          </p:nvGrpSpPr>
          <p:grpSpPr>
            <a:xfrm>
              <a:off x="4381500" y="1714500"/>
              <a:ext cx="1143000" cy="571500"/>
              <a:chOff x="4381500" y="1714500"/>
              <a:chExt cx="1143000" cy="571500"/>
            </a:xfrm>
          </p:grpSpPr>
          <p:sp>
            <p:nvSpPr>
              <p:cNvPr id="18" name="Rectangle 18"/>
              <p:cNvSpPr/>
              <p:nvPr/>
            </p:nvSpPr>
            <p:spPr>
              <a:xfrm>
                <a:off x="4381500" y="1714500"/>
                <a:ext cx="1143000" cy="571500"/>
              </a:xfrm>
              <a:prstGeom prst="roundRect">
                <a:avLst>
                  <a:gd name="adj" fmla="val 13333"/>
                </a:avLst>
              </a:prstGeom>
              <a:solidFill>
                <a:srgbClr val="0F172A"/>
              </a:solidFill>
              <a:ln w="19050">
                <a:solidFill>
                  <a:srgbClr val="EF4444"/>
                </a:solidFill>
              </a:ln>
            </p:spPr>
          </p:sp>
          <p:sp>
            <p:nvSpPr>
              <p:cNvPr id="19" name="TextBox 19"/>
              <p:cNvSpPr txBox="1"/>
              <p:nvPr/>
            </p:nvSpPr>
            <p:spPr>
              <a:xfrm>
                <a:off x="4799648" y="1839278"/>
                <a:ext cx="306705" cy="213360"/>
              </a:xfrm>
              <a:prstGeom prst="rect">
                <a:avLst/>
              </a:prstGeom>
              <a:noFill/>
              <a:ln>
                <a:noFill/>
              </a:ln>
            </p:spPr>
            <p:txBody>
              <a:bodyPr wrap="none" lIns="0" tIns="0" rIns="0" bIns="0" anchor="t" anchorCtr="0">
                <a:spAutoFit/>
              </a:bodyPr>
              <a:lstStyle/>
              <a:p>
                <a:pPr algn="ctr"/>
                <a:r>
                  <a:rPr lang="zh-CN" sz="1050" dirty="0">
                    <a:solidFill>
                      <a:srgbClr val="F87171"/>
                    </a:solidFill>
                    <a:latin typeface="Arial"/>
                    <a:ea typeface="Microsoft YaHei"/>
                    <a:cs typeface="Arial"/>
                  </a:rPr>
                  <a:t>加噪</a:t>
                </a:r>
              </a:p>
            </p:txBody>
          </p:sp>
          <p:sp>
            <p:nvSpPr>
              <p:cNvPr id="20" name="TextBox 20"/>
              <p:cNvSpPr txBox="1"/>
              <p:nvPr/>
            </p:nvSpPr>
            <p:spPr>
              <a:xfrm>
                <a:off x="4788692" y="2054066"/>
                <a:ext cx="328616"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AWGN</a:t>
                </a:r>
              </a:p>
            </p:txBody>
          </p:sp>
        </p:grpSp>
        <p:sp>
          <p:nvSpPr>
            <p:cNvPr id="22" name="Line 22"/>
            <p:cNvSpPr/>
            <p:nvPr/>
          </p:nvSpPr>
          <p:spPr>
            <a:xfrm>
              <a:off x="5524500" y="2000250"/>
              <a:ext cx="571500" cy="9525"/>
            </a:xfrm>
            <a:custGeom>
              <a:avLst/>
              <a:gdLst/>
              <a:ahLst/>
              <a:cxnLst/>
              <a:rect l="l" t="t" r="r" b="b"/>
              <a:pathLst>
                <a:path w="571500" h="9525">
                  <a:moveTo>
                    <a:pt x="0" y="0"/>
                  </a:moveTo>
                  <a:lnTo>
                    <a:pt x="571500" y="0"/>
                  </a:lnTo>
                </a:path>
              </a:pathLst>
            </a:custGeom>
            <a:noFill/>
            <a:ln w="19050">
              <a:solidFill>
                <a:srgbClr val="64748B"/>
              </a:solidFill>
            </a:ln>
          </p:spPr>
        </p:sp>
        <p:grpSp>
          <p:nvGrpSpPr>
            <p:cNvPr id="26" name="Group 26"/>
            <p:cNvGrpSpPr/>
            <p:nvPr/>
          </p:nvGrpSpPr>
          <p:grpSpPr>
            <a:xfrm>
              <a:off x="6096000" y="1714500"/>
              <a:ext cx="1333500" cy="571500"/>
              <a:chOff x="6096000" y="1714500"/>
              <a:chExt cx="1333500" cy="571500"/>
            </a:xfrm>
          </p:grpSpPr>
          <p:sp>
            <p:nvSpPr>
              <p:cNvPr id="23" name="Rectangle 23"/>
              <p:cNvSpPr/>
              <p:nvPr/>
            </p:nvSpPr>
            <p:spPr>
              <a:xfrm>
                <a:off x="6096000" y="1714500"/>
                <a:ext cx="1333500" cy="571500"/>
              </a:xfrm>
              <a:prstGeom prst="roundRect">
                <a:avLst>
                  <a:gd name="adj" fmla="val 13333"/>
                </a:avLst>
              </a:prstGeom>
              <a:solidFill>
                <a:srgbClr val="0F172A"/>
              </a:solidFill>
              <a:ln w="19050">
                <a:solidFill>
                  <a:srgbClr val="10B981"/>
                </a:solidFill>
              </a:ln>
            </p:spPr>
          </p:sp>
          <p:sp>
            <p:nvSpPr>
              <p:cNvPr id="24" name="TextBox 24"/>
              <p:cNvSpPr txBox="1"/>
              <p:nvPr/>
            </p:nvSpPr>
            <p:spPr>
              <a:xfrm>
                <a:off x="6399371" y="1839278"/>
                <a:ext cx="726758" cy="213360"/>
              </a:xfrm>
              <a:prstGeom prst="rect">
                <a:avLst/>
              </a:prstGeom>
              <a:noFill/>
              <a:ln>
                <a:noFill/>
              </a:ln>
            </p:spPr>
            <p:txBody>
              <a:bodyPr wrap="none" lIns="0" tIns="0" rIns="0" bIns="0" anchor="t" anchorCtr="0">
                <a:spAutoFit/>
              </a:bodyPr>
              <a:lstStyle/>
              <a:p>
                <a:pPr algn="ctr"/>
                <a:r>
                  <a:rPr lang="zh-CN" sz="1050" dirty="0">
                    <a:solidFill>
                      <a:srgbClr val="10B981"/>
                    </a:solidFill>
                    <a:latin typeface="Arial"/>
                    <a:ea typeface="Microsoft YaHei"/>
                    <a:cs typeface="Arial"/>
                  </a:rPr>
                  <a:t>频谱图转换</a:t>
                </a:r>
              </a:p>
            </p:txBody>
          </p:sp>
          <p:sp>
            <p:nvSpPr>
              <p:cNvPr id="25" name="TextBox 25"/>
              <p:cNvSpPr txBox="1"/>
              <p:nvPr/>
            </p:nvSpPr>
            <p:spPr>
              <a:xfrm>
                <a:off x="6631303" y="2054066"/>
                <a:ext cx="262892"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STFT</a:t>
                </a:r>
              </a:p>
            </p:txBody>
          </p:sp>
        </p:grpSp>
        <p:sp>
          <p:nvSpPr>
            <p:cNvPr id="27" name="Line 27"/>
            <p:cNvSpPr/>
            <p:nvPr/>
          </p:nvSpPr>
          <p:spPr>
            <a:xfrm>
              <a:off x="7429500" y="2000250"/>
              <a:ext cx="571500" cy="9525"/>
            </a:xfrm>
            <a:custGeom>
              <a:avLst/>
              <a:gdLst/>
              <a:ahLst/>
              <a:cxnLst/>
              <a:rect l="l" t="t" r="r" b="b"/>
              <a:pathLst>
                <a:path w="571500" h="9525">
                  <a:moveTo>
                    <a:pt x="0" y="0"/>
                  </a:moveTo>
                  <a:lnTo>
                    <a:pt x="571500" y="0"/>
                  </a:lnTo>
                </a:path>
              </a:pathLst>
            </a:custGeom>
            <a:noFill/>
            <a:ln w="19050">
              <a:solidFill>
                <a:srgbClr val="64748B"/>
              </a:solidFill>
            </a:ln>
          </p:spPr>
        </p:sp>
        <p:grpSp>
          <p:nvGrpSpPr>
            <p:cNvPr id="31" name="Group 31"/>
            <p:cNvGrpSpPr/>
            <p:nvPr/>
          </p:nvGrpSpPr>
          <p:grpSpPr>
            <a:xfrm>
              <a:off x="8001000" y="1714500"/>
              <a:ext cx="1143000" cy="571500"/>
              <a:chOff x="8001000" y="1714500"/>
              <a:chExt cx="1143000" cy="571500"/>
            </a:xfrm>
          </p:grpSpPr>
          <p:sp>
            <p:nvSpPr>
              <p:cNvPr id="28" name="Rectangle 28"/>
              <p:cNvSpPr/>
              <p:nvPr/>
            </p:nvSpPr>
            <p:spPr>
              <a:xfrm>
                <a:off x="8001000" y="1714500"/>
                <a:ext cx="1143000" cy="571500"/>
              </a:xfrm>
              <a:prstGeom prst="roundRect">
                <a:avLst>
                  <a:gd name="adj" fmla="val 13333"/>
                </a:avLst>
              </a:prstGeom>
              <a:solidFill>
                <a:srgbClr val="0F172A"/>
              </a:solidFill>
              <a:ln w="19050">
                <a:solidFill>
                  <a:srgbClr val="2563EB"/>
                </a:solidFill>
              </a:ln>
            </p:spPr>
          </p:sp>
          <p:sp>
            <p:nvSpPr>
              <p:cNvPr id="29" name="TextBox 29"/>
              <p:cNvSpPr txBox="1"/>
              <p:nvPr/>
            </p:nvSpPr>
            <p:spPr>
              <a:xfrm>
                <a:off x="8345638" y="1839278"/>
                <a:ext cx="453723" cy="213360"/>
              </a:xfrm>
              <a:prstGeom prst="rect">
                <a:avLst/>
              </a:prstGeom>
              <a:noFill/>
              <a:ln>
                <a:noFill/>
              </a:ln>
            </p:spPr>
            <p:txBody>
              <a:bodyPr wrap="none" lIns="0" tIns="0" rIns="0" bIns="0" anchor="t" anchorCtr="0">
                <a:spAutoFit/>
              </a:bodyPr>
              <a:lstStyle/>
              <a:p>
                <a:pPr algn="ctr"/>
                <a:r>
                  <a:rPr lang="zh-CN" sz="1050" dirty="0">
                    <a:gradFill>
                      <a:gsLst>
                        <a:gs pos="0">
                          <a:srgbClr val="2563EB"/>
                        </a:gs>
                        <a:gs pos="100000">
                          <a:srgbClr val="8B5CF6"/>
                        </a:gs>
                      </a:gsLst>
                      <a:lin ang="0" scaled="1"/>
                    </a:gradFill>
                    <a:latin typeface="Arial"/>
                    <a:ea typeface="Microsoft YaHei"/>
                    <a:cs typeface="Arial"/>
                  </a:rPr>
                  <a:t>2D CNN</a:t>
                </a:r>
              </a:p>
            </p:txBody>
          </p:sp>
          <p:sp>
            <p:nvSpPr>
              <p:cNvPr id="30" name="TextBox 30"/>
              <p:cNvSpPr txBox="1"/>
              <p:nvPr/>
            </p:nvSpPr>
            <p:spPr>
              <a:xfrm>
                <a:off x="8291172" y="2054066"/>
                <a:ext cx="562654"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Recognition</a:t>
                </a:r>
              </a:p>
            </p:txBody>
          </p:sp>
        </p:grpSp>
        <p:sp>
          <p:nvSpPr>
            <p:cNvPr id="32" name="Line 32"/>
            <p:cNvSpPr/>
            <p:nvPr/>
          </p:nvSpPr>
          <p:spPr>
            <a:xfrm>
              <a:off x="9144000" y="2000250"/>
              <a:ext cx="571500" cy="9525"/>
            </a:xfrm>
            <a:custGeom>
              <a:avLst/>
              <a:gdLst/>
              <a:ahLst/>
              <a:cxnLst/>
              <a:rect l="l" t="t" r="r" b="b"/>
              <a:pathLst>
                <a:path w="571500" h="9525">
                  <a:moveTo>
                    <a:pt x="0" y="0"/>
                  </a:moveTo>
                  <a:lnTo>
                    <a:pt x="571500" y="0"/>
                  </a:lnTo>
                </a:path>
              </a:pathLst>
            </a:custGeom>
            <a:noFill/>
            <a:ln w="19050">
              <a:solidFill>
                <a:srgbClr val="64748B"/>
              </a:solidFill>
            </a:ln>
          </p:spPr>
        </p:sp>
        <p:grpSp>
          <p:nvGrpSpPr>
            <p:cNvPr id="36" name="Group 36"/>
            <p:cNvGrpSpPr/>
            <p:nvPr/>
          </p:nvGrpSpPr>
          <p:grpSpPr>
            <a:xfrm>
              <a:off x="9715500" y="1714500"/>
              <a:ext cx="1333500" cy="571500"/>
              <a:chOff x="9715500" y="1714500"/>
              <a:chExt cx="1333500" cy="571500"/>
            </a:xfrm>
          </p:grpSpPr>
          <p:sp>
            <p:nvSpPr>
              <p:cNvPr id="33" name="Rectangle 33"/>
              <p:cNvSpPr/>
              <p:nvPr/>
            </p:nvSpPr>
            <p:spPr>
              <a:xfrm>
                <a:off x="9715500" y="1714500"/>
                <a:ext cx="1333500" cy="571500"/>
              </a:xfrm>
              <a:prstGeom prst="roundRect">
                <a:avLst>
                  <a:gd name="adj" fmla="val 13333"/>
                </a:avLst>
              </a:prstGeom>
              <a:solidFill>
                <a:srgbClr val="0F172A"/>
              </a:solidFill>
              <a:ln w="19050">
                <a:solidFill>
                  <a:srgbClr val="8B5CF6"/>
                </a:solidFill>
              </a:ln>
            </p:spPr>
          </p:sp>
          <p:sp>
            <p:nvSpPr>
              <p:cNvPr id="34" name="TextBox 34"/>
              <p:cNvSpPr txBox="1"/>
              <p:nvPr/>
            </p:nvSpPr>
            <p:spPr>
              <a:xfrm>
                <a:off x="10088880" y="1839278"/>
                <a:ext cx="586740" cy="213360"/>
              </a:xfrm>
              <a:prstGeom prst="rect">
                <a:avLst/>
              </a:prstGeom>
              <a:noFill/>
              <a:ln>
                <a:noFill/>
              </a:ln>
            </p:spPr>
            <p:txBody>
              <a:bodyPr wrap="none" lIns="0" tIns="0" rIns="0" bIns="0" anchor="t" anchorCtr="0">
                <a:spAutoFit/>
              </a:bodyPr>
              <a:lstStyle/>
              <a:p>
                <a:pPr algn="ctr"/>
                <a:r>
                  <a:rPr lang="zh-CN" sz="1050" dirty="0">
                    <a:solidFill>
                      <a:srgbClr val="818CF8"/>
                    </a:solidFill>
                    <a:latin typeface="Arial"/>
                    <a:ea typeface="Microsoft YaHei"/>
                    <a:cs typeface="Arial"/>
                  </a:rPr>
                  <a:t>识别结果</a:t>
                </a:r>
              </a:p>
            </p:txBody>
          </p:sp>
          <p:sp>
            <p:nvSpPr>
              <p:cNvPr id="35" name="TextBox 35"/>
              <p:cNvSpPr txBox="1"/>
              <p:nvPr/>
            </p:nvSpPr>
            <p:spPr>
              <a:xfrm>
                <a:off x="10212331" y="2054066"/>
                <a:ext cx="339837" cy="126958"/>
              </a:xfrm>
              <a:prstGeom prst="rect">
                <a:avLst/>
              </a:prstGeom>
              <a:noFill/>
              <a:ln>
                <a:noFill/>
              </a:ln>
            </p:spPr>
            <p:txBody>
              <a:bodyPr wrap="none" lIns="0" tIns="0" rIns="0" bIns="0" anchor="t" anchorCtr="0">
                <a:spAutoFit/>
              </a:bodyPr>
              <a:lstStyle/>
              <a:p>
                <a:pPr algn="ctr"/>
                <a:r>
                  <a:rPr lang="zh-CN" sz="825" dirty="0">
                    <a:solidFill>
                      <a:schemeClr val="bg1">
                        <a:lumMod val="65000"/>
                      </a:schemeClr>
                    </a:solidFill>
                    <a:latin typeface="Arial"/>
                    <a:ea typeface="Microsoft YaHei"/>
                    <a:cs typeface="Arial"/>
                  </a:rPr>
                  <a:t>AM/FM</a:t>
                </a:r>
              </a:p>
            </p:txBody>
          </p:sp>
        </p:grpSp>
      </p:grpSp>
      <p:sp>
        <p:nvSpPr>
          <p:cNvPr id="38" name="TextBox 38"/>
          <p:cNvSpPr txBox="1"/>
          <p:nvPr/>
        </p:nvSpPr>
        <p:spPr>
          <a:xfrm>
            <a:off x="552450" y="2695575"/>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信号流向</a:t>
            </a:r>
          </a:p>
        </p:txBody>
      </p:sp>
      <p:sp>
        <p:nvSpPr>
          <p:cNvPr id="39" name="Rectangle 39"/>
          <p:cNvSpPr/>
          <p:nvPr/>
        </p:nvSpPr>
        <p:spPr>
          <a:xfrm>
            <a:off x="571500" y="3143250"/>
            <a:ext cx="11049000" cy="1714500"/>
          </a:xfrm>
          <a:prstGeom prst="roundRect">
            <a:avLst>
              <a:gd name="adj" fmla="val 6667"/>
            </a:avLst>
          </a:prstGeom>
          <a:solidFill>
            <a:srgbClr val="1E293B"/>
          </a:solidFill>
          <a:ln w="9525">
            <a:solidFill>
              <a:srgbClr val="334155"/>
            </a:solidFill>
          </a:ln>
        </p:spPr>
      </p:sp>
      <p:sp>
        <p:nvSpPr>
          <p:cNvPr id="40" name="Rectangle 40"/>
          <p:cNvSpPr/>
          <p:nvPr/>
        </p:nvSpPr>
        <p:spPr>
          <a:xfrm>
            <a:off x="857250" y="3381375"/>
            <a:ext cx="1905000" cy="285750"/>
          </a:xfrm>
          <a:prstGeom prst="rect">
            <a:avLst/>
          </a:prstGeom>
          <a:solidFill>
            <a:srgbClr val="E2E8F0"/>
          </a:solidFill>
          <a:ln>
            <a:noFill/>
          </a:ln>
        </p:spPr>
      </p:sp>
      <p:sp>
        <p:nvSpPr>
          <p:cNvPr id="41" name="TextBox 41"/>
          <p:cNvSpPr txBox="1"/>
          <p:nvPr/>
        </p:nvSpPr>
        <p:spPr>
          <a:xfrm>
            <a:off x="1675098" y="3458528"/>
            <a:ext cx="269304" cy="161583"/>
          </a:xfrm>
          <a:prstGeom prst="rect">
            <a:avLst/>
          </a:prstGeom>
          <a:noFill/>
          <a:ln>
            <a:noFill/>
          </a:ln>
        </p:spPr>
        <p:txBody>
          <a:bodyPr wrap="none" lIns="0" tIns="0" rIns="0" bIns="0" anchor="t" anchorCtr="0">
            <a:spAutoFit/>
          </a:bodyPr>
          <a:lstStyle/>
          <a:p>
            <a:pPr algn="ctr"/>
            <a:r>
              <a:rPr lang="zh-CN" sz="1050" b="1" dirty="0">
                <a:solidFill>
                  <a:schemeClr val="bg1">
                    <a:lumMod val="65000"/>
                  </a:schemeClr>
                </a:solidFill>
                <a:latin typeface="Arial"/>
                <a:ea typeface="Microsoft YaHei"/>
                <a:cs typeface="Arial"/>
              </a:rPr>
              <a:t>阶段</a:t>
            </a:r>
          </a:p>
        </p:txBody>
      </p:sp>
      <p:sp>
        <p:nvSpPr>
          <p:cNvPr id="42" name="Rectangle 42"/>
          <p:cNvSpPr/>
          <p:nvPr/>
        </p:nvSpPr>
        <p:spPr>
          <a:xfrm>
            <a:off x="2762250" y="3381375"/>
            <a:ext cx="3333750" cy="285750"/>
          </a:xfrm>
          <a:prstGeom prst="rect">
            <a:avLst/>
          </a:prstGeom>
          <a:solidFill>
            <a:srgbClr val="E2E8F0"/>
          </a:solidFill>
          <a:ln>
            <a:noFill/>
          </a:ln>
        </p:spPr>
      </p:sp>
      <p:sp>
        <p:nvSpPr>
          <p:cNvPr id="43" name="TextBox 43"/>
          <p:cNvSpPr txBox="1"/>
          <p:nvPr/>
        </p:nvSpPr>
        <p:spPr>
          <a:xfrm>
            <a:off x="4159820" y="3458528"/>
            <a:ext cx="538609" cy="161583"/>
          </a:xfrm>
          <a:prstGeom prst="rect">
            <a:avLst/>
          </a:prstGeom>
          <a:noFill/>
          <a:ln>
            <a:noFill/>
          </a:ln>
        </p:spPr>
        <p:txBody>
          <a:bodyPr wrap="none" lIns="0" tIns="0" rIns="0" bIns="0" anchor="t" anchorCtr="0">
            <a:spAutoFit/>
          </a:bodyPr>
          <a:lstStyle/>
          <a:p>
            <a:pPr algn="ctr"/>
            <a:r>
              <a:rPr lang="zh-CN" sz="1050" b="1" dirty="0">
                <a:solidFill>
                  <a:schemeClr val="bg1">
                    <a:lumMod val="65000"/>
                  </a:schemeClr>
                </a:solidFill>
                <a:latin typeface="Arial"/>
                <a:ea typeface="Microsoft YaHei"/>
                <a:cs typeface="Arial"/>
              </a:rPr>
              <a:t>处理内容</a:t>
            </a:r>
          </a:p>
        </p:txBody>
      </p:sp>
      <p:sp>
        <p:nvSpPr>
          <p:cNvPr id="44" name="Rectangle 44"/>
          <p:cNvSpPr/>
          <p:nvPr/>
        </p:nvSpPr>
        <p:spPr>
          <a:xfrm>
            <a:off x="6096000" y="3381375"/>
            <a:ext cx="4857750" cy="285750"/>
          </a:xfrm>
          <a:prstGeom prst="rect">
            <a:avLst/>
          </a:prstGeom>
          <a:solidFill>
            <a:srgbClr val="E2E8F0"/>
          </a:solidFill>
          <a:ln>
            <a:noFill/>
          </a:ln>
        </p:spPr>
      </p:sp>
      <p:sp>
        <p:nvSpPr>
          <p:cNvPr id="45" name="TextBox 45"/>
          <p:cNvSpPr txBox="1"/>
          <p:nvPr/>
        </p:nvSpPr>
        <p:spPr>
          <a:xfrm>
            <a:off x="8255570" y="3458528"/>
            <a:ext cx="538609" cy="161583"/>
          </a:xfrm>
          <a:prstGeom prst="rect">
            <a:avLst/>
          </a:prstGeom>
          <a:noFill/>
          <a:ln>
            <a:noFill/>
          </a:ln>
        </p:spPr>
        <p:txBody>
          <a:bodyPr wrap="none" lIns="0" tIns="0" rIns="0" bIns="0" anchor="t" anchorCtr="0">
            <a:spAutoFit/>
          </a:bodyPr>
          <a:lstStyle/>
          <a:p>
            <a:pPr algn="ctr"/>
            <a:r>
              <a:rPr lang="zh-CN" sz="1050" b="1" dirty="0">
                <a:solidFill>
                  <a:schemeClr val="bg1">
                    <a:lumMod val="65000"/>
                  </a:schemeClr>
                </a:solidFill>
                <a:latin typeface="Arial"/>
                <a:ea typeface="Microsoft YaHei"/>
                <a:cs typeface="Arial"/>
              </a:rPr>
              <a:t>输出形式</a:t>
            </a:r>
          </a:p>
        </p:txBody>
      </p:sp>
      <p:sp>
        <p:nvSpPr>
          <p:cNvPr id="46" name="TextBox 46"/>
          <p:cNvSpPr txBox="1"/>
          <p:nvPr/>
        </p:nvSpPr>
        <p:spPr>
          <a:xfrm>
            <a:off x="1537335" y="3799999"/>
            <a:ext cx="544830"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信号生成</a:t>
            </a:r>
          </a:p>
        </p:txBody>
      </p:sp>
      <p:sp>
        <p:nvSpPr>
          <p:cNvPr id="47" name="TextBox 47"/>
          <p:cNvSpPr txBox="1"/>
          <p:nvPr/>
        </p:nvSpPr>
        <p:spPr>
          <a:xfrm>
            <a:off x="3821918" y="3799999"/>
            <a:ext cx="121441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生成AM/FM调制信号</a:t>
            </a:r>
          </a:p>
        </p:txBody>
      </p:sp>
      <p:sp>
        <p:nvSpPr>
          <p:cNvPr id="48" name="TextBox 48"/>
          <p:cNvSpPr txBox="1"/>
          <p:nvPr/>
        </p:nvSpPr>
        <p:spPr>
          <a:xfrm>
            <a:off x="8197203" y="3799999"/>
            <a:ext cx="65534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1D时间序列</a:t>
            </a:r>
          </a:p>
        </p:txBody>
      </p:sp>
      <p:sp>
        <p:nvSpPr>
          <p:cNvPr id="49" name="TextBox 49"/>
          <p:cNvSpPr txBox="1"/>
          <p:nvPr/>
        </p:nvSpPr>
        <p:spPr>
          <a:xfrm>
            <a:off x="1537335" y="4180999"/>
            <a:ext cx="544830"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加噪处理</a:t>
            </a:r>
          </a:p>
        </p:txBody>
      </p:sp>
      <p:sp>
        <p:nvSpPr>
          <p:cNvPr id="50" name="TextBox 50"/>
          <p:cNvSpPr txBox="1"/>
          <p:nvPr/>
        </p:nvSpPr>
        <p:spPr>
          <a:xfrm>
            <a:off x="3961686" y="4180999"/>
            <a:ext cx="934879"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添加高斯白噪声</a:t>
            </a:r>
          </a:p>
        </p:txBody>
      </p:sp>
      <p:sp>
        <p:nvSpPr>
          <p:cNvPr id="51" name="TextBox 51"/>
          <p:cNvSpPr txBox="1"/>
          <p:nvPr/>
        </p:nvSpPr>
        <p:spPr>
          <a:xfrm>
            <a:off x="8197203" y="4180999"/>
            <a:ext cx="65534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带噪1D信号</a:t>
            </a:r>
          </a:p>
        </p:txBody>
      </p:sp>
      <p:sp>
        <p:nvSpPr>
          <p:cNvPr id="52" name="TextBox 52"/>
          <p:cNvSpPr txBox="1"/>
          <p:nvPr/>
        </p:nvSpPr>
        <p:spPr>
          <a:xfrm>
            <a:off x="1472327" y="4561999"/>
            <a:ext cx="674846"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频谱图转换</a:t>
            </a:r>
          </a:p>
        </p:txBody>
      </p:sp>
      <p:sp>
        <p:nvSpPr>
          <p:cNvPr id="53" name="TextBox 53"/>
          <p:cNvSpPr txBox="1"/>
          <p:nvPr/>
        </p:nvSpPr>
        <p:spPr>
          <a:xfrm>
            <a:off x="4013692" y="4561999"/>
            <a:ext cx="830866"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STFT时频分析</a:t>
            </a:r>
          </a:p>
        </p:txBody>
      </p:sp>
      <p:sp>
        <p:nvSpPr>
          <p:cNvPr id="54" name="TextBox 54"/>
          <p:cNvSpPr txBox="1"/>
          <p:nvPr/>
        </p:nvSpPr>
        <p:spPr>
          <a:xfrm>
            <a:off x="7758398" y="4561999"/>
            <a:ext cx="153295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2D图像 (时间×频率×功率)</a:t>
            </a:r>
          </a:p>
        </p:txBody>
      </p:sp>
      <p:sp>
        <p:nvSpPr>
          <p:cNvPr id="55" name="TextBox 55"/>
          <p:cNvSpPr txBox="1"/>
          <p:nvPr/>
        </p:nvSpPr>
        <p:spPr>
          <a:xfrm>
            <a:off x="1560088" y="4942999"/>
            <a:ext cx="49932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CNN识别</a:t>
            </a:r>
          </a:p>
        </p:txBody>
      </p:sp>
      <p:sp>
        <p:nvSpPr>
          <p:cNvPr id="56" name="TextBox 56"/>
          <p:cNvSpPr txBox="1"/>
          <p:nvPr/>
        </p:nvSpPr>
        <p:spPr>
          <a:xfrm>
            <a:off x="3961686" y="4942999"/>
            <a:ext cx="934879"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特征提取与分类</a:t>
            </a:r>
          </a:p>
        </p:txBody>
      </p:sp>
      <p:sp>
        <p:nvSpPr>
          <p:cNvPr id="57" name="TextBox 57"/>
          <p:cNvSpPr txBox="1"/>
          <p:nvPr/>
        </p:nvSpPr>
        <p:spPr>
          <a:xfrm>
            <a:off x="8177701" y="4942999"/>
            <a:ext cx="694349"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Arial"/>
                <a:ea typeface="Microsoft YaHei"/>
                <a:cs typeface="Arial"/>
              </a:rPr>
              <a:t>AM/FM类别</a:t>
            </a:r>
          </a:p>
        </p:txBody>
      </p:sp>
      <p:sp>
        <p:nvSpPr>
          <p:cNvPr id="58" name="TextBox 58"/>
          <p:cNvSpPr txBox="1"/>
          <p:nvPr/>
        </p:nvSpPr>
        <p:spPr>
          <a:xfrm>
            <a:off x="552450" y="5267325"/>
            <a:ext cx="151878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2D CNN模型架构</a:t>
            </a:r>
          </a:p>
        </p:txBody>
      </p:sp>
      <p:sp>
        <p:nvSpPr>
          <p:cNvPr id="59" name="Rectangle 59"/>
          <p:cNvSpPr/>
          <p:nvPr/>
        </p:nvSpPr>
        <p:spPr>
          <a:xfrm>
            <a:off x="571500" y="5715000"/>
            <a:ext cx="11049000" cy="762000"/>
          </a:xfrm>
          <a:prstGeom prst="roundRect">
            <a:avLst>
              <a:gd name="adj" fmla="val 15000"/>
            </a:avLst>
          </a:prstGeom>
          <a:solidFill>
            <a:srgbClr val="1E293B"/>
          </a:solidFill>
          <a:ln w="9525">
            <a:solidFill>
              <a:srgbClr val="334155"/>
            </a:solidFill>
          </a:ln>
        </p:spPr>
      </p:sp>
      <p:sp>
        <p:nvSpPr>
          <p:cNvPr id="60" name="TextBox 60"/>
          <p:cNvSpPr txBox="1"/>
          <p:nvPr/>
        </p:nvSpPr>
        <p:spPr>
          <a:xfrm>
            <a:off x="845820" y="5855970"/>
            <a:ext cx="9925794" cy="276999"/>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输入: 频谱图 [1, 17, 61] (通道, 频率, 时间) → Conv2d(32) + ReLU + MaxPool2d → Conv2d(64) + ReLU + MaxPool2d → Conv2d(128) + ReLU + MaxPool2d → Conv2d(256) + </a:t>
            </a:r>
            <a:endParaRPr lang="en-US" altLang="zh-CN" sz="900" dirty="0">
              <a:solidFill>
                <a:srgbClr val="CBD5E1"/>
              </a:solidFill>
              <a:latin typeface="Consolas"/>
              <a:ea typeface="Microsoft YaHei"/>
              <a:cs typeface="Consolas"/>
            </a:endParaRPr>
          </a:p>
          <a:p>
            <a:pPr algn="l"/>
            <a:r>
              <a:rPr lang="zh-CN" sz="900" dirty="0">
                <a:solidFill>
                  <a:srgbClr val="CBD5E1"/>
                </a:solidFill>
                <a:latin typeface="Consolas"/>
                <a:ea typeface="Microsoft YaHei"/>
                <a:cs typeface="Consolas"/>
              </a:rPr>
              <a:t>ReLU + AdaptiveAvgPool2d → Flatten → Linear(512) → Dropout → Linear(2) → 输出: [AM概率, FM概率]</a:t>
            </a:r>
          </a:p>
        </p:txBody>
      </p:sp>
      <p:sp>
        <p:nvSpPr>
          <p:cNvPr id="61" name="TextBox 61"/>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8234401"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STFT 原理详解 Short-Time Fourier Transform</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2667000"/>
          </a:xfrm>
          <a:prstGeom prst="roundRect">
            <a:avLst>
              <a:gd name="adj" fmla="val 4286"/>
            </a:avLst>
          </a:prstGeom>
          <a:solidFill>
            <a:srgbClr val="1E293B"/>
          </a:solidFill>
          <a:ln w="9525">
            <a:solidFill>
              <a:srgbClr val="334155"/>
            </a:solidFill>
          </a:ln>
        </p:spPr>
      </p:sp>
      <p:sp>
        <p:nvSpPr>
          <p:cNvPr id="7" name="TextBox 7"/>
          <p:cNvSpPr txBox="1"/>
          <p:nvPr/>
        </p:nvSpPr>
        <p:spPr>
          <a:xfrm>
            <a:off x="838200" y="1219200"/>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核心思想</a:t>
            </a:r>
          </a:p>
        </p:txBody>
      </p:sp>
      <p:sp>
        <p:nvSpPr>
          <p:cNvPr id="8" name="TextBox 8"/>
          <p:cNvSpPr txBox="1"/>
          <p:nvPr/>
        </p:nvSpPr>
        <p:spPr>
          <a:xfrm>
            <a:off x="842962" y="1593056"/>
            <a:ext cx="2218849" cy="228600"/>
          </a:xfrm>
          <a:prstGeom prst="rect">
            <a:avLst/>
          </a:prstGeom>
          <a:noFill/>
          <a:ln>
            <a:noFill/>
          </a:ln>
        </p:spPr>
        <p:txBody>
          <a:bodyPr wrap="none" lIns="0" tIns="0" rIns="0" bIns="0" anchor="t" anchorCtr="0">
            <a:spAutoFit/>
          </a:bodyPr>
          <a:lstStyle/>
          <a:p>
            <a:pPr algn="l"/>
            <a:r>
              <a:rPr lang="zh-CN" sz="1125" dirty="0">
                <a:solidFill>
                  <a:srgbClr val="CBD5E1"/>
                </a:solidFill>
                <a:latin typeface="Arial"/>
                <a:ea typeface="Microsoft YaHei"/>
                <a:cs typeface="Arial"/>
              </a:rPr>
              <a:t>STFT 的基本思想是"分段分析"：</a:t>
            </a:r>
          </a:p>
        </p:txBody>
      </p:sp>
      <p:sp>
        <p:nvSpPr>
          <p:cNvPr id="9" name="TextBox 9"/>
          <p:cNvSpPr txBox="1"/>
          <p:nvPr/>
        </p:nvSpPr>
        <p:spPr>
          <a:xfrm>
            <a:off x="843915" y="1886902"/>
            <a:ext cx="230351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1. 使用滑动窗口将长信号分割成短片段</a:t>
            </a:r>
          </a:p>
        </p:txBody>
      </p:sp>
      <p:sp>
        <p:nvSpPr>
          <p:cNvPr id="10" name="TextBox 10"/>
          <p:cNvSpPr txBox="1"/>
          <p:nvPr/>
        </p:nvSpPr>
        <p:spPr>
          <a:xfrm>
            <a:off x="843915" y="2172652"/>
            <a:ext cx="272029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2. 对每个短片段计算 FFT，得到该时刻的频谱</a:t>
            </a:r>
          </a:p>
        </p:txBody>
      </p:sp>
      <p:sp>
        <p:nvSpPr>
          <p:cNvPr id="11" name="TextBox 11"/>
          <p:cNvSpPr txBox="1"/>
          <p:nvPr/>
        </p:nvSpPr>
        <p:spPr>
          <a:xfrm>
            <a:off x="843915" y="2458402"/>
            <a:ext cx="2438168"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3. 沿时间轴滑动窗口，得到时频联合表示</a:t>
            </a:r>
          </a:p>
        </p:txBody>
      </p:sp>
      <p:sp>
        <p:nvSpPr>
          <p:cNvPr id="12" name="TextBox 12"/>
          <p:cNvSpPr txBox="1"/>
          <p:nvPr/>
        </p:nvSpPr>
        <p:spPr>
          <a:xfrm>
            <a:off x="843915" y="2744152"/>
            <a:ext cx="2919069"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4. 最终形成三维时频矩阵（时间 × 频率 × 幅度）</a:t>
            </a:r>
          </a:p>
        </p:txBody>
      </p:sp>
      <p:sp>
        <p:nvSpPr>
          <p:cNvPr id="13" name="Rectangle 13"/>
          <p:cNvSpPr/>
          <p:nvPr/>
        </p:nvSpPr>
        <p:spPr>
          <a:xfrm>
            <a:off x="571500" y="3905250"/>
            <a:ext cx="11049000" cy="1143000"/>
          </a:xfrm>
          <a:prstGeom prst="roundRect">
            <a:avLst>
              <a:gd name="adj" fmla="val 10000"/>
            </a:avLst>
          </a:prstGeom>
          <a:solidFill>
            <a:srgbClr val="1E293B"/>
          </a:solidFill>
          <a:ln w="9525">
            <a:solidFill>
              <a:srgbClr val="334155"/>
            </a:solidFill>
          </a:ln>
        </p:spPr>
      </p:sp>
      <p:sp>
        <p:nvSpPr>
          <p:cNvPr id="14" name="TextBox 14"/>
          <p:cNvSpPr txBox="1"/>
          <p:nvPr/>
        </p:nvSpPr>
        <p:spPr>
          <a:xfrm>
            <a:off x="838200" y="4076700"/>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数学公式</a:t>
            </a:r>
          </a:p>
        </p:txBody>
      </p:sp>
      <mc:AlternateContent xmlns:mc="http://schemas.openxmlformats.org/markup-compatibility/2006" xmlns:a14="http://schemas.microsoft.com/office/drawing/2010/main">
        <mc:Choice Requires="a14">
          <p:sp>
            <p:nvSpPr>
              <p:cNvPr id="15" name="TextBox 15"/>
              <p:cNvSpPr txBox="1"/>
              <p:nvPr/>
            </p:nvSpPr>
            <p:spPr>
              <a:xfrm>
                <a:off x="838200" y="4410075"/>
                <a:ext cx="4131387" cy="755271"/>
              </a:xfrm>
              <a:prstGeom prst="rect">
                <a:avLst/>
              </a:prstGeom>
              <a:noFill/>
              <a:ln>
                <a:noFill/>
              </a:ln>
            </p:spPr>
            <p:txBody>
              <a:bodyPr wrap="none" lIns="0" tIns="0" rIns="0" bIns="0" anchor="t" anchorCtr="0">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chemeClr val="bg1">
                              <a:lumMod val="65000"/>
                            </a:schemeClr>
                          </a:solidFill>
                          <a:latin typeface="Cambria Math" panose="02040503050406030204" pitchFamily="18" charset="0"/>
                        </a:rPr>
                        <m:t>𝑆</m:t>
                      </m:r>
                      <m:d>
                        <m:dPr>
                          <m:ctrlPr>
                            <a:rPr lang="en-US" altLang="zh-CN" i="1" dirty="0" smtClean="0">
                              <a:solidFill>
                                <a:schemeClr val="bg1">
                                  <a:lumMod val="65000"/>
                                </a:schemeClr>
                              </a:solidFill>
                              <a:latin typeface="Cambria Math" panose="02040503050406030204" pitchFamily="18" charset="0"/>
                            </a:rPr>
                          </m:ctrlPr>
                        </m:dPr>
                        <m:e>
                          <m:r>
                            <a:rPr lang="en-US" altLang="zh-CN" i="1" dirty="0" smtClean="0">
                              <a:solidFill>
                                <a:schemeClr val="bg1">
                                  <a:lumMod val="65000"/>
                                </a:schemeClr>
                              </a:solidFill>
                              <a:latin typeface="Cambria Math" panose="02040503050406030204" pitchFamily="18" charset="0"/>
                            </a:rPr>
                            <m:t>𝑛</m:t>
                          </m:r>
                          <m:r>
                            <a:rPr lang="en-US" altLang="zh-CN" i="1" dirty="0" smtClean="0">
                              <a:solidFill>
                                <a:schemeClr val="bg1">
                                  <a:lumMod val="65000"/>
                                </a:schemeClr>
                              </a:solidFill>
                              <a:latin typeface="Cambria Math" panose="02040503050406030204" pitchFamily="18" charset="0"/>
                            </a:rPr>
                            <m:t>,</m:t>
                          </m:r>
                          <m:r>
                            <a:rPr lang="en-US" altLang="zh-CN" i="1" dirty="0" smtClean="0">
                              <a:solidFill>
                                <a:schemeClr val="bg1">
                                  <a:lumMod val="65000"/>
                                </a:schemeClr>
                              </a:solidFill>
                              <a:latin typeface="Cambria Math" panose="02040503050406030204" pitchFamily="18" charset="0"/>
                            </a:rPr>
                            <m:t>𝜔</m:t>
                          </m:r>
                        </m:e>
                      </m:d>
                      <m:r>
                        <a:rPr lang="en-US" altLang="zh-CN" i="1" dirty="0" smtClean="0">
                          <a:solidFill>
                            <a:schemeClr val="bg1">
                              <a:lumMod val="65000"/>
                            </a:schemeClr>
                          </a:solidFill>
                          <a:latin typeface="Cambria Math" panose="02040503050406030204" pitchFamily="18" charset="0"/>
                        </a:rPr>
                        <m:t>=</m:t>
                      </m:r>
                      <m:nary>
                        <m:naryPr>
                          <m:chr m:val="∑"/>
                          <m:ctrlPr>
                            <a:rPr lang="en-US" altLang="zh-CN" i="1" dirty="0" smtClean="0">
                              <a:solidFill>
                                <a:schemeClr val="bg1">
                                  <a:lumMod val="65000"/>
                                </a:schemeClr>
                              </a:solidFill>
                              <a:latin typeface="Cambria Math" panose="02040503050406030204" pitchFamily="18" charset="0"/>
                            </a:rPr>
                          </m:ctrlPr>
                        </m:naryPr>
                        <m:sub>
                          <m:r>
                            <a:rPr lang="en-US" altLang="zh-CN" i="1" dirty="0" smtClean="0">
                              <a:solidFill>
                                <a:schemeClr val="bg1">
                                  <a:lumMod val="65000"/>
                                </a:schemeClr>
                              </a:solidFill>
                              <a:latin typeface="Cambria Math" panose="02040503050406030204" pitchFamily="18" charset="0"/>
                            </a:rPr>
                            <m:t>𝑚</m:t>
                          </m:r>
                          <m:r>
                            <a:rPr lang="en-US" altLang="zh-CN" i="1" dirty="0" smtClean="0">
                              <a:solidFill>
                                <a:schemeClr val="bg1">
                                  <a:lumMod val="65000"/>
                                </a:schemeClr>
                              </a:solidFill>
                              <a:latin typeface="Cambria Math" panose="02040503050406030204" pitchFamily="18" charset="0"/>
                            </a:rPr>
                            <m:t>=−∞</m:t>
                          </m:r>
                        </m:sub>
                        <m:sup>
                          <m:r>
                            <a:rPr lang="en-US" altLang="zh-CN" i="1" dirty="0">
                              <a:solidFill>
                                <a:schemeClr val="bg1">
                                  <a:lumMod val="65000"/>
                                </a:schemeClr>
                              </a:solidFill>
                              <a:latin typeface="Cambria Math" panose="02040503050406030204" pitchFamily="18" charset="0"/>
                            </a:rPr>
                            <m:t>∞</m:t>
                          </m:r>
                        </m:sup>
                        <m:e>
                          <m:r>
                            <a:rPr lang="en-US" altLang="zh-CN" i="1" dirty="0">
                              <a:solidFill>
                                <a:schemeClr val="bg1">
                                  <a:lumMod val="65000"/>
                                </a:schemeClr>
                              </a:solidFill>
                              <a:latin typeface="Cambria Math" panose="02040503050406030204" pitchFamily="18" charset="0"/>
                            </a:rPr>
                            <m:t>𝑥</m:t>
                          </m:r>
                          <m:d>
                            <m:dPr>
                              <m:ctrlPr>
                                <a:rPr lang="en-US" altLang="zh-CN" i="1" dirty="0">
                                  <a:solidFill>
                                    <a:schemeClr val="bg1">
                                      <a:lumMod val="65000"/>
                                    </a:schemeClr>
                                  </a:solidFill>
                                  <a:latin typeface="Cambria Math" panose="02040503050406030204" pitchFamily="18" charset="0"/>
                                </a:rPr>
                              </m:ctrlPr>
                            </m:dPr>
                            <m:e>
                              <m:r>
                                <a:rPr lang="en-US" altLang="zh-CN" i="1" dirty="0">
                                  <a:solidFill>
                                    <a:schemeClr val="bg1">
                                      <a:lumMod val="65000"/>
                                    </a:schemeClr>
                                  </a:solidFill>
                                  <a:latin typeface="Cambria Math" panose="02040503050406030204" pitchFamily="18" charset="0"/>
                                </a:rPr>
                                <m:t>𝑚</m:t>
                              </m:r>
                            </m:e>
                          </m:d>
                        </m:e>
                      </m:nary>
                      <m:r>
                        <a:rPr lang="en-US" altLang="zh-CN" i="1" dirty="0">
                          <a:solidFill>
                            <a:schemeClr val="bg1">
                              <a:lumMod val="65000"/>
                            </a:schemeClr>
                          </a:solidFill>
                          <a:latin typeface="Cambria Math" panose="02040503050406030204" pitchFamily="18" charset="0"/>
                        </a:rPr>
                        <m:t>⋅</m:t>
                      </m:r>
                      <m:r>
                        <a:rPr lang="en-US" altLang="zh-CN" i="1" dirty="0">
                          <a:solidFill>
                            <a:schemeClr val="bg1">
                              <a:lumMod val="65000"/>
                            </a:schemeClr>
                          </a:solidFill>
                          <a:latin typeface="Cambria Math" panose="02040503050406030204" pitchFamily="18" charset="0"/>
                        </a:rPr>
                        <m:t>𝑤</m:t>
                      </m:r>
                      <m:d>
                        <m:dPr>
                          <m:ctrlPr>
                            <a:rPr lang="en-US" altLang="zh-CN" i="1" dirty="0">
                              <a:solidFill>
                                <a:schemeClr val="bg1">
                                  <a:lumMod val="65000"/>
                                </a:schemeClr>
                              </a:solidFill>
                              <a:latin typeface="Cambria Math" panose="02040503050406030204" pitchFamily="18" charset="0"/>
                            </a:rPr>
                          </m:ctrlPr>
                        </m:dPr>
                        <m:e>
                          <m:r>
                            <a:rPr lang="en-US" altLang="zh-CN" i="1" dirty="0">
                              <a:solidFill>
                                <a:schemeClr val="bg1">
                                  <a:lumMod val="65000"/>
                                </a:schemeClr>
                              </a:solidFill>
                              <a:latin typeface="Cambria Math" panose="02040503050406030204" pitchFamily="18" charset="0"/>
                            </a:rPr>
                            <m:t>𝑛</m:t>
                          </m:r>
                          <m:r>
                            <a:rPr lang="en-US" altLang="zh-CN" i="1" dirty="0">
                              <a:solidFill>
                                <a:schemeClr val="bg1">
                                  <a:lumMod val="65000"/>
                                </a:schemeClr>
                              </a:solidFill>
                              <a:latin typeface="Cambria Math" panose="02040503050406030204" pitchFamily="18" charset="0"/>
                            </a:rPr>
                            <m:t>−</m:t>
                          </m:r>
                          <m:r>
                            <a:rPr lang="en-US" altLang="zh-CN" i="1" dirty="0">
                              <a:solidFill>
                                <a:schemeClr val="bg1">
                                  <a:lumMod val="65000"/>
                                </a:schemeClr>
                              </a:solidFill>
                              <a:latin typeface="Cambria Math" panose="02040503050406030204" pitchFamily="18" charset="0"/>
                            </a:rPr>
                            <m:t>𝑚</m:t>
                          </m:r>
                        </m:e>
                      </m:d>
                      <m:r>
                        <a:rPr lang="en-US" altLang="zh-CN" i="1" dirty="0">
                          <a:solidFill>
                            <a:schemeClr val="bg1">
                              <a:lumMod val="65000"/>
                            </a:schemeClr>
                          </a:solidFill>
                          <a:latin typeface="Cambria Math" panose="02040503050406030204" pitchFamily="18" charset="0"/>
                        </a:rPr>
                        <m:t>⋅</m:t>
                      </m:r>
                      <m:sSup>
                        <m:sSupPr>
                          <m:ctrlPr>
                            <a:rPr lang="en-US" altLang="zh-CN" i="1" dirty="0">
                              <a:solidFill>
                                <a:schemeClr val="bg1">
                                  <a:lumMod val="65000"/>
                                </a:schemeClr>
                              </a:solidFill>
                              <a:latin typeface="Cambria Math" panose="02040503050406030204" pitchFamily="18" charset="0"/>
                            </a:rPr>
                          </m:ctrlPr>
                        </m:sSupPr>
                        <m:e>
                          <m:r>
                            <a:rPr lang="en-US" altLang="zh-CN" i="1" dirty="0">
                              <a:solidFill>
                                <a:schemeClr val="bg1">
                                  <a:lumMod val="65000"/>
                                </a:schemeClr>
                              </a:solidFill>
                              <a:latin typeface="Cambria Math" panose="02040503050406030204" pitchFamily="18" charset="0"/>
                            </a:rPr>
                            <m:t>𝑒</m:t>
                          </m:r>
                        </m:e>
                        <m:sup>
                          <m:r>
                            <a:rPr lang="en-US" altLang="zh-CN" i="1" dirty="0">
                              <a:solidFill>
                                <a:schemeClr val="bg1">
                                  <a:lumMod val="65000"/>
                                </a:schemeClr>
                              </a:solidFill>
                              <a:latin typeface="Cambria Math" panose="02040503050406030204" pitchFamily="18" charset="0"/>
                            </a:rPr>
                            <m:t>−</m:t>
                          </m:r>
                          <m:r>
                            <a:rPr lang="en-US" altLang="zh-CN" i="1" dirty="0">
                              <a:solidFill>
                                <a:schemeClr val="bg1">
                                  <a:lumMod val="65000"/>
                                </a:schemeClr>
                              </a:solidFill>
                              <a:latin typeface="Cambria Math" panose="02040503050406030204" pitchFamily="18" charset="0"/>
                            </a:rPr>
                            <m:t>𝑗</m:t>
                          </m:r>
                          <m:r>
                            <a:rPr lang="en-US" altLang="zh-CN" i="1" dirty="0">
                              <a:solidFill>
                                <a:schemeClr val="bg1">
                                  <a:lumMod val="65000"/>
                                </a:schemeClr>
                              </a:solidFill>
                              <a:latin typeface="Cambria Math" panose="02040503050406030204" pitchFamily="18" charset="0"/>
                            </a:rPr>
                            <m:t>𝜔</m:t>
                          </m:r>
                          <m:r>
                            <a:rPr lang="en-US" altLang="zh-CN" i="1" dirty="0">
                              <a:solidFill>
                                <a:schemeClr val="bg1">
                                  <a:lumMod val="65000"/>
                                </a:schemeClr>
                              </a:solidFill>
                              <a:latin typeface="Cambria Math" panose="02040503050406030204" pitchFamily="18" charset="0"/>
                            </a:rPr>
                            <m:t>𝑚</m:t>
                          </m:r>
                        </m:sup>
                      </m:sSup>
                    </m:oMath>
                  </m:oMathPara>
                </a14:m>
                <a:endParaRPr lang="zh-CN" sz="1500" dirty="0">
                  <a:solidFill>
                    <a:schemeClr val="bg1">
                      <a:lumMod val="65000"/>
                    </a:schemeClr>
                  </a:solidFill>
                  <a:latin typeface="Cambria Math"/>
                  <a:ea typeface="Microsoft YaHei"/>
                  <a:cs typeface="Cambria Math"/>
                </a:endParaRPr>
              </a:p>
            </p:txBody>
          </p:sp>
        </mc:Choice>
        <mc:Fallback xmlns="">
          <p:sp>
            <p:nvSpPr>
              <p:cNvPr id="15" name="TextBox 15"/>
              <p:cNvSpPr txBox="1">
                <a:spLocks noRot="1" noChangeAspect="1" noMove="1" noResize="1" noEditPoints="1" noAdjustHandles="1" noChangeArrowheads="1" noChangeShapeType="1" noTextEdit="1"/>
              </p:cNvSpPr>
              <p:nvPr/>
            </p:nvSpPr>
            <p:spPr>
              <a:xfrm>
                <a:off x="838200" y="4410075"/>
                <a:ext cx="4131387" cy="755271"/>
              </a:xfrm>
              <a:prstGeom prst="rect">
                <a:avLst/>
              </a:prstGeom>
              <a:blipFill>
                <a:blip r:embed="rId2"/>
                <a:stretch>
                  <a:fillRect/>
                </a:stretch>
              </a:blipFill>
              <a:ln>
                <a:noFill/>
              </a:ln>
            </p:spPr>
            <p:txBody>
              <a:bodyPr/>
              <a:lstStyle/>
              <a:p>
                <a:r>
                  <a:rPr lang="zh-CN" altLang="en-US">
                    <a:noFill/>
                  </a:rPr>
                  <a:t> </a:t>
                </a:r>
              </a:p>
            </p:txBody>
          </p:sp>
        </mc:Fallback>
      </mc:AlternateContent>
      <p:sp>
        <p:nvSpPr>
          <p:cNvPr id="16" name="TextBox 16"/>
          <p:cNvSpPr txBox="1"/>
          <p:nvPr/>
        </p:nvSpPr>
        <p:spPr>
          <a:xfrm flipH="1">
            <a:off x="5589175" y="4792028"/>
            <a:ext cx="4970670" cy="161583"/>
          </a:xfrm>
          <a:prstGeom prst="rect">
            <a:avLst/>
          </a:prstGeom>
          <a:noFill/>
          <a:ln>
            <a:noFill/>
          </a:ln>
        </p:spPr>
        <p:txBody>
          <a:bodyPr wrap="square" lIns="0" tIns="0" rIns="0" bIns="0" anchor="t" anchorCtr="0">
            <a:spAutoFit/>
          </a:bodyPr>
          <a:lstStyle/>
          <a:p>
            <a:pPr algn="l"/>
            <a:r>
              <a:rPr lang="zh-CN" sz="1050" dirty="0">
                <a:solidFill>
                  <a:schemeClr val="bg1">
                    <a:lumMod val="65000"/>
                  </a:schemeClr>
                </a:solidFill>
                <a:latin typeface="Arial"/>
                <a:ea typeface="Microsoft YaHei"/>
                <a:cs typeface="Arial"/>
              </a:rPr>
              <a:t>其中 w(n) 是窗函数（常用汉明窗或汉宁窗），n 是时间帧索引，ω 是角频率</a:t>
            </a:r>
          </a:p>
        </p:txBody>
      </p:sp>
      <p:sp>
        <p:nvSpPr>
          <p:cNvPr id="17" name="Rectangle 17"/>
          <p:cNvSpPr/>
          <p:nvPr/>
        </p:nvSpPr>
        <p:spPr>
          <a:xfrm>
            <a:off x="571500" y="5238750"/>
            <a:ext cx="11049000" cy="1238250"/>
          </a:xfrm>
          <a:prstGeom prst="roundRect">
            <a:avLst>
              <a:gd name="adj" fmla="val 9231"/>
            </a:avLst>
          </a:prstGeom>
          <a:solidFill>
            <a:srgbClr val="1E293B"/>
          </a:solidFill>
          <a:ln w="9525">
            <a:solidFill>
              <a:srgbClr val="334155"/>
            </a:solidFill>
          </a:ln>
        </p:spPr>
      </p:sp>
      <p:sp>
        <p:nvSpPr>
          <p:cNvPr id="18" name="TextBox 18"/>
          <p:cNvSpPr txBox="1"/>
          <p:nvPr/>
        </p:nvSpPr>
        <p:spPr>
          <a:xfrm>
            <a:off x="838200" y="5410200"/>
            <a:ext cx="1508284"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时频分辨率权衡</a:t>
            </a:r>
          </a:p>
        </p:txBody>
      </p:sp>
      <p:grpSp>
        <p:nvGrpSpPr>
          <p:cNvPr id="22" name="Group 22"/>
          <p:cNvGrpSpPr/>
          <p:nvPr/>
        </p:nvGrpSpPr>
        <p:grpSpPr>
          <a:xfrm>
            <a:off x="857250" y="5810250"/>
            <a:ext cx="3333750" cy="571500"/>
            <a:chOff x="857250" y="5810250"/>
            <a:chExt cx="3333750" cy="571500"/>
          </a:xfrm>
        </p:grpSpPr>
        <p:sp>
          <p:nvSpPr>
            <p:cNvPr id="19" name="Rectangle 19"/>
            <p:cNvSpPr/>
            <p:nvPr/>
          </p:nvSpPr>
          <p:spPr>
            <a:xfrm>
              <a:off x="857250" y="5810250"/>
              <a:ext cx="3333750" cy="571500"/>
            </a:xfrm>
            <a:prstGeom prst="roundRect">
              <a:avLst>
                <a:gd name="adj" fmla="val 13333"/>
              </a:avLst>
            </a:prstGeom>
            <a:solidFill>
              <a:srgbClr val="0F172A"/>
            </a:solidFill>
            <a:ln w="19050">
              <a:solidFill>
                <a:srgbClr val="2563EB"/>
              </a:solidFill>
            </a:ln>
          </p:spPr>
        </p:sp>
        <p:sp>
          <p:nvSpPr>
            <p:cNvPr id="20" name="TextBox 20"/>
            <p:cNvSpPr txBox="1"/>
            <p:nvPr/>
          </p:nvSpPr>
          <p:spPr>
            <a:xfrm>
              <a:off x="2290262" y="5935028"/>
              <a:ext cx="467725" cy="213360"/>
            </a:xfrm>
            <a:prstGeom prst="rect">
              <a:avLst/>
            </a:prstGeom>
            <a:noFill/>
            <a:ln>
              <a:noFill/>
            </a:ln>
          </p:spPr>
          <p:txBody>
            <a:bodyPr wrap="none" lIns="0" tIns="0" rIns="0" bIns="0" anchor="t" anchorCtr="0">
              <a:spAutoFit/>
            </a:bodyPr>
            <a:lstStyle/>
            <a:p>
              <a:pPr algn="ctr"/>
              <a:r>
                <a:rPr lang="zh-CN" sz="1050" b="1" dirty="0">
                  <a:gradFill>
                    <a:gsLst>
                      <a:gs pos="0">
                        <a:srgbClr val="2563EB"/>
                      </a:gs>
                      <a:gs pos="100000">
                        <a:srgbClr val="8B5CF6"/>
                      </a:gs>
                    </a:gsLst>
                    <a:lin ang="0" scaled="1"/>
                  </a:gradFill>
                  <a:latin typeface="Arial"/>
                  <a:ea typeface="Microsoft YaHei"/>
                  <a:cs typeface="Arial"/>
                </a:rPr>
                <a:t>短窗口</a:t>
              </a:r>
            </a:p>
          </p:txBody>
        </p:sp>
        <p:sp>
          <p:nvSpPr>
            <p:cNvPr id="21" name="TextBox 21"/>
            <p:cNvSpPr txBox="1"/>
            <p:nvPr/>
          </p:nvSpPr>
          <p:spPr>
            <a:xfrm>
              <a:off x="1783537" y="6141720"/>
              <a:ext cx="1481175"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高时间分辨率 / 低频率分辨率</a:t>
              </a:r>
            </a:p>
          </p:txBody>
        </p:sp>
      </p:grpSp>
      <p:grpSp>
        <p:nvGrpSpPr>
          <p:cNvPr id="26" name="Group 26"/>
          <p:cNvGrpSpPr/>
          <p:nvPr/>
        </p:nvGrpSpPr>
        <p:grpSpPr>
          <a:xfrm>
            <a:off x="4429125" y="5810250"/>
            <a:ext cx="3333750" cy="571500"/>
            <a:chOff x="4429125" y="5810250"/>
            <a:chExt cx="3333750" cy="571500"/>
          </a:xfrm>
        </p:grpSpPr>
        <p:sp>
          <p:nvSpPr>
            <p:cNvPr id="23" name="Rectangle 23"/>
            <p:cNvSpPr/>
            <p:nvPr/>
          </p:nvSpPr>
          <p:spPr>
            <a:xfrm>
              <a:off x="4429125" y="5810250"/>
              <a:ext cx="3333750" cy="571500"/>
            </a:xfrm>
            <a:prstGeom prst="roundRect">
              <a:avLst>
                <a:gd name="adj" fmla="val 13333"/>
              </a:avLst>
            </a:prstGeom>
            <a:solidFill>
              <a:srgbClr val="0F172A"/>
            </a:solidFill>
            <a:ln w="19050">
              <a:solidFill>
                <a:srgbClr val="8B5CF6"/>
              </a:solidFill>
            </a:ln>
          </p:spPr>
        </p:sp>
        <p:sp>
          <p:nvSpPr>
            <p:cNvPr id="24" name="TextBox 24"/>
            <p:cNvSpPr txBox="1"/>
            <p:nvPr/>
          </p:nvSpPr>
          <p:spPr>
            <a:xfrm>
              <a:off x="5862137" y="5935028"/>
              <a:ext cx="467725" cy="213360"/>
            </a:xfrm>
            <a:prstGeom prst="rect">
              <a:avLst/>
            </a:prstGeom>
            <a:noFill/>
            <a:ln>
              <a:noFill/>
            </a:ln>
          </p:spPr>
          <p:txBody>
            <a:bodyPr wrap="none" lIns="0" tIns="0" rIns="0" bIns="0" anchor="t" anchorCtr="0">
              <a:spAutoFit/>
            </a:bodyPr>
            <a:lstStyle/>
            <a:p>
              <a:pPr algn="ctr"/>
              <a:r>
                <a:rPr lang="zh-CN" sz="1050" b="1" dirty="0">
                  <a:solidFill>
                    <a:srgbClr val="818CF8"/>
                  </a:solidFill>
                  <a:latin typeface="Arial"/>
                  <a:ea typeface="Microsoft YaHei"/>
                  <a:cs typeface="Arial"/>
                </a:rPr>
                <a:t>长窗口</a:t>
              </a:r>
            </a:p>
          </p:txBody>
        </p:sp>
        <p:sp>
          <p:nvSpPr>
            <p:cNvPr id="25" name="TextBox 25"/>
            <p:cNvSpPr txBox="1"/>
            <p:nvPr/>
          </p:nvSpPr>
          <p:spPr>
            <a:xfrm>
              <a:off x="5355412" y="6141720"/>
              <a:ext cx="1481175"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低时间分辨率 / 高频率分辨率</a:t>
              </a:r>
            </a:p>
          </p:txBody>
        </p:sp>
      </p:grpSp>
      <p:grpSp>
        <p:nvGrpSpPr>
          <p:cNvPr id="30" name="Group 30"/>
          <p:cNvGrpSpPr/>
          <p:nvPr/>
        </p:nvGrpSpPr>
        <p:grpSpPr>
          <a:xfrm>
            <a:off x="8001000" y="5810250"/>
            <a:ext cx="3333750" cy="571500"/>
            <a:chOff x="8001000" y="5810250"/>
            <a:chExt cx="3333750" cy="571500"/>
          </a:xfrm>
        </p:grpSpPr>
        <p:sp>
          <p:nvSpPr>
            <p:cNvPr id="27" name="Rectangle 27"/>
            <p:cNvSpPr/>
            <p:nvPr/>
          </p:nvSpPr>
          <p:spPr>
            <a:xfrm>
              <a:off x="8001000" y="5810250"/>
              <a:ext cx="3333750" cy="571500"/>
            </a:xfrm>
            <a:prstGeom prst="roundRect">
              <a:avLst>
                <a:gd name="adj" fmla="val 13333"/>
              </a:avLst>
            </a:prstGeom>
            <a:solidFill>
              <a:srgbClr val="0F172A"/>
            </a:solidFill>
            <a:ln w="19050">
              <a:solidFill>
                <a:srgbClr val="10B981"/>
              </a:solidFill>
            </a:ln>
          </p:spPr>
        </p:sp>
        <p:sp>
          <p:nvSpPr>
            <p:cNvPr id="28" name="TextBox 28"/>
            <p:cNvSpPr txBox="1"/>
            <p:nvPr/>
          </p:nvSpPr>
          <p:spPr>
            <a:xfrm>
              <a:off x="9286994" y="5935028"/>
              <a:ext cx="761762"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a:ea typeface="Microsoft YaHei"/>
                  <a:cs typeface="Arial"/>
                </a:rPr>
                <a:t>本研究设置</a:t>
              </a:r>
            </a:p>
          </p:txBody>
        </p:sp>
        <p:sp>
          <p:nvSpPr>
            <p:cNvPr id="29" name="TextBox 29"/>
            <p:cNvSpPr txBox="1"/>
            <p:nvPr/>
          </p:nvSpPr>
          <p:spPr>
            <a:xfrm>
              <a:off x="9041101" y="6141720"/>
              <a:ext cx="1253548"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nperseg=32, 平衡分辨率</a:t>
              </a:r>
            </a:p>
          </p:txBody>
        </p:sp>
      </p:grpSp>
      <p:sp>
        <p:nvSpPr>
          <p:cNvPr id="31" name="TextBox 31"/>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6533188"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频谱图转换 Spectrogram Conversion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143000"/>
            <a:ext cx="11049000" cy="952500"/>
          </a:xfrm>
          <a:prstGeom prst="roundRect">
            <a:avLst>
              <a:gd name="adj" fmla="val 12000"/>
            </a:avLst>
          </a:prstGeom>
          <a:solidFill>
            <a:srgbClr val="1E293B"/>
          </a:solidFill>
          <a:ln w="9525">
            <a:solidFill>
              <a:srgbClr val="334155"/>
            </a:solidFill>
          </a:ln>
        </p:spPr>
      </p:sp>
      <p:sp>
        <p:nvSpPr>
          <p:cNvPr id="7" name="TextBox 7"/>
          <p:cNvSpPr txBox="1"/>
          <p:nvPr/>
        </p:nvSpPr>
        <p:spPr>
          <a:xfrm>
            <a:off x="838200" y="1314450"/>
            <a:ext cx="226437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短时傅里叶变换 (STFT)</a:t>
            </a:r>
          </a:p>
        </p:txBody>
      </p:sp>
      <p:sp>
        <p:nvSpPr>
          <p:cNvPr id="8" name="TextBox 8"/>
          <p:cNvSpPr txBox="1"/>
          <p:nvPr/>
        </p:nvSpPr>
        <p:spPr>
          <a:xfrm>
            <a:off x="842010" y="1632585"/>
            <a:ext cx="5847755" cy="184666"/>
          </a:xfrm>
          <a:prstGeom prst="rect">
            <a:avLst/>
          </a:prstGeom>
          <a:noFill/>
          <a:ln>
            <a:noFill/>
          </a:ln>
        </p:spPr>
        <p:txBody>
          <a:bodyPr wrap="none" lIns="0" tIns="0" rIns="0" bIns="0" anchor="t" anchorCtr="0">
            <a:spAutoFit/>
          </a:bodyPr>
          <a:lstStyle/>
          <a:p>
            <a:pPr algn="l"/>
            <a:r>
              <a:rPr lang="zh-CN" sz="1200" dirty="0">
                <a:solidFill>
                  <a:schemeClr val="bg1">
                    <a:lumMod val="65000"/>
                  </a:schemeClr>
                </a:solidFill>
                <a:latin typeface="Arial"/>
                <a:ea typeface="Microsoft YaHei"/>
                <a:cs typeface="Arial"/>
              </a:rPr>
              <a:t>将一维时域信号分段进行傅里叶变换，构建包含时间、频率与能量信息的二维时频矩阵</a:t>
            </a:r>
          </a:p>
        </p:txBody>
      </p:sp>
      <p:sp>
        <p:nvSpPr>
          <p:cNvPr id="9" name="TextBox 9"/>
          <p:cNvSpPr txBox="1"/>
          <p:nvPr/>
        </p:nvSpPr>
        <p:spPr>
          <a:xfrm>
            <a:off x="552450" y="2314575"/>
            <a:ext cx="98321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STFT 公式</a:t>
            </a:r>
          </a:p>
        </p:txBody>
      </p:sp>
      <p:sp>
        <p:nvSpPr>
          <p:cNvPr id="10" name="Rectangle 10"/>
          <p:cNvSpPr/>
          <p:nvPr/>
        </p:nvSpPr>
        <p:spPr>
          <a:xfrm>
            <a:off x="571500" y="2762250"/>
            <a:ext cx="11049000" cy="666750"/>
          </a:xfrm>
          <a:prstGeom prst="roundRect">
            <a:avLst>
              <a:gd name="adj" fmla="val 17143"/>
            </a:avLst>
          </a:prstGeom>
          <a:solidFill>
            <a:srgbClr val="1E293B"/>
          </a:solidFill>
          <a:ln w="9525">
            <a:solidFill>
              <a:srgbClr val="334155"/>
            </a:solidFill>
          </a:ln>
        </p:spPr>
      </p:sp>
      <mc:AlternateContent xmlns:mc="http://schemas.openxmlformats.org/markup-compatibility/2006" xmlns:a14="http://schemas.microsoft.com/office/drawing/2010/main">
        <mc:Choice Requires="a14">
          <p:sp>
            <p:nvSpPr>
              <p:cNvPr id="11" name="TextBox 11"/>
              <p:cNvSpPr txBox="1"/>
              <p:nvPr/>
            </p:nvSpPr>
            <p:spPr>
              <a:xfrm>
                <a:off x="1024632" y="2933700"/>
                <a:ext cx="4501097" cy="566437"/>
              </a:xfrm>
              <a:prstGeom prst="rect">
                <a:avLst/>
              </a:prstGeom>
              <a:noFill/>
              <a:ln>
                <a:noFill/>
              </a:ln>
            </p:spPr>
            <p:txBody>
              <a:bodyPr wrap="square" lIns="0" tIns="0" rIns="0" bIns="0" anchor="t" anchorCtr="0">
                <a:spAutoFit/>
              </a:bodyPr>
              <a:lstStyle/>
              <a:p>
                <a:pPr algn="ctr"/>
                <a14:m>
                  <m:oMathPara xmlns:m="http://schemas.openxmlformats.org/officeDocument/2006/math">
                    <m:oMathParaPr>
                      <m:jc m:val="centerGroup"/>
                    </m:oMathParaPr>
                    <m:oMath xmlns:m="http://schemas.openxmlformats.org/officeDocument/2006/math">
                      <m:r>
                        <a:rPr lang="zh-CN" altLang="en-US" sz="1800" i="1" dirty="0" smtClean="0">
                          <a:solidFill>
                            <a:srgbClr val="CBD5E1"/>
                          </a:solidFill>
                          <a:latin typeface="Cambria Math" panose="02040503050406030204" pitchFamily="18" charset="0"/>
                          <a:ea typeface="Microsoft YaHei"/>
                          <a:cs typeface="Cambria Math"/>
                        </a:rPr>
                        <m:t>𝑆</m:t>
                      </m:r>
                      <m:d>
                        <m:dPr>
                          <m:ctrlPr>
                            <a:rPr lang="zh-CN" altLang="en-US" sz="1800" i="1" dirty="0">
                              <a:solidFill>
                                <a:srgbClr val="CBD5E1"/>
                              </a:solidFill>
                              <a:latin typeface="Cambria Math" panose="02040503050406030204" pitchFamily="18" charset="0"/>
                              <a:ea typeface="Microsoft YaHei"/>
                              <a:cs typeface="Cambria Math"/>
                            </a:rPr>
                          </m:ctrlPr>
                        </m:dPr>
                        <m:e>
                          <m:r>
                            <a:rPr lang="zh-CN" altLang="en-US" sz="1800" i="1" dirty="0">
                              <a:solidFill>
                                <a:srgbClr val="CBD5E1"/>
                              </a:solidFill>
                              <a:latin typeface="Cambria Math" panose="02040503050406030204" pitchFamily="18" charset="0"/>
                              <a:ea typeface="Microsoft YaHei"/>
                              <a:cs typeface="Cambria Math"/>
                            </a:rPr>
                            <m:t>𝑡</m:t>
                          </m:r>
                          <m:r>
                            <a:rPr lang="zh-CN" sz="1800" i="1" dirty="0">
                              <a:solidFill>
                                <a:srgbClr val="CBD5E1"/>
                              </a:solidFill>
                              <a:latin typeface="Cambria Math" panose="02040503050406030204" pitchFamily="18" charset="0"/>
                              <a:ea typeface="Microsoft YaHei"/>
                              <a:cs typeface="Cambria Math"/>
                            </a:rPr>
                            <m:t>,</m:t>
                          </m:r>
                          <m:r>
                            <a:rPr lang="zh-CN" altLang="en-US" sz="1800" i="1" dirty="0">
                              <a:solidFill>
                                <a:srgbClr val="CBD5E1"/>
                              </a:solidFill>
                              <a:latin typeface="Cambria Math" panose="02040503050406030204" pitchFamily="18" charset="0"/>
                              <a:ea typeface="Microsoft YaHei"/>
                              <a:cs typeface="Cambria Math"/>
                            </a:rPr>
                            <m:t>𝑓</m:t>
                          </m:r>
                        </m:e>
                      </m:d>
                      <m:r>
                        <a:rPr lang="zh-CN" sz="1800" i="1" dirty="0">
                          <a:solidFill>
                            <a:srgbClr val="CBD5E1"/>
                          </a:solidFill>
                          <a:latin typeface="Cambria Math" panose="02040503050406030204" pitchFamily="18" charset="0"/>
                          <a:ea typeface="Microsoft YaHei"/>
                          <a:cs typeface="Cambria Math"/>
                        </a:rPr>
                        <m:t>=</m:t>
                      </m:r>
                      <m:nary>
                        <m:naryPr>
                          <m:subHide m:val="on"/>
                          <m:supHide m:val="on"/>
                          <m:ctrlPr>
                            <a:rPr lang="zh-CN" altLang="en-US" sz="1800" i="1" dirty="0">
                              <a:solidFill>
                                <a:srgbClr val="CBD5E1"/>
                              </a:solidFill>
                              <a:latin typeface="Cambria Math" panose="02040503050406030204" pitchFamily="18" charset="0"/>
                              <a:ea typeface="Microsoft YaHei"/>
                              <a:cs typeface="Cambria Math"/>
                            </a:rPr>
                          </m:ctrlPr>
                        </m:naryPr>
                        <m:sub/>
                        <m:sup/>
                        <m:e>
                          <m:r>
                            <a:rPr lang="zh-CN" altLang="en-US" sz="1800" i="1" dirty="0">
                              <a:solidFill>
                                <a:srgbClr val="CBD5E1"/>
                              </a:solidFill>
                              <a:latin typeface="Cambria Math" panose="02040503050406030204" pitchFamily="18" charset="0"/>
                              <a:ea typeface="Microsoft YaHei"/>
                              <a:cs typeface="Cambria Math"/>
                            </a:rPr>
                            <m:t>𝑥</m:t>
                          </m:r>
                          <m:d>
                            <m:dPr>
                              <m:ctrlPr>
                                <a:rPr lang="zh-CN" altLang="en-US" sz="1800" i="1" dirty="0">
                                  <a:solidFill>
                                    <a:srgbClr val="CBD5E1"/>
                                  </a:solidFill>
                                  <a:latin typeface="Cambria Math" panose="02040503050406030204" pitchFamily="18" charset="0"/>
                                  <a:ea typeface="Microsoft YaHei"/>
                                  <a:cs typeface="Cambria Math"/>
                                </a:rPr>
                              </m:ctrlPr>
                            </m:dPr>
                            <m:e>
                              <m:r>
                                <a:rPr lang="zh-CN" altLang="en-US" sz="1800" i="1" dirty="0">
                                  <a:solidFill>
                                    <a:srgbClr val="CBD5E1"/>
                                  </a:solidFill>
                                  <a:latin typeface="Cambria Math" panose="02040503050406030204" pitchFamily="18" charset="0"/>
                                  <a:ea typeface="Microsoft YaHei"/>
                                  <a:cs typeface="Cambria Math"/>
                                </a:rPr>
                                <m:t>𝜏</m:t>
                              </m:r>
                            </m:e>
                          </m:d>
                          <m:r>
                            <a:rPr lang="zh-CN" altLang="en-US" sz="1800" i="1" dirty="0">
                              <a:solidFill>
                                <a:srgbClr val="CBD5E1"/>
                              </a:solidFill>
                              <a:latin typeface="Cambria Math" panose="02040503050406030204" pitchFamily="18" charset="0"/>
                              <a:ea typeface="Microsoft YaHei"/>
                              <a:cs typeface="Cambria Math"/>
                            </a:rPr>
                            <m:t>𝑤</m:t>
                          </m:r>
                          <m:d>
                            <m:dPr>
                              <m:ctrlPr>
                                <a:rPr lang="zh-CN" altLang="en-US" sz="1800" i="1" dirty="0">
                                  <a:solidFill>
                                    <a:srgbClr val="CBD5E1"/>
                                  </a:solidFill>
                                  <a:latin typeface="Cambria Math" panose="02040503050406030204" pitchFamily="18" charset="0"/>
                                  <a:ea typeface="Microsoft YaHei"/>
                                  <a:cs typeface="Cambria Math"/>
                                </a:rPr>
                              </m:ctrlPr>
                            </m:dPr>
                            <m:e>
                              <m:r>
                                <a:rPr lang="zh-CN" altLang="en-US" sz="1800" i="1" dirty="0">
                                  <a:solidFill>
                                    <a:srgbClr val="CBD5E1"/>
                                  </a:solidFill>
                                  <a:latin typeface="Cambria Math" panose="02040503050406030204" pitchFamily="18" charset="0"/>
                                  <a:ea typeface="Microsoft YaHei"/>
                                  <a:cs typeface="Cambria Math"/>
                                </a:rPr>
                                <m:t>𝜏</m:t>
                              </m:r>
                              <m:r>
                                <a:rPr lang="zh-CN" altLang="en-US" sz="1800" i="1" dirty="0">
                                  <a:solidFill>
                                    <a:srgbClr val="CBD5E1"/>
                                  </a:solidFill>
                                  <a:latin typeface="Cambria Math" panose="02040503050406030204" pitchFamily="18" charset="0"/>
                                  <a:ea typeface="Microsoft YaHei"/>
                                  <a:cs typeface="Cambria Math"/>
                                </a:rPr>
                                <m:t>−</m:t>
                              </m:r>
                              <m:r>
                                <a:rPr lang="zh-CN" altLang="en-US" sz="1800" i="1" dirty="0">
                                  <a:solidFill>
                                    <a:srgbClr val="CBD5E1"/>
                                  </a:solidFill>
                                  <a:latin typeface="Cambria Math" panose="02040503050406030204" pitchFamily="18" charset="0"/>
                                  <a:ea typeface="Microsoft YaHei"/>
                                  <a:cs typeface="Cambria Math"/>
                                </a:rPr>
                                <m:t>𝑡</m:t>
                              </m:r>
                            </m:e>
                          </m:d>
                          <m:sSup>
                            <m:sSupPr>
                              <m:ctrlPr>
                                <a:rPr lang="zh-CN" altLang="en-US" sz="1800" i="1" dirty="0">
                                  <a:solidFill>
                                    <a:srgbClr val="CBD5E1"/>
                                  </a:solidFill>
                                  <a:latin typeface="Cambria Math" panose="02040503050406030204" pitchFamily="18" charset="0"/>
                                  <a:ea typeface="Microsoft YaHei"/>
                                  <a:cs typeface="Cambria Math"/>
                                </a:rPr>
                              </m:ctrlPr>
                            </m:sSupPr>
                            <m:e>
                              <m:r>
                                <a:rPr lang="zh-CN" altLang="en-US" sz="1800" i="1" dirty="0">
                                  <a:solidFill>
                                    <a:srgbClr val="CBD5E1"/>
                                  </a:solidFill>
                                  <a:latin typeface="Cambria Math" panose="02040503050406030204" pitchFamily="18" charset="0"/>
                                  <a:ea typeface="Microsoft YaHei"/>
                                  <a:cs typeface="Cambria Math"/>
                                </a:rPr>
                                <m:t>𝑒</m:t>
                              </m:r>
                            </m:e>
                            <m:sup>
                              <m:d>
                                <m:dPr>
                                  <m:ctrlPr>
                                    <a:rPr lang="zh-CN" altLang="en-US" sz="1800" i="1" dirty="0">
                                      <a:solidFill>
                                        <a:srgbClr val="CBD5E1"/>
                                      </a:solidFill>
                                      <a:latin typeface="Cambria Math" panose="02040503050406030204" pitchFamily="18" charset="0"/>
                                      <a:ea typeface="Microsoft YaHei"/>
                                      <a:cs typeface="Cambria Math"/>
                                    </a:rPr>
                                  </m:ctrlPr>
                                </m:dPr>
                                <m:e>
                                  <m:r>
                                    <a:rPr lang="zh-CN" altLang="en-US" sz="1800" i="1" dirty="0">
                                      <a:solidFill>
                                        <a:srgbClr val="CBD5E1"/>
                                      </a:solidFill>
                                      <a:latin typeface="Cambria Math" panose="02040503050406030204" pitchFamily="18" charset="0"/>
                                      <a:ea typeface="Microsoft YaHei"/>
                                      <a:cs typeface="Cambria Math"/>
                                    </a:rPr>
                                    <m:t>−</m:t>
                                  </m:r>
                                  <m:r>
                                    <a:rPr lang="zh-CN" altLang="en-US" sz="1800" i="1" dirty="0">
                                      <a:solidFill>
                                        <a:srgbClr val="CBD5E1"/>
                                      </a:solidFill>
                                      <a:latin typeface="Cambria Math" panose="02040503050406030204" pitchFamily="18" charset="0"/>
                                      <a:ea typeface="Microsoft YaHei"/>
                                      <a:cs typeface="Cambria Math"/>
                                    </a:rPr>
                                    <m:t>𝑗</m:t>
                                  </m:r>
                                  <m:r>
                                    <a:rPr lang="zh-CN" sz="1800" i="1" dirty="0">
                                      <a:solidFill>
                                        <a:srgbClr val="CBD5E1"/>
                                      </a:solidFill>
                                      <a:latin typeface="Cambria Math" panose="02040503050406030204" pitchFamily="18" charset="0"/>
                                      <a:ea typeface="Microsoft YaHei"/>
                                      <a:cs typeface="Cambria Math"/>
                                    </a:rPr>
                                    <m:t>2</m:t>
                                  </m:r>
                                  <m:r>
                                    <a:rPr lang="zh-CN" altLang="en-US" sz="1800" i="1" dirty="0">
                                      <a:solidFill>
                                        <a:srgbClr val="CBD5E1"/>
                                      </a:solidFill>
                                      <a:latin typeface="Cambria Math" panose="02040503050406030204" pitchFamily="18" charset="0"/>
                                      <a:ea typeface="Microsoft YaHei"/>
                                      <a:cs typeface="Cambria Math"/>
                                    </a:rPr>
                                    <m:t>𝜋</m:t>
                                  </m:r>
                                  <m:r>
                                    <a:rPr lang="zh-CN" altLang="en-US" sz="1800" i="1" dirty="0">
                                      <a:solidFill>
                                        <a:srgbClr val="CBD5E1"/>
                                      </a:solidFill>
                                      <a:latin typeface="Cambria Math" panose="02040503050406030204" pitchFamily="18" charset="0"/>
                                      <a:ea typeface="Microsoft YaHei"/>
                                      <a:cs typeface="Cambria Math"/>
                                    </a:rPr>
                                    <m:t>𝑓</m:t>
                                  </m:r>
                                  <m:r>
                                    <a:rPr lang="zh-CN" altLang="en-US" sz="1800" i="1" dirty="0">
                                      <a:solidFill>
                                        <a:srgbClr val="CBD5E1"/>
                                      </a:solidFill>
                                      <a:latin typeface="Cambria Math" panose="02040503050406030204" pitchFamily="18" charset="0"/>
                                      <a:ea typeface="Microsoft YaHei"/>
                                      <a:cs typeface="Cambria Math"/>
                                    </a:rPr>
                                    <m:t>𝜏</m:t>
                                  </m:r>
                                </m:e>
                              </m:d>
                            </m:sup>
                          </m:sSup>
                          <m:r>
                            <a:rPr lang="zh-CN" altLang="en-US" sz="1800" i="1" dirty="0">
                              <a:solidFill>
                                <a:srgbClr val="CBD5E1"/>
                              </a:solidFill>
                              <a:latin typeface="Cambria Math" panose="02040503050406030204" pitchFamily="18" charset="0"/>
                              <a:ea typeface="Microsoft YaHei"/>
                              <a:cs typeface="Cambria Math"/>
                            </a:rPr>
                            <m:t>𝑑</m:t>
                          </m:r>
                          <m:r>
                            <a:rPr lang="zh-CN" altLang="en-US" sz="1800" i="1" dirty="0">
                              <a:solidFill>
                                <a:srgbClr val="CBD5E1"/>
                              </a:solidFill>
                              <a:latin typeface="Cambria Math" panose="02040503050406030204" pitchFamily="18" charset="0"/>
                              <a:ea typeface="Microsoft YaHei"/>
                              <a:cs typeface="Cambria Math"/>
                            </a:rPr>
                            <m:t>𝜏</m:t>
                          </m:r>
                        </m:e>
                      </m:nary>
                    </m:oMath>
                  </m:oMathPara>
                </a14:m>
                <a:endParaRPr lang="zh-CN" sz="1800" dirty="0">
                  <a:solidFill>
                    <a:srgbClr val="CBD5E1"/>
                  </a:solidFill>
                  <a:latin typeface="Cambria Math"/>
                  <a:ea typeface="Microsoft YaHei"/>
                  <a:cs typeface="Cambria Math"/>
                </a:endParaRPr>
              </a:p>
            </p:txBody>
          </p:sp>
        </mc:Choice>
        <mc:Fallback xmlns="">
          <p:sp>
            <p:nvSpPr>
              <p:cNvPr id="11" name="TextBox 11"/>
              <p:cNvSpPr txBox="1">
                <a:spLocks noRot="1" noChangeAspect="1" noMove="1" noResize="1" noEditPoints="1" noAdjustHandles="1" noChangeArrowheads="1" noChangeShapeType="1" noTextEdit="1"/>
              </p:cNvSpPr>
              <p:nvPr/>
            </p:nvSpPr>
            <p:spPr>
              <a:xfrm>
                <a:off x="1024632" y="2933700"/>
                <a:ext cx="4501097" cy="566437"/>
              </a:xfrm>
              <a:prstGeom prst="rect">
                <a:avLst/>
              </a:prstGeom>
              <a:blipFill>
                <a:blip r:embed="rId2"/>
                <a:stretch>
                  <a:fillRect/>
                </a:stretch>
              </a:blipFill>
              <a:ln>
                <a:noFill/>
              </a:ln>
            </p:spPr>
            <p:txBody>
              <a:bodyPr/>
              <a:lstStyle/>
              <a:p>
                <a:r>
                  <a:rPr lang="zh-CN" altLang="en-US">
                    <a:noFill/>
                  </a:rPr>
                  <a:t> </a:t>
                </a:r>
              </a:p>
            </p:txBody>
          </p:sp>
        </mc:Fallback>
      </mc:AlternateContent>
      <p:sp>
        <p:nvSpPr>
          <p:cNvPr id="12" name="TextBox 12"/>
          <p:cNvSpPr txBox="1"/>
          <p:nvPr/>
        </p:nvSpPr>
        <p:spPr>
          <a:xfrm>
            <a:off x="5053679" y="3363278"/>
            <a:ext cx="2224802" cy="161583"/>
          </a:xfrm>
          <a:prstGeom prst="rect">
            <a:avLst/>
          </a:prstGeom>
          <a:noFill/>
          <a:ln>
            <a:noFill/>
          </a:ln>
        </p:spPr>
        <p:txBody>
          <a:bodyPr wrap="square" lIns="0" tIns="0" rIns="0" bIns="0" anchor="t" anchorCtr="0">
            <a:spAutoFit/>
          </a:bodyPr>
          <a:lstStyle/>
          <a:p>
            <a:pPr algn="ctr"/>
            <a:r>
              <a:rPr lang="zh-CN" sz="1050" dirty="0">
                <a:solidFill>
                  <a:schemeClr val="bg1">
                    <a:lumMod val="65000"/>
                  </a:schemeClr>
                </a:solidFill>
                <a:latin typeface="Arial"/>
                <a:ea typeface="Microsoft YaHei"/>
                <a:cs typeface="Arial"/>
              </a:rPr>
              <a:t>w(τ) 是窗函数（本研究使用汉明窗）</a:t>
            </a:r>
          </a:p>
        </p:txBody>
      </p:sp>
      <p:sp>
        <p:nvSpPr>
          <p:cNvPr id="13" name="TextBox 13"/>
          <p:cNvSpPr txBox="1"/>
          <p:nvPr/>
        </p:nvSpPr>
        <p:spPr>
          <a:xfrm>
            <a:off x="552450" y="3743325"/>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参数说明</a:t>
            </a:r>
          </a:p>
        </p:txBody>
      </p:sp>
      <p:grpSp>
        <p:nvGrpSpPr>
          <p:cNvPr id="19" name="Group 19"/>
          <p:cNvGrpSpPr/>
          <p:nvPr/>
        </p:nvGrpSpPr>
        <p:grpSpPr>
          <a:xfrm>
            <a:off x="571500" y="4286250"/>
            <a:ext cx="3619500" cy="1143000"/>
            <a:chOff x="571500" y="4286250"/>
            <a:chExt cx="3619500" cy="1143000"/>
          </a:xfrm>
        </p:grpSpPr>
        <p:sp>
          <p:nvSpPr>
            <p:cNvPr id="14" name="Rectangle 14"/>
            <p:cNvSpPr/>
            <p:nvPr/>
          </p:nvSpPr>
          <p:spPr>
            <a:xfrm>
              <a:off x="571500" y="4286250"/>
              <a:ext cx="3619500" cy="1143000"/>
            </a:xfrm>
            <a:prstGeom prst="roundRect">
              <a:avLst>
                <a:gd name="adj" fmla="val 10000"/>
              </a:avLst>
            </a:prstGeom>
            <a:solidFill>
              <a:srgbClr val="0F172A"/>
            </a:solidFill>
            <a:ln w="19050">
              <a:solidFill>
                <a:srgbClr val="2563EB"/>
              </a:solidFill>
            </a:ln>
          </p:spPr>
        </p:sp>
        <p:sp>
          <p:nvSpPr>
            <p:cNvPr id="15" name="TextBox 15"/>
            <p:cNvSpPr txBox="1"/>
            <p:nvPr/>
          </p:nvSpPr>
          <p:spPr>
            <a:xfrm>
              <a:off x="746760" y="4442460"/>
              <a:ext cx="677361" cy="243840"/>
            </a:xfrm>
            <a:prstGeom prst="rect">
              <a:avLst/>
            </a:prstGeom>
            <a:noFill/>
            <a:ln>
              <a:noFill/>
            </a:ln>
          </p:spPr>
          <p:txBody>
            <a:bodyPr wrap="none" lIns="0" tIns="0" rIns="0" bIns="0" anchor="t" anchorCtr="0">
              <a:spAutoFit/>
            </a:bodyPr>
            <a:lstStyle/>
            <a:p>
              <a:pPr algn="l"/>
              <a:r>
                <a:rPr lang="zh-CN" sz="1200" b="1" dirty="0">
                  <a:gradFill>
                    <a:gsLst>
                      <a:gs pos="0">
                        <a:srgbClr val="2563EB"/>
                      </a:gs>
                      <a:gs pos="100000">
                        <a:srgbClr val="8B5CF6"/>
                      </a:gs>
                    </a:gsLst>
                    <a:lin ang="0" scaled="1"/>
                  </a:gradFill>
                  <a:latin typeface="Arial"/>
                  <a:ea typeface="Microsoft YaHei"/>
                  <a:cs typeface="Arial"/>
                </a:rPr>
                <a:t>nperseg</a:t>
              </a:r>
            </a:p>
          </p:txBody>
        </p:sp>
        <p:sp>
          <p:nvSpPr>
            <p:cNvPr id="16" name="TextBox 16"/>
            <p:cNvSpPr txBox="1"/>
            <p:nvPr/>
          </p:nvSpPr>
          <p:spPr>
            <a:xfrm>
              <a:off x="748665" y="4696778"/>
              <a:ext cx="206392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Number of Points Per Segment</a:t>
              </a:r>
            </a:p>
          </p:txBody>
        </p:sp>
        <p:sp>
          <p:nvSpPr>
            <p:cNvPr id="17" name="TextBox 17"/>
            <p:cNvSpPr txBox="1"/>
            <p:nvPr/>
          </p:nvSpPr>
          <p:spPr>
            <a:xfrm>
              <a:off x="748665" y="4934902"/>
              <a:ext cx="1950855"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每个STFT窗口包含的采样点数量</a:t>
              </a:r>
            </a:p>
          </p:txBody>
        </p:sp>
        <p:sp>
          <p:nvSpPr>
            <p:cNvPr id="18" name="TextBox 18"/>
            <p:cNvSpPr txBox="1"/>
            <p:nvPr/>
          </p:nvSpPr>
          <p:spPr>
            <a:xfrm>
              <a:off x="748665" y="5173028"/>
              <a:ext cx="999792"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本研究使用: 32</a:t>
              </a:r>
            </a:p>
          </p:txBody>
        </p:sp>
      </p:grpSp>
      <p:grpSp>
        <p:nvGrpSpPr>
          <p:cNvPr id="25" name="Group 25"/>
          <p:cNvGrpSpPr/>
          <p:nvPr/>
        </p:nvGrpSpPr>
        <p:grpSpPr>
          <a:xfrm>
            <a:off x="4381500" y="4286250"/>
            <a:ext cx="3619500" cy="1143000"/>
            <a:chOff x="4381500" y="4286250"/>
            <a:chExt cx="3619500" cy="1143000"/>
          </a:xfrm>
        </p:grpSpPr>
        <p:sp>
          <p:nvSpPr>
            <p:cNvPr id="20" name="Rectangle 20"/>
            <p:cNvSpPr/>
            <p:nvPr/>
          </p:nvSpPr>
          <p:spPr>
            <a:xfrm>
              <a:off x="4381500" y="4286250"/>
              <a:ext cx="3619500" cy="1143000"/>
            </a:xfrm>
            <a:prstGeom prst="roundRect">
              <a:avLst>
                <a:gd name="adj" fmla="val 10000"/>
              </a:avLst>
            </a:prstGeom>
            <a:solidFill>
              <a:srgbClr val="0F172A"/>
            </a:solidFill>
            <a:ln w="19050">
              <a:solidFill>
                <a:srgbClr val="8B5CF6"/>
              </a:solidFill>
            </a:ln>
          </p:spPr>
        </p:sp>
        <p:sp>
          <p:nvSpPr>
            <p:cNvPr id="21" name="TextBox 21"/>
            <p:cNvSpPr txBox="1"/>
            <p:nvPr/>
          </p:nvSpPr>
          <p:spPr>
            <a:xfrm>
              <a:off x="4556760" y="4442460"/>
              <a:ext cx="727767" cy="243840"/>
            </a:xfrm>
            <a:prstGeom prst="rect">
              <a:avLst/>
            </a:prstGeom>
            <a:noFill/>
            <a:ln>
              <a:noFill/>
            </a:ln>
          </p:spPr>
          <p:txBody>
            <a:bodyPr wrap="none" lIns="0" tIns="0" rIns="0" bIns="0" anchor="t" anchorCtr="0">
              <a:spAutoFit/>
            </a:bodyPr>
            <a:lstStyle/>
            <a:p>
              <a:pPr algn="l"/>
              <a:r>
                <a:rPr lang="zh-CN" sz="1200" b="1" dirty="0">
                  <a:solidFill>
                    <a:srgbClr val="818CF8"/>
                  </a:solidFill>
                  <a:latin typeface="Arial"/>
                  <a:ea typeface="Microsoft YaHei"/>
                  <a:cs typeface="Arial"/>
                </a:rPr>
                <a:t>noverlap</a:t>
              </a:r>
            </a:p>
          </p:txBody>
        </p:sp>
        <p:sp>
          <p:nvSpPr>
            <p:cNvPr id="22" name="TextBox 22"/>
            <p:cNvSpPr txBox="1"/>
            <p:nvPr/>
          </p:nvSpPr>
          <p:spPr>
            <a:xfrm>
              <a:off x="4558665" y="4696778"/>
              <a:ext cx="202892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Number of Overlapping Points</a:t>
              </a:r>
            </a:p>
          </p:txBody>
        </p:sp>
        <p:sp>
          <p:nvSpPr>
            <p:cNvPr id="23" name="TextBox 23"/>
            <p:cNvSpPr txBox="1"/>
            <p:nvPr/>
          </p:nvSpPr>
          <p:spPr>
            <a:xfrm>
              <a:off x="4558665" y="4934902"/>
              <a:ext cx="188513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相邻窗口之间重叠的采样点数量</a:t>
              </a:r>
            </a:p>
          </p:txBody>
        </p:sp>
        <p:sp>
          <p:nvSpPr>
            <p:cNvPr id="24" name="TextBox 24"/>
            <p:cNvSpPr txBox="1"/>
            <p:nvPr/>
          </p:nvSpPr>
          <p:spPr>
            <a:xfrm>
              <a:off x="4558665" y="5173028"/>
              <a:ext cx="1713881"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本研究使用: 16 (50% 重叠)</a:t>
              </a:r>
            </a:p>
          </p:txBody>
        </p:sp>
      </p:grpSp>
      <p:grpSp>
        <p:nvGrpSpPr>
          <p:cNvPr id="31" name="Group 31"/>
          <p:cNvGrpSpPr/>
          <p:nvPr/>
        </p:nvGrpSpPr>
        <p:grpSpPr>
          <a:xfrm>
            <a:off x="8191500" y="4286250"/>
            <a:ext cx="3429000" cy="1143000"/>
            <a:chOff x="8191500" y="4286250"/>
            <a:chExt cx="3429000" cy="1143000"/>
          </a:xfrm>
        </p:grpSpPr>
        <p:sp>
          <p:nvSpPr>
            <p:cNvPr id="26" name="Rectangle 26"/>
            <p:cNvSpPr/>
            <p:nvPr/>
          </p:nvSpPr>
          <p:spPr>
            <a:xfrm>
              <a:off x="8191500" y="4286250"/>
              <a:ext cx="3429000" cy="1143000"/>
            </a:xfrm>
            <a:prstGeom prst="roundRect">
              <a:avLst>
                <a:gd name="adj" fmla="val 10000"/>
              </a:avLst>
            </a:prstGeom>
            <a:solidFill>
              <a:srgbClr val="0F172A"/>
            </a:solidFill>
            <a:ln w="19050">
              <a:solidFill>
                <a:srgbClr val="10B981"/>
              </a:solidFill>
            </a:ln>
          </p:spPr>
        </p:sp>
        <p:sp>
          <p:nvSpPr>
            <p:cNvPr id="27" name="TextBox 27"/>
            <p:cNvSpPr txBox="1"/>
            <p:nvPr/>
          </p:nvSpPr>
          <p:spPr>
            <a:xfrm>
              <a:off x="8366760" y="4442460"/>
              <a:ext cx="307715"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Sxx</a:t>
              </a:r>
            </a:p>
          </p:txBody>
        </p:sp>
        <p:sp>
          <p:nvSpPr>
            <p:cNvPr id="28" name="TextBox 28"/>
            <p:cNvSpPr txBox="1"/>
            <p:nvPr/>
          </p:nvSpPr>
          <p:spPr>
            <a:xfrm>
              <a:off x="8368665" y="4696778"/>
              <a:ext cx="1608868"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Power Spectral Density</a:t>
              </a:r>
            </a:p>
          </p:txBody>
        </p:sp>
        <p:sp>
          <p:nvSpPr>
            <p:cNvPr id="29" name="TextBox 29"/>
            <p:cNvSpPr txBox="1"/>
            <p:nvPr/>
          </p:nvSpPr>
          <p:spPr>
            <a:xfrm>
              <a:off x="8368665" y="4934902"/>
              <a:ext cx="255839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信号的功率谱密度矩阵，即二维频谱图数据</a:t>
              </a:r>
            </a:p>
          </p:txBody>
        </p:sp>
        <p:sp>
          <p:nvSpPr>
            <p:cNvPr id="30" name="TextBox 30"/>
            <p:cNvSpPr txBox="1"/>
            <p:nvPr/>
          </p:nvSpPr>
          <p:spPr>
            <a:xfrm>
              <a:off x="8368665" y="5173028"/>
              <a:ext cx="1216819"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输出形状: [17, 61]</a:t>
              </a:r>
            </a:p>
          </p:txBody>
        </p:sp>
      </p:grpSp>
      <p:sp>
        <p:nvSpPr>
          <p:cNvPr id="32" name="Rectangle 32"/>
          <p:cNvSpPr/>
          <p:nvPr/>
        </p:nvSpPr>
        <p:spPr>
          <a:xfrm>
            <a:off x="571500" y="5715000"/>
            <a:ext cx="11049000" cy="762000"/>
          </a:xfrm>
          <a:prstGeom prst="roundRect">
            <a:avLst>
              <a:gd name="adj" fmla="val 15000"/>
            </a:avLst>
          </a:prstGeom>
          <a:solidFill>
            <a:srgbClr val="1E293B"/>
          </a:solidFill>
          <a:ln w="9525">
            <a:solidFill>
              <a:srgbClr val="334155"/>
            </a:solidFill>
          </a:ln>
        </p:spPr>
      </p:sp>
      <p:sp>
        <p:nvSpPr>
          <p:cNvPr id="33" name="TextBox 33"/>
          <p:cNvSpPr txBox="1"/>
          <p:nvPr/>
        </p:nvSpPr>
        <p:spPr>
          <a:xfrm>
            <a:off x="842010" y="5918835"/>
            <a:ext cx="1414653" cy="243840"/>
          </a:xfrm>
          <a:prstGeom prst="rect">
            <a:avLst/>
          </a:prstGeom>
          <a:noFill/>
          <a:ln>
            <a:noFill/>
          </a:ln>
        </p:spPr>
        <p:txBody>
          <a:bodyPr wrap="none" lIns="0" tIns="0" rIns="0" bIns="0" anchor="t" anchorCtr="0">
            <a:spAutoFit/>
          </a:bodyPr>
          <a:lstStyle/>
          <a:p>
            <a:pPr algn="l"/>
            <a:r>
              <a:rPr lang="zh-CN" sz="1200" b="1" dirty="0">
                <a:solidFill>
                  <a:srgbClr val="F87171"/>
                </a:solidFill>
                <a:latin typeface="Arial"/>
                <a:ea typeface="Microsoft YaHei"/>
                <a:cs typeface="Arial"/>
              </a:rPr>
              <a:t>为什么要50%重叠？</a:t>
            </a:r>
          </a:p>
        </p:txBody>
      </p:sp>
      <p:sp>
        <p:nvSpPr>
          <p:cNvPr id="34" name="TextBox 34"/>
          <p:cNvSpPr txBox="1"/>
          <p:nvPr/>
        </p:nvSpPr>
        <p:spPr>
          <a:xfrm>
            <a:off x="843915" y="6173152"/>
            <a:ext cx="5610510"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减少信号分段带来的边缘效应(吉布斯现象)，避免频谱失真，使时频图的时间维度更加平滑连续</a:t>
            </a:r>
          </a:p>
        </p:txBody>
      </p:sp>
      <p:sp>
        <p:nvSpPr>
          <p:cNvPr id="35" name="TextBox 35"/>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P07</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8215498"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频谱图参数与可视化 Spectrogram Parameters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2476500"/>
          </a:xfrm>
          <a:prstGeom prst="roundRect">
            <a:avLst>
              <a:gd name="adj" fmla="val 4615"/>
            </a:avLst>
          </a:prstGeom>
          <a:solidFill>
            <a:srgbClr val="1E293B"/>
          </a:solidFill>
          <a:ln w="9525">
            <a:solidFill>
              <a:srgbClr val="334155"/>
            </a:solidFill>
          </a:ln>
        </p:spPr>
      </p:sp>
      <p:sp>
        <p:nvSpPr>
          <p:cNvPr id="7" name="TextBox 7"/>
          <p:cNvSpPr txBox="1"/>
          <p:nvPr/>
        </p:nvSpPr>
        <p:spPr>
          <a:xfrm>
            <a:off x="838200" y="121920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关键参数详解</a:t>
            </a:r>
          </a:p>
        </p:txBody>
      </p:sp>
      <p:grpSp>
        <p:nvGrpSpPr>
          <p:cNvPr id="12" name="Group 12"/>
          <p:cNvGrpSpPr/>
          <p:nvPr/>
        </p:nvGrpSpPr>
        <p:grpSpPr>
          <a:xfrm>
            <a:off x="857250" y="1666875"/>
            <a:ext cx="3238500" cy="762000"/>
            <a:chOff x="857250" y="1666875"/>
            <a:chExt cx="3238500" cy="762000"/>
          </a:xfrm>
        </p:grpSpPr>
        <p:sp>
          <p:nvSpPr>
            <p:cNvPr id="8" name="Rectangle 8"/>
            <p:cNvSpPr/>
            <p:nvPr/>
          </p:nvSpPr>
          <p:spPr>
            <a:xfrm>
              <a:off x="857250" y="1666875"/>
              <a:ext cx="3238500" cy="762000"/>
            </a:xfrm>
            <a:prstGeom prst="roundRect">
              <a:avLst>
                <a:gd name="adj" fmla="val 10000"/>
              </a:avLst>
            </a:prstGeom>
            <a:solidFill>
              <a:srgbClr val="0F172A"/>
            </a:solidFill>
            <a:ln w="19050">
              <a:solidFill>
                <a:srgbClr val="2563EB"/>
              </a:solidFill>
            </a:ln>
          </p:spPr>
        </p:sp>
        <p:sp>
          <p:nvSpPr>
            <p:cNvPr id="9" name="TextBox 9"/>
            <p:cNvSpPr txBox="1"/>
            <p:nvPr/>
          </p:nvSpPr>
          <p:spPr>
            <a:xfrm>
              <a:off x="1030605" y="1759268"/>
              <a:ext cx="1187334" cy="274320"/>
            </a:xfrm>
            <a:prstGeom prst="rect">
              <a:avLst/>
            </a:prstGeom>
            <a:noFill/>
            <a:ln>
              <a:noFill/>
            </a:ln>
          </p:spPr>
          <p:txBody>
            <a:bodyPr wrap="none" lIns="0" tIns="0" rIns="0" bIns="0" anchor="t" anchorCtr="0">
              <a:spAutoFit/>
            </a:bodyPr>
            <a:lstStyle/>
            <a:p>
              <a:pPr algn="l"/>
              <a:r>
                <a:rPr lang="zh-CN" sz="1350" b="1" dirty="0">
                  <a:gradFill>
                    <a:gsLst>
                      <a:gs pos="0">
                        <a:srgbClr val="2563EB"/>
                      </a:gs>
                      <a:gs pos="100000">
                        <a:srgbClr val="8B5CF6"/>
                      </a:gs>
                    </a:gsLst>
                    <a:lin ang="0" scaled="1"/>
                  </a:gradFill>
                  <a:latin typeface="Arial"/>
                  <a:ea typeface="Microsoft YaHei"/>
                  <a:cs typeface="Arial"/>
                </a:rPr>
                <a:t>nperseg = 32</a:t>
              </a:r>
            </a:p>
          </p:txBody>
        </p:sp>
        <p:sp>
          <p:nvSpPr>
            <p:cNvPr id="10" name="TextBox 10"/>
            <p:cNvSpPr txBox="1"/>
            <p:nvPr/>
          </p:nvSpPr>
          <p:spPr>
            <a:xfrm>
              <a:off x="1035368" y="2037874"/>
              <a:ext cx="804862"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每帧采样点数</a:t>
              </a:r>
            </a:p>
          </p:txBody>
        </p:sp>
        <p:sp>
          <p:nvSpPr>
            <p:cNvPr id="11" name="TextBox 11"/>
            <p:cNvSpPr txBox="1"/>
            <p:nvPr/>
          </p:nvSpPr>
          <p:spPr>
            <a:xfrm>
              <a:off x="1036320" y="2236470"/>
              <a:ext cx="807913"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决定频率分辨率</a:t>
              </a:r>
            </a:p>
          </p:txBody>
        </p:sp>
      </p:grpSp>
      <p:grpSp>
        <p:nvGrpSpPr>
          <p:cNvPr id="17" name="Group 17"/>
          <p:cNvGrpSpPr/>
          <p:nvPr/>
        </p:nvGrpSpPr>
        <p:grpSpPr>
          <a:xfrm>
            <a:off x="4381500" y="1666875"/>
            <a:ext cx="3238500" cy="762000"/>
            <a:chOff x="4381500" y="1666875"/>
            <a:chExt cx="3238500" cy="762000"/>
          </a:xfrm>
        </p:grpSpPr>
        <p:sp>
          <p:nvSpPr>
            <p:cNvPr id="13" name="Rectangle 13"/>
            <p:cNvSpPr/>
            <p:nvPr/>
          </p:nvSpPr>
          <p:spPr>
            <a:xfrm>
              <a:off x="4381500" y="1666875"/>
              <a:ext cx="3238500" cy="762000"/>
            </a:xfrm>
            <a:prstGeom prst="roundRect">
              <a:avLst>
                <a:gd name="adj" fmla="val 10000"/>
              </a:avLst>
            </a:prstGeom>
            <a:solidFill>
              <a:srgbClr val="0F172A"/>
            </a:solidFill>
            <a:ln w="19050">
              <a:solidFill>
                <a:srgbClr val="8B5CF6"/>
              </a:solidFill>
            </a:ln>
          </p:spPr>
        </p:sp>
        <p:sp>
          <p:nvSpPr>
            <p:cNvPr id="14" name="TextBox 14"/>
            <p:cNvSpPr txBox="1"/>
            <p:nvPr/>
          </p:nvSpPr>
          <p:spPr>
            <a:xfrm>
              <a:off x="4554855" y="1759268"/>
              <a:ext cx="1196785" cy="274320"/>
            </a:xfrm>
            <a:prstGeom prst="rect">
              <a:avLst/>
            </a:prstGeom>
            <a:noFill/>
            <a:ln>
              <a:noFill/>
            </a:ln>
          </p:spPr>
          <p:txBody>
            <a:bodyPr wrap="none" lIns="0" tIns="0" rIns="0" bIns="0" anchor="t" anchorCtr="0">
              <a:spAutoFit/>
            </a:bodyPr>
            <a:lstStyle/>
            <a:p>
              <a:pPr algn="l"/>
              <a:r>
                <a:rPr lang="zh-CN" sz="1350" b="1" dirty="0">
                  <a:solidFill>
                    <a:srgbClr val="818CF8"/>
                  </a:solidFill>
                  <a:latin typeface="Arial"/>
                  <a:ea typeface="Microsoft YaHei"/>
                  <a:cs typeface="Arial"/>
                </a:rPr>
                <a:t>noverlap = 16</a:t>
              </a:r>
            </a:p>
          </p:txBody>
        </p:sp>
        <p:sp>
          <p:nvSpPr>
            <p:cNvPr id="15" name="TextBox 15"/>
            <p:cNvSpPr txBox="1"/>
            <p:nvPr/>
          </p:nvSpPr>
          <p:spPr>
            <a:xfrm>
              <a:off x="4559618" y="2037874"/>
              <a:ext cx="94138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重叠点数 (50%)</a:t>
              </a:r>
            </a:p>
          </p:txBody>
        </p:sp>
        <p:sp>
          <p:nvSpPr>
            <p:cNvPr id="16" name="TextBox 16"/>
            <p:cNvSpPr txBox="1"/>
            <p:nvPr/>
          </p:nvSpPr>
          <p:spPr>
            <a:xfrm>
              <a:off x="4560570" y="2236470"/>
              <a:ext cx="692497"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减少边缘效应</a:t>
              </a:r>
            </a:p>
          </p:txBody>
        </p:sp>
      </p:grpSp>
      <p:grpSp>
        <p:nvGrpSpPr>
          <p:cNvPr id="22" name="Group 22"/>
          <p:cNvGrpSpPr/>
          <p:nvPr/>
        </p:nvGrpSpPr>
        <p:grpSpPr>
          <a:xfrm>
            <a:off x="7905750" y="1666875"/>
            <a:ext cx="3429000" cy="762000"/>
            <a:chOff x="7905750" y="1666875"/>
            <a:chExt cx="3429000" cy="762000"/>
          </a:xfrm>
        </p:grpSpPr>
        <p:sp>
          <p:nvSpPr>
            <p:cNvPr id="18" name="Rectangle 18"/>
            <p:cNvSpPr/>
            <p:nvPr/>
          </p:nvSpPr>
          <p:spPr>
            <a:xfrm>
              <a:off x="7905750" y="1666875"/>
              <a:ext cx="3429000" cy="762000"/>
            </a:xfrm>
            <a:prstGeom prst="roundRect">
              <a:avLst>
                <a:gd name="adj" fmla="val 10000"/>
              </a:avLst>
            </a:prstGeom>
            <a:solidFill>
              <a:srgbClr val="0F172A"/>
            </a:solidFill>
            <a:ln w="19050">
              <a:solidFill>
                <a:srgbClr val="10B981"/>
              </a:solidFill>
            </a:ln>
          </p:spPr>
        </p:sp>
        <p:sp>
          <p:nvSpPr>
            <p:cNvPr id="19" name="TextBox 19"/>
            <p:cNvSpPr txBox="1"/>
            <p:nvPr/>
          </p:nvSpPr>
          <p:spPr>
            <a:xfrm>
              <a:off x="8079105" y="1759268"/>
              <a:ext cx="1036115"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fs = 500 Hz</a:t>
              </a:r>
            </a:p>
          </p:txBody>
        </p:sp>
        <p:sp>
          <p:nvSpPr>
            <p:cNvPr id="20" name="TextBox 20"/>
            <p:cNvSpPr txBox="1"/>
            <p:nvPr/>
          </p:nvSpPr>
          <p:spPr>
            <a:xfrm>
              <a:off x="8083868" y="2037874"/>
              <a:ext cx="54483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采样频率</a:t>
              </a:r>
            </a:p>
          </p:txBody>
        </p:sp>
        <p:sp>
          <p:nvSpPr>
            <p:cNvPr id="21" name="TextBox 21"/>
            <p:cNvSpPr txBox="1"/>
            <p:nvPr/>
          </p:nvSpPr>
          <p:spPr>
            <a:xfrm>
              <a:off x="8084820" y="2236470"/>
              <a:ext cx="577081"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每秒采样数</a:t>
              </a:r>
            </a:p>
          </p:txBody>
        </p:sp>
      </p:grpSp>
      <p:sp>
        <p:nvSpPr>
          <p:cNvPr id="23" name="TextBox 23"/>
          <p:cNvSpPr txBox="1"/>
          <p:nvPr/>
        </p:nvSpPr>
        <p:spPr>
          <a:xfrm>
            <a:off x="843915" y="2648902"/>
            <a:ext cx="6184385"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输出形状计算: 时间帧数 = ceil((信号长度 - noverlap) / (nperseg - noverlap)) = ceil((500 - 16) / 16) ≈ 31帧</a:t>
            </a:r>
          </a:p>
        </p:txBody>
      </p:sp>
      <p:sp>
        <p:nvSpPr>
          <p:cNvPr id="24" name="TextBox 24"/>
          <p:cNvSpPr txBox="1"/>
          <p:nvPr/>
        </p:nvSpPr>
        <p:spPr>
          <a:xfrm>
            <a:off x="843915" y="2887028"/>
            <a:ext cx="3396764"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频率点数 = nperseg/2 + 1 = 17 | 最终频谱图形状: [17, 61]</a:t>
            </a:r>
          </a:p>
        </p:txBody>
      </p:sp>
      <p:sp>
        <p:nvSpPr>
          <p:cNvPr id="25" name="Rectangle 25"/>
          <p:cNvSpPr/>
          <p:nvPr/>
        </p:nvSpPr>
        <p:spPr>
          <a:xfrm>
            <a:off x="571500" y="3714750"/>
            <a:ext cx="11049000" cy="2762250"/>
          </a:xfrm>
          <a:prstGeom prst="roundRect">
            <a:avLst>
              <a:gd name="adj" fmla="val 4138"/>
            </a:avLst>
          </a:prstGeom>
          <a:solidFill>
            <a:srgbClr val="1E293B"/>
          </a:solidFill>
          <a:ln w="9525">
            <a:solidFill>
              <a:srgbClr val="334155"/>
            </a:solidFill>
          </a:ln>
        </p:spPr>
      </p:sp>
      <p:sp>
        <p:nvSpPr>
          <p:cNvPr id="26" name="TextBox 26"/>
          <p:cNvSpPr txBox="1"/>
          <p:nvPr/>
        </p:nvSpPr>
        <p:spPr>
          <a:xfrm>
            <a:off x="838200" y="3886200"/>
            <a:ext cx="24744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AM vs FM 频谱图特征对比</a:t>
            </a:r>
          </a:p>
        </p:txBody>
      </p:sp>
      <p:grpSp>
        <p:nvGrpSpPr>
          <p:cNvPr id="33" name="Group 33"/>
          <p:cNvGrpSpPr/>
          <p:nvPr/>
        </p:nvGrpSpPr>
        <p:grpSpPr>
          <a:xfrm>
            <a:off x="857250" y="4381500"/>
            <a:ext cx="4762500" cy="1905000"/>
            <a:chOff x="857250" y="4381500"/>
            <a:chExt cx="4762500" cy="1905000"/>
          </a:xfrm>
        </p:grpSpPr>
        <p:sp>
          <p:nvSpPr>
            <p:cNvPr id="27" name="Rectangle 27"/>
            <p:cNvSpPr/>
            <p:nvPr/>
          </p:nvSpPr>
          <p:spPr>
            <a:xfrm>
              <a:off x="857250" y="4381500"/>
              <a:ext cx="4762500" cy="1905000"/>
            </a:xfrm>
            <a:prstGeom prst="roundRect">
              <a:avLst>
                <a:gd name="adj" fmla="val 4000"/>
              </a:avLst>
            </a:prstGeom>
            <a:solidFill>
              <a:srgbClr val="0F172A"/>
            </a:solidFill>
            <a:ln w="9525">
              <a:solidFill>
                <a:srgbClr val="334155"/>
              </a:solidFill>
            </a:ln>
          </p:spPr>
        </p:sp>
        <p:sp>
          <p:nvSpPr>
            <p:cNvPr id="28" name="TextBox 28"/>
            <p:cNvSpPr txBox="1"/>
            <p:nvPr/>
          </p:nvSpPr>
          <p:spPr>
            <a:xfrm>
              <a:off x="2752801" y="4490085"/>
              <a:ext cx="971398" cy="243840"/>
            </a:xfrm>
            <a:prstGeom prst="rect">
              <a:avLst/>
            </a:prstGeom>
            <a:noFill/>
            <a:ln>
              <a:noFill/>
            </a:ln>
          </p:spPr>
          <p:txBody>
            <a:bodyPr wrap="none" lIns="0" tIns="0" rIns="0" bIns="0" anchor="t" anchorCtr="0">
              <a:spAutoFit/>
            </a:bodyPr>
            <a:lstStyle/>
            <a:p>
              <a:pPr algn="ctr"/>
              <a:r>
                <a:rPr lang="zh-CN" sz="1200" b="1" dirty="0">
                  <a:gradFill>
                    <a:gsLst>
                      <a:gs pos="0">
                        <a:srgbClr val="2563EB"/>
                      </a:gs>
                      <a:gs pos="100000">
                        <a:srgbClr val="8B5CF6"/>
                      </a:gs>
                    </a:gsLst>
                    <a:lin ang="0" scaled="1"/>
                  </a:gradFill>
                  <a:latin typeface="Arial"/>
                  <a:ea typeface="Microsoft YaHei"/>
                  <a:cs typeface="Arial"/>
                </a:rPr>
                <a:t>AM 调幅信号</a:t>
              </a:r>
            </a:p>
          </p:txBody>
        </p:sp>
        <p:sp>
          <p:nvSpPr>
            <p:cNvPr id="29" name="Rectangle 29"/>
            <p:cNvSpPr/>
            <p:nvPr/>
          </p:nvSpPr>
          <p:spPr>
            <a:xfrm>
              <a:off x="1047750" y="4762500"/>
              <a:ext cx="4381500" cy="1143000"/>
            </a:xfrm>
            <a:prstGeom prst="roundRect">
              <a:avLst>
                <a:gd name="adj" fmla="val 5000"/>
              </a:avLst>
            </a:prstGeom>
            <a:solidFill>
              <a:srgbClr val="EFF6FF"/>
            </a:solidFill>
            <a:ln>
              <a:noFill/>
            </a:ln>
          </p:spPr>
        </p:sp>
        <p:sp>
          <p:nvSpPr>
            <p:cNvPr id="30" name="TextBox 30"/>
            <p:cNvSpPr txBox="1"/>
            <p:nvPr/>
          </p:nvSpPr>
          <p:spPr>
            <a:xfrm>
              <a:off x="2525164" y="5077778"/>
              <a:ext cx="1426673"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频率: 集中在载波频率 fc</a:t>
              </a:r>
            </a:p>
          </p:txBody>
        </p:sp>
        <p:sp>
          <p:nvSpPr>
            <p:cNvPr id="31" name="TextBox 31"/>
            <p:cNvSpPr txBox="1"/>
            <p:nvPr/>
          </p:nvSpPr>
          <p:spPr>
            <a:xfrm>
              <a:off x="2595696" y="5315902"/>
              <a:ext cx="1285608"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幅度: 随调制信号变化</a:t>
              </a:r>
            </a:p>
          </p:txBody>
        </p:sp>
        <p:sp>
          <p:nvSpPr>
            <p:cNvPr id="32" name="TextBox 32"/>
            <p:cNvSpPr txBox="1"/>
            <p:nvPr/>
          </p:nvSpPr>
          <p:spPr>
            <a:xfrm>
              <a:off x="2385060" y="5554028"/>
              <a:ext cx="1706880"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水平条纹，宽度随幅度变化</a:t>
              </a:r>
            </a:p>
          </p:txBody>
        </p:sp>
      </p:grpSp>
      <p:grpSp>
        <p:nvGrpSpPr>
          <p:cNvPr id="40" name="Group 40"/>
          <p:cNvGrpSpPr/>
          <p:nvPr/>
        </p:nvGrpSpPr>
        <p:grpSpPr>
          <a:xfrm>
            <a:off x="6000750" y="4381500"/>
            <a:ext cx="4762500" cy="1905000"/>
            <a:chOff x="6000750" y="4381500"/>
            <a:chExt cx="4762500" cy="1905000"/>
          </a:xfrm>
        </p:grpSpPr>
        <p:sp>
          <p:nvSpPr>
            <p:cNvPr id="34" name="Rectangle 34"/>
            <p:cNvSpPr/>
            <p:nvPr/>
          </p:nvSpPr>
          <p:spPr>
            <a:xfrm>
              <a:off x="6000750" y="4381500"/>
              <a:ext cx="4762500" cy="1905000"/>
            </a:xfrm>
            <a:prstGeom prst="roundRect">
              <a:avLst>
                <a:gd name="adj" fmla="val 4000"/>
              </a:avLst>
            </a:prstGeom>
            <a:solidFill>
              <a:srgbClr val="0F172A"/>
            </a:solidFill>
            <a:ln w="9525">
              <a:solidFill>
                <a:srgbClr val="334155"/>
              </a:solidFill>
            </a:ln>
          </p:spPr>
        </p:sp>
        <p:sp>
          <p:nvSpPr>
            <p:cNvPr id="35" name="TextBox 35"/>
            <p:cNvSpPr txBox="1"/>
            <p:nvPr/>
          </p:nvSpPr>
          <p:spPr>
            <a:xfrm>
              <a:off x="7896301" y="4490085"/>
              <a:ext cx="971398" cy="243840"/>
            </a:xfrm>
            <a:prstGeom prst="rect">
              <a:avLst/>
            </a:prstGeom>
            <a:noFill/>
            <a:ln>
              <a:noFill/>
            </a:ln>
          </p:spPr>
          <p:txBody>
            <a:bodyPr wrap="none" lIns="0" tIns="0" rIns="0" bIns="0" anchor="t" anchorCtr="0">
              <a:spAutoFit/>
            </a:bodyPr>
            <a:lstStyle/>
            <a:p>
              <a:pPr algn="ctr"/>
              <a:r>
                <a:rPr lang="zh-CN" sz="1200" b="1" dirty="0">
                  <a:solidFill>
                    <a:srgbClr val="818CF8"/>
                  </a:solidFill>
                  <a:latin typeface="Arial"/>
                  <a:ea typeface="Microsoft YaHei"/>
                  <a:cs typeface="Arial"/>
                </a:rPr>
                <a:t>FM 调频信号</a:t>
              </a:r>
            </a:p>
          </p:txBody>
        </p:sp>
        <p:sp>
          <p:nvSpPr>
            <p:cNvPr id="36" name="Rectangle 36"/>
            <p:cNvSpPr/>
            <p:nvPr/>
          </p:nvSpPr>
          <p:spPr>
            <a:xfrm>
              <a:off x="6191250" y="4762500"/>
              <a:ext cx="4381500" cy="1143000"/>
            </a:xfrm>
            <a:prstGeom prst="roundRect">
              <a:avLst>
                <a:gd name="adj" fmla="val 5000"/>
              </a:avLst>
            </a:prstGeom>
            <a:solidFill>
              <a:srgbClr val="F3E8FF"/>
            </a:solidFill>
            <a:ln>
              <a:noFill/>
            </a:ln>
          </p:spPr>
        </p:sp>
        <p:sp>
          <p:nvSpPr>
            <p:cNvPr id="37" name="TextBox 37"/>
            <p:cNvSpPr txBox="1"/>
            <p:nvPr/>
          </p:nvSpPr>
          <p:spPr>
            <a:xfrm>
              <a:off x="7784881" y="5077778"/>
              <a:ext cx="1194237"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频率: 在 fc 附近摆动</a:t>
              </a:r>
            </a:p>
          </p:txBody>
        </p:sp>
        <p:sp>
          <p:nvSpPr>
            <p:cNvPr id="38" name="TextBox 38"/>
            <p:cNvSpPr txBox="1"/>
            <p:nvPr/>
          </p:nvSpPr>
          <p:spPr>
            <a:xfrm>
              <a:off x="8075827" y="5315902"/>
              <a:ext cx="612347"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幅度: 恒定</a:t>
              </a:r>
            </a:p>
          </p:txBody>
        </p:sp>
        <p:sp>
          <p:nvSpPr>
            <p:cNvPr id="39" name="TextBox 39"/>
            <p:cNvSpPr txBox="1"/>
            <p:nvPr/>
          </p:nvSpPr>
          <p:spPr>
            <a:xfrm>
              <a:off x="7598569" y="5554028"/>
              <a:ext cx="1566863"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垂直条纹，反映频率变化</a:t>
              </a:r>
            </a:p>
          </p:txBody>
        </p:sp>
      </p:grpSp>
      <p:sp>
        <p:nvSpPr>
          <p:cNvPr id="41" name="TextBox 41"/>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6608797"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频谱图对比 Spectrogram Comparison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5238750"/>
          </a:xfrm>
          <a:prstGeom prst="roundRect">
            <a:avLst>
              <a:gd name="adj" fmla="val 2182"/>
            </a:avLst>
          </a:prstGeom>
          <a:solidFill>
            <a:srgbClr val="1E293B"/>
          </a:solidFill>
          <a:ln w="9525">
            <a:solidFill>
              <a:srgbClr val="334155"/>
            </a:solidFill>
          </a:ln>
        </p:spPr>
      </p:sp>
      <p:pic>
        <p:nvPicPr>
          <p:cNvPr id="7" name="Image 7"/>
          <p:cNvPicPr>
            <a:picLocks noChangeAspect="1"/>
          </p:cNvPicPr>
          <p:nvPr/>
        </p:nvPicPr>
        <p:blipFill>
          <a:blip r:embed="rId2"/>
          <a:stretch>
            <a:fillRect/>
          </a:stretch>
        </p:blipFill>
        <p:spPr>
          <a:xfrm>
            <a:off x="2227974" y="1238250"/>
            <a:ext cx="7736053" cy="4857750"/>
          </a:xfrm>
          <a:prstGeom prst="rect">
            <a:avLst/>
          </a:prstGeom>
        </p:spPr>
      </p:pic>
      <p:sp>
        <p:nvSpPr>
          <p:cNvPr id="8" name="Rectangle 8"/>
          <p:cNvSpPr/>
          <p:nvPr/>
        </p:nvSpPr>
        <p:spPr>
          <a:xfrm>
            <a:off x="571500" y="6477000"/>
            <a:ext cx="11049000" cy="285750"/>
          </a:xfrm>
          <a:prstGeom prst="roundRect">
            <a:avLst>
              <a:gd name="adj" fmla="val 26667"/>
            </a:avLst>
          </a:prstGeom>
          <a:solidFill>
            <a:srgbClr val="0F172A"/>
          </a:solidFill>
          <a:ln w="9525">
            <a:solidFill>
              <a:srgbClr val="334155"/>
            </a:solidFill>
          </a:ln>
        </p:spPr>
      </p:sp>
      <p:sp>
        <p:nvSpPr>
          <p:cNvPr id="9" name="TextBox 9"/>
          <p:cNvSpPr txBox="1"/>
          <p:nvPr/>
        </p:nvSpPr>
        <p:spPr>
          <a:xfrm>
            <a:off x="2321730" y="6554152"/>
            <a:ext cx="7548540"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频谱图特征分析: AM信号频率集中在载波频率(100Hz)附近，幅度随时间变化；FM信号频率在载波频率附近摆动，形成频谱扩散</a:t>
            </a:r>
          </a:p>
        </p:txBody>
      </p:sp>
      <p:sp>
        <p:nvSpPr>
          <p:cNvPr id="10" name="TextBox 10"/>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P08</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455753"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CNN模型架构 CNN Architecture</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7239000" cy="3619500"/>
          </a:xfrm>
          <a:prstGeom prst="roundRect">
            <a:avLst>
              <a:gd name="adj" fmla="val 3158"/>
            </a:avLst>
          </a:prstGeom>
          <a:solidFill>
            <a:srgbClr val="1E293B"/>
          </a:solidFill>
          <a:ln w="9525">
            <a:solidFill>
              <a:srgbClr val="334155"/>
            </a:solidFill>
          </a:ln>
        </p:spPr>
      </p:sp>
      <p:sp>
        <p:nvSpPr>
          <p:cNvPr id="7" name="TextBox 7"/>
          <p:cNvSpPr txBox="1"/>
          <p:nvPr/>
        </p:nvSpPr>
        <p:spPr>
          <a:xfrm>
            <a:off x="838200" y="121920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模型层级结构</a:t>
            </a:r>
          </a:p>
        </p:txBody>
      </p:sp>
      <p:grpSp>
        <p:nvGrpSpPr>
          <p:cNvPr id="11" name="Group 11"/>
          <p:cNvGrpSpPr/>
          <p:nvPr/>
        </p:nvGrpSpPr>
        <p:grpSpPr>
          <a:xfrm>
            <a:off x="857250" y="1666875"/>
            <a:ext cx="6667500" cy="285750"/>
            <a:chOff x="857250" y="1666875"/>
            <a:chExt cx="6667500" cy="285750"/>
          </a:xfrm>
        </p:grpSpPr>
        <p:sp>
          <p:nvSpPr>
            <p:cNvPr id="8" name="Rectangle 8"/>
            <p:cNvSpPr/>
            <p:nvPr/>
          </p:nvSpPr>
          <p:spPr>
            <a:xfrm>
              <a:off x="857250" y="1666875"/>
              <a:ext cx="6667500" cy="285750"/>
            </a:xfrm>
            <a:prstGeom prst="roundRect">
              <a:avLst>
                <a:gd name="adj" fmla="val 20000"/>
              </a:avLst>
            </a:prstGeom>
            <a:solidFill>
              <a:srgbClr val="0F172A"/>
            </a:solidFill>
            <a:ln w="9525">
              <a:solidFill>
                <a:srgbClr val="334155"/>
              </a:solidFill>
            </a:ln>
          </p:spPr>
        </p:sp>
        <p:sp>
          <p:nvSpPr>
            <p:cNvPr id="9" name="TextBox 9"/>
            <p:cNvSpPr txBox="1"/>
            <p:nvPr/>
          </p:nvSpPr>
          <p:spPr>
            <a:xfrm>
              <a:off x="942022" y="1768316"/>
              <a:ext cx="295989" cy="167640"/>
            </a:xfrm>
            <a:prstGeom prst="rect">
              <a:avLst/>
            </a:prstGeom>
            <a:noFill/>
            <a:ln>
              <a:noFill/>
            </a:ln>
          </p:spPr>
          <p:txBody>
            <a:bodyPr wrap="none" lIns="0" tIns="0" rIns="0" bIns="0" anchor="t" anchorCtr="0">
              <a:spAutoFit/>
            </a:bodyPr>
            <a:lstStyle/>
            <a:p>
              <a:pPr algn="l"/>
              <a:r>
                <a:rPr lang="zh-CN" sz="825" dirty="0">
                  <a:solidFill>
                    <a:srgbClr val="CBD5E1"/>
                  </a:solidFill>
                  <a:latin typeface="Consolas"/>
                  <a:ea typeface="Microsoft YaHei"/>
                  <a:cs typeface="Consolas"/>
                </a:rPr>
                <a:t>Input</a:t>
              </a:r>
            </a:p>
          </p:txBody>
        </p:sp>
        <p:sp>
          <p:nvSpPr>
            <p:cNvPr id="10" name="TextBox 10"/>
            <p:cNvSpPr txBox="1"/>
            <p:nvPr/>
          </p:nvSpPr>
          <p:spPr>
            <a:xfrm>
              <a:off x="2275522" y="1768316"/>
              <a:ext cx="1673535" cy="126958"/>
            </a:xfrm>
            <a:prstGeom prst="rect">
              <a:avLst/>
            </a:prstGeom>
            <a:noFill/>
            <a:ln>
              <a:noFill/>
            </a:ln>
          </p:spPr>
          <p:txBody>
            <a:bodyPr wrap="none" lIns="0" tIns="0" rIns="0" bIns="0" anchor="t" anchorCtr="0">
              <a:spAutoFit/>
            </a:bodyPr>
            <a:lstStyle/>
            <a:p>
              <a:pPr algn="l"/>
              <a:r>
                <a:rPr lang="zh-CN" sz="825" dirty="0">
                  <a:solidFill>
                    <a:schemeClr val="bg1">
                      <a:lumMod val="65000"/>
                    </a:schemeClr>
                  </a:solidFill>
                  <a:latin typeface="Consolas"/>
                  <a:ea typeface="Microsoft YaHei"/>
                  <a:cs typeface="Consolas"/>
                </a:rPr>
                <a:t>[1, 17, 61] (通道, 频率, 时间)</a:t>
              </a:r>
            </a:p>
          </p:txBody>
        </p:sp>
      </p:grpSp>
      <p:grpSp>
        <p:nvGrpSpPr>
          <p:cNvPr id="16" name="Group 16"/>
          <p:cNvGrpSpPr/>
          <p:nvPr/>
        </p:nvGrpSpPr>
        <p:grpSpPr>
          <a:xfrm>
            <a:off x="857250" y="2047875"/>
            <a:ext cx="6667500" cy="285750"/>
            <a:chOff x="857250" y="2047875"/>
            <a:chExt cx="6667500" cy="285750"/>
          </a:xfrm>
        </p:grpSpPr>
        <p:sp>
          <p:nvSpPr>
            <p:cNvPr id="12" name="Rectangle 12"/>
            <p:cNvSpPr/>
            <p:nvPr/>
          </p:nvSpPr>
          <p:spPr>
            <a:xfrm>
              <a:off x="857250" y="2047875"/>
              <a:ext cx="6667500" cy="285750"/>
            </a:xfrm>
            <a:prstGeom prst="roundRect">
              <a:avLst>
                <a:gd name="adj" fmla="val 20000"/>
              </a:avLst>
            </a:prstGeom>
            <a:solidFill>
              <a:srgbClr val="EFF6FF"/>
            </a:solidFill>
            <a:ln w="9525">
              <a:solidFill>
                <a:srgbClr val="2563EB"/>
              </a:solidFill>
            </a:ln>
          </p:spPr>
        </p:sp>
        <p:sp>
          <p:nvSpPr>
            <p:cNvPr id="13" name="TextBox 13"/>
            <p:cNvSpPr txBox="1"/>
            <p:nvPr/>
          </p:nvSpPr>
          <p:spPr>
            <a:xfrm>
              <a:off x="942022" y="2149316"/>
              <a:ext cx="295989" cy="167640"/>
            </a:xfrm>
            <a:prstGeom prst="rect">
              <a:avLst/>
            </a:prstGeom>
            <a:noFill/>
            <a:ln>
              <a:noFill/>
            </a:ln>
          </p:spPr>
          <p:txBody>
            <a:bodyPr wrap="none" lIns="0" tIns="0" rIns="0" bIns="0" anchor="t" anchorCtr="0">
              <a:spAutoFit/>
            </a:bodyPr>
            <a:lstStyle/>
            <a:p>
              <a:pPr algn="l"/>
              <a:r>
                <a:rPr lang="zh-CN" sz="825" dirty="0">
                  <a:gradFill>
                    <a:gsLst>
                      <a:gs pos="0">
                        <a:srgbClr val="2563EB"/>
                      </a:gs>
                      <a:gs pos="100000">
                        <a:srgbClr val="8B5CF6"/>
                      </a:gs>
                    </a:gsLst>
                    <a:lin ang="0" scaled="1"/>
                  </a:gradFill>
                  <a:latin typeface="Consolas"/>
                  <a:ea typeface="Microsoft YaHei"/>
                  <a:cs typeface="Consolas"/>
                </a:rPr>
                <a:t>Conv1</a:t>
              </a:r>
            </a:p>
          </p:txBody>
        </p:sp>
        <p:sp>
          <p:nvSpPr>
            <p:cNvPr id="14" name="TextBox 14"/>
            <p:cNvSpPr txBox="1"/>
            <p:nvPr/>
          </p:nvSpPr>
          <p:spPr>
            <a:xfrm>
              <a:off x="1799272" y="2149316"/>
              <a:ext cx="1753672" cy="167640"/>
            </a:xfrm>
            <a:prstGeom prst="rect">
              <a:avLst/>
            </a:prstGeom>
            <a:noFill/>
            <a:ln>
              <a:noFill/>
            </a:ln>
          </p:spPr>
          <p:txBody>
            <a:bodyPr wrap="none" lIns="0" tIns="0" rIns="0" bIns="0" anchor="t" anchorCtr="0">
              <a:spAutoFit/>
            </a:bodyPr>
            <a:lstStyle/>
            <a:p>
              <a:pPr algn="l"/>
              <a:r>
                <a:rPr lang="zh-CN" sz="825" dirty="0">
                  <a:solidFill>
                    <a:srgbClr val="475569"/>
                  </a:solidFill>
                  <a:latin typeface="Consolas"/>
                  <a:ea typeface="Microsoft YaHei"/>
                  <a:cs typeface="Consolas"/>
                </a:rPr>
                <a:t>Conv2d(1→32) + ReLU + MaxPool2d</a:t>
              </a:r>
            </a:p>
          </p:txBody>
        </p:sp>
        <p:sp>
          <p:nvSpPr>
            <p:cNvPr id="15" name="TextBox 15"/>
            <p:cNvSpPr txBox="1"/>
            <p:nvPr/>
          </p:nvSpPr>
          <p:spPr>
            <a:xfrm>
              <a:off x="5133022" y="2149316"/>
              <a:ext cx="631531"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[32, 8, 30]</a:t>
              </a:r>
            </a:p>
          </p:txBody>
        </p:sp>
      </p:grpSp>
      <p:grpSp>
        <p:nvGrpSpPr>
          <p:cNvPr id="21" name="Group 21"/>
          <p:cNvGrpSpPr/>
          <p:nvPr/>
        </p:nvGrpSpPr>
        <p:grpSpPr>
          <a:xfrm>
            <a:off x="857250" y="2428875"/>
            <a:ext cx="6667500" cy="285750"/>
            <a:chOff x="857250" y="2428875"/>
            <a:chExt cx="6667500" cy="285750"/>
          </a:xfrm>
        </p:grpSpPr>
        <p:sp>
          <p:nvSpPr>
            <p:cNvPr id="17" name="Rectangle 17"/>
            <p:cNvSpPr/>
            <p:nvPr/>
          </p:nvSpPr>
          <p:spPr>
            <a:xfrm>
              <a:off x="857250" y="2428875"/>
              <a:ext cx="6667500" cy="285750"/>
            </a:xfrm>
            <a:prstGeom prst="roundRect">
              <a:avLst>
                <a:gd name="adj" fmla="val 20000"/>
              </a:avLst>
            </a:prstGeom>
            <a:solidFill>
              <a:srgbClr val="F3E8FF"/>
            </a:solidFill>
            <a:ln w="9525">
              <a:solidFill>
                <a:srgbClr val="8B5CF6"/>
              </a:solidFill>
            </a:ln>
          </p:spPr>
        </p:sp>
        <p:sp>
          <p:nvSpPr>
            <p:cNvPr id="18" name="TextBox 18"/>
            <p:cNvSpPr txBox="1"/>
            <p:nvPr/>
          </p:nvSpPr>
          <p:spPr>
            <a:xfrm>
              <a:off x="942022" y="2530316"/>
              <a:ext cx="323493" cy="167640"/>
            </a:xfrm>
            <a:prstGeom prst="rect">
              <a:avLst/>
            </a:prstGeom>
            <a:noFill/>
            <a:ln>
              <a:noFill/>
            </a:ln>
          </p:spPr>
          <p:txBody>
            <a:bodyPr wrap="none" lIns="0" tIns="0" rIns="0" bIns="0" anchor="t" anchorCtr="0">
              <a:spAutoFit/>
            </a:bodyPr>
            <a:lstStyle/>
            <a:p>
              <a:pPr algn="l"/>
              <a:r>
                <a:rPr lang="zh-CN" sz="825" dirty="0">
                  <a:solidFill>
                    <a:srgbClr val="818CF8"/>
                  </a:solidFill>
                  <a:latin typeface="Consolas"/>
                  <a:ea typeface="Microsoft YaHei"/>
                  <a:cs typeface="Consolas"/>
                </a:rPr>
                <a:t>Conv2</a:t>
              </a:r>
            </a:p>
          </p:txBody>
        </p:sp>
        <p:sp>
          <p:nvSpPr>
            <p:cNvPr id="19" name="TextBox 19"/>
            <p:cNvSpPr txBox="1"/>
            <p:nvPr/>
          </p:nvSpPr>
          <p:spPr>
            <a:xfrm>
              <a:off x="1799272" y="2530316"/>
              <a:ext cx="1841683" cy="167640"/>
            </a:xfrm>
            <a:prstGeom prst="rect">
              <a:avLst/>
            </a:prstGeom>
            <a:noFill/>
            <a:ln>
              <a:noFill/>
            </a:ln>
          </p:spPr>
          <p:txBody>
            <a:bodyPr wrap="none" lIns="0" tIns="0" rIns="0" bIns="0" anchor="t" anchorCtr="0">
              <a:spAutoFit/>
            </a:bodyPr>
            <a:lstStyle/>
            <a:p>
              <a:pPr algn="l"/>
              <a:r>
                <a:rPr lang="zh-CN" sz="825" dirty="0">
                  <a:solidFill>
                    <a:srgbClr val="475569"/>
                  </a:solidFill>
                  <a:latin typeface="Consolas"/>
                  <a:ea typeface="Microsoft YaHei"/>
                  <a:cs typeface="Consolas"/>
                </a:rPr>
                <a:t>Conv2d(32→64) + ReLU + MaxPool2d</a:t>
              </a:r>
            </a:p>
          </p:txBody>
        </p:sp>
        <p:sp>
          <p:nvSpPr>
            <p:cNvPr id="20" name="TextBox 20"/>
            <p:cNvSpPr txBox="1"/>
            <p:nvPr/>
          </p:nvSpPr>
          <p:spPr>
            <a:xfrm>
              <a:off x="5133022" y="2530316"/>
              <a:ext cx="604028"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[64, 4, 15]</a:t>
              </a:r>
            </a:p>
          </p:txBody>
        </p:sp>
      </p:grpSp>
      <p:grpSp>
        <p:nvGrpSpPr>
          <p:cNvPr id="26" name="Group 26"/>
          <p:cNvGrpSpPr/>
          <p:nvPr/>
        </p:nvGrpSpPr>
        <p:grpSpPr>
          <a:xfrm>
            <a:off x="857250" y="2809875"/>
            <a:ext cx="6667500" cy="285750"/>
            <a:chOff x="857250" y="2809875"/>
            <a:chExt cx="6667500" cy="285750"/>
          </a:xfrm>
        </p:grpSpPr>
        <p:sp>
          <p:nvSpPr>
            <p:cNvPr id="22" name="Rectangle 22"/>
            <p:cNvSpPr/>
            <p:nvPr/>
          </p:nvSpPr>
          <p:spPr>
            <a:xfrm>
              <a:off x="857250" y="2809875"/>
              <a:ext cx="6667500" cy="285750"/>
            </a:xfrm>
            <a:prstGeom prst="roundRect">
              <a:avLst>
                <a:gd name="adj" fmla="val 20000"/>
              </a:avLst>
            </a:prstGeom>
            <a:solidFill>
              <a:srgbClr val="ECFDF5"/>
            </a:solidFill>
            <a:ln w="9525">
              <a:solidFill>
                <a:srgbClr val="10B981"/>
              </a:solidFill>
            </a:ln>
          </p:spPr>
        </p:sp>
        <p:sp>
          <p:nvSpPr>
            <p:cNvPr id="23" name="TextBox 23"/>
            <p:cNvSpPr txBox="1"/>
            <p:nvPr/>
          </p:nvSpPr>
          <p:spPr>
            <a:xfrm>
              <a:off x="942022" y="2911316"/>
              <a:ext cx="323493"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Conv3</a:t>
              </a:r>
            </a:p>
          </p:txBody>
        </p:sp>
        <p:sp>
          <p:nvSpPr>
            <p:cNvPr id="24" name="TextBox 24"/>
            <p:cNvSpPr txBox="1"/>
            <p:nvPr/>
          </p:nvSpPr>
          <p:spPr>
            <a:xfrm>
              <a:off x="1799272" y="2911316"/>
              <a:ext cx="1874687" cy="167640"/>
            </a:xfrm>
            <a:prstGeom prst="rect">
              <a:avLst/>
            </a:prstGeom>
            <a:noFill/>
            <a:ln>
              <a:noFill/>
            </a:ln>
          </p:spPr>
          <p:txBody>
            <a:bodyPr wrap="none" lIns="0" tIns="0" rIns="0" bIns="0" anchor="t" anchorCtr="0">
              <a:spAutoFit/>
            </a:bodyPr>
            <a:lstStyle/>
            <a:p>
              <a:pPr algn="l"/>
              <a:r>
                <a:rPr lang="zh-CN" sz="825" dirty="0">
                  <a:solidFill>
                    <a:srgbClr val="475569"/>
                  </a:solidFill>
                  <a:latin typeface="Consolas"/>
                  <a:ea typeface="Microsoft YaHei"/>
                  <a:cs typeface="Consolas"/>
                </a:rPr>
                <a:t>Conv2d(64→128) + ReLU + MaxPool2d</a:t>
              </a:r>
            </a:p>
          </p:txBody>
        </p:sp>
        <p:sp>
          <p:nvSpPr>
            <p:cNvPr id="25" name="TextBox 25"/>
            <p:cNvSpPr txBox="1"/>
            <p:nvPr/>
          </p:nvSpPr>
          <p:spPr>
            <a:xfrm>
              <a:off x="5133022" y="2911316"/>
              <a:ext cx="604028"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[128, 2, 7]</a:t>
              </a:r>
            </a:p>
          </p:txBody>
        </p:sp>
      </p:grpSp>
      <p:grpSp>
        <p:nvGrpSpPr>
          <p:cNvPr id="31" name="Group 31"/>
          <p:cNvGrpSpPr/>
          <p:nvPr/>
        </p:nvGrpSpPr>
        <p:grpSpPr>
          <a:xfrm>
            <a:off x="857250" y="3190875"/>
            <a:ext cx="6667500" cy="300789"/>
            <a:chOff x="857250" y="3190875"/>
            <a:chExt cx="6667500" cy="300789"/>
          </a:xfrm>
        </p:grpSpPr>
        <p:sp>
          <p:nvSpPr>
            <p:cNvPr id="27" name="Rectangle 27"/>
            <p:cNvSpPr/>
            <p:nvPr/>
          </p:nvSpPr>
          <p:spPr>
            <a:xfrm>
              <a:off x="857250" y="3190875"/>
              <a:ext cx="6667500" cy="285750"/>
            </a:xfrm>
            <a:prstGeom prst="roundRect">
              <a:avLst>
                <a:gd name="adj" fmla="val 20000"/>
              </a:avLst>
            </a:prstGeom>
            <a:solidFill>
              <a:srgbClr val="FEF2F2"/>
            </a:solidFill>
            <a:ln w="9525">
              <a:solidFill>
                <a:srgbClr val="EF4444"/>
              </a:solidFill>
            </a:ln>
          </p:spPr>
        </p:sp>
        <p:sp>
          <p:nvSpPr>
            <p:cNvPr id="28" name="TextBox 28"/>
            <p:cNvSpPr txBox="1"/>
            <p:nvPr/>
          </p:nvSpPr>
          <p:spPr>
            <a:xfrm>
              <a:off x="942022" y="3292316"/>
              <a:ext cx="323493" cy="167640"/>
            </a:xfrm>
            <a:prstGeom prst="rect">
              <a:avLst/>
            </a:prstGeom>
            <a:noFill/>
            <a:ln>
              <a:noFill/>
            </a:ln>
          </p:spPr>
          <p:txBody>
            <a:bodyPr wrap="none" lIns="0" tIns="0" rIns="0" bIns="0" anchor="t" anchorCtr="0">
              <a:spAutoFit/>
            </a:bodyPr>
            <a:lstStyle/>
            <a:p>
              <a:pPr algn="l"/>
              <a:r>
                <a:rPr lang="zh-CN" sz="825" dirty="0">
                  <a:solidFill>
                    <a:srgbClr val="F87171"/>
                  </a:solidFill>
                  <a:latin typeface="Consolas"/>
                  <a:ea typeface="Microsoft YaHei"/>
                  <a:cs typeface="Consolas"/>
                </a:rPr>
                <a:t>Conv4</a:t>
              </a:r>
            </a:p>
          </p:txBody>
        </p:sp>
        <p:sp>
          <p:nvSpPr>
            <p:cNvPr id="29" name="TextBox 29"/>
            <p:cNvSpPr txBox="1"/>
            <p:nvPr/>
          </p:nvSpPr>
          <p:spPr>
            <a:xfrm>
              <a:off x="1799272" y="3292316"/>
              <a:ext cx="2369749" cy="167640"/>
            </a:xfrm>
            <a:prstGeom prst="rect">
              <a:avLst/>
            </a:prstGeom>
            <a:noFill/>
            <a:ln>
              <a:noFill/>
            </a:ln>
          </p:spPr>
          <p:txBody>
            <a:bodyPr wrap="none" lIns="0" tIns="0" rIns="0" bIns="0" anchor="t" anchorCtr="0">
              <a:spAutoFit/>
            </a:bodyPr>
            <a:lstStyle/>
            <a:p>
              <a:pPr algn="l"/>
              <a:r>
                <a:rPr lang="zh-CN" sz="825" dirty="0">
                  <a:solidFill>
                    <a:srgbClr val="475569"/>
                  </a:solidFill>
                  <a:latin typeface="Consolas"/>
                  <a:ea typeface="Microsoft YaHei"/>
                  <a:cs typeface="Consolas"/>
                </a:rPr>
                <a:t>Conv2d(128→256) + ReLU + AdaptiveAvgPool2d</a:t>
              </a:r>
            </a:p>
          </p:txBody>
        </p:sp>
        <p:sp>
          <p:nvSpPr>
            <p:cNvPr id="30" name="TextBox 30"/>
            <p:cNvSpPr txBox="1"/>
            <p:nvPr/>
          </p:nvSpPr>
          <p:spPr>
            <a:xfrm>
              <a:off x="5133022" y="3364706"/>
              <a:ext cx="1052774" cy="126958"/>
            </a:xfrm>
            <a:prstGeom prst="rect">
              <a:avLst/>
            </a:prstGeom>
            <a:noFill/>
            <a:ln>
              <a:noFill/>
            </a:ln>
          </p:spPr>
          <p:txBody>
            <a:bodyPr wrap="square" lIns="0" tIns="0" rIns="0" bIns="0" anchor="t" anchorCtr="0">
              <a:spAutoFit/>
            </a:bodyPr>
            <a:lstStyle/>
            <a:p>
              <a:pPr algn="l"/>
              <a:r>
                <a:rPr lang="zh-CN" sz="825" dirty="0">
                  <a:solidFill>
                    <a:srgbClr val="10B981"/>
                  </a:solidFill>
                  <a:latin typeface="Consolas"/>
                  <a:ea typeface="Microsoft YaHei"/>
                  <a:cs typeface="Consolas"/>
                </a:rPr>
                <a:t>[256, 1, 1]</a:t>
              </a:r>
            </a:p>
          </p:txBody>
        </p:sp>
      </p:grpSp>
      <p:grpSp>
        <p:nvGrpSpPr>
          <p:cNvPr id="36" name="Group 36"/>
          <p:cNvGrpSpPr/>
          <p:nvPr/>
        </p:nvGrpSpPr>
        <p:grpSpPr>
          <a:xfrm>
            <a:off x="857250" y="3571875"/>
            <a:ext cx="6667500" cy="285750"/>
            <a:chOff x="857250" y="3571875"/>
            <a:chExt cx="6667500" cy="285750"/>
          </a:xfrm>
        </p:grpSpPr>
        <p:sp>
          <p:nvSpPr>
            <p:cNvPr id="32" name="Rectangle 32"/>
            <p:cNvSpPr/>
            <p:nvPr/>
          </p:nvSpPr>
          <p:spPr>
            <a:xfrm>
              <a:off x="857250" y="3571875"/>
              <a:ext cx="6667500" cy="285750"/>
            </a:xfrm>
            <a:prstGeom prst="roundRect">
              <a:avLst>
                <a:gd name="adj" fmla="val 20000"/>
              </a:avLst>
            </a:prstGeom>
            <a:solidFill>
              <a:srgbClr val="0F172A"/>
            </a:solidFill>
            <a:ln w="9525">
              <a:solidFill>
                <a:srgbClr val="334155"/>
              </a:solidFill>
            </a:ln>
          </p:spPr>
        </p:sp>
        <p:sp>
          <p:nvSpPr>
            <p:cNvPr id="33" name="TextBox 33"/>
            <p:cNvSpPr txBox="1"/>
            <p:nvPr/>
          </p:nvSpPr>
          <p:spPr>
            <a:xfrm>
              <a:off x="942022" y="3673316"/>
              <a:ext cx="174974" cy="167640"/>
            </a:xfrm>
            <a:prstGeom prst="rect">
              <a:avLst/>
            </a:prstGeom>
            <a:noFill/>
            <a:ln>
              <a:noFill/>
            </a:ln>
          </p:spPr>
          <p:txBody>
            <a:bodyPr wrap="none" lIns="0" tIns="0" rIns="0" bIns="0" anchor="t" anchorCtr="0">
              <a:spAutoFit/>
            </a:bodyPr>
            <a:lstStyle/>
            <a:p>
              <a:pPr algn="l"/>
              <a:r>
                <a:rPr lang="zh-CN" sz="825" dirty="0">
                  <a:solidFill>
                    <a:srgbClr val="CBD5E1"/>
                  </a:solidFill>
                  <a:latin typeface="Consolas"/>
                  <a:ea typeface="Microsoft YaHei"/>
                  <a:cs typeface="Consolas"/>
                </a:rPr>
                <a:t>FC1</a:t>
              </a:r>
            </a:p>
          </p:txBody>
        </p:sp>
        <p:sp>
          <p:nvSpPr>
            <p:cNvPr id="34" name="TextBox 34"/>
            <p:cNvSpPr txBox="1"/>
            <p:nvPr/>
          </p:nvSpPr>
          <p:spPr>
            <a:xfrm>
              <a:off x="1799272" y="3673316"/>
              <a:ext cx="1904367" cy="126958"/>
            </a:xfrm>
            <a:prstGeom prst="rect">
              <a:avLst/>
            </a:prstGeom>
            <a:noFill/>
            <a:ln>
              <a:noFill/>
            </a:ln>
          </p:spPr>
          <p:txBody>
            <a:bodyPr wrap="none" lIns="0" tIns="0" rIns="0" bIns="0" anchor="t" anchorCtr="0">
              <a:spAutoFit/>
            </a:bodyPr>
            <a:lstStyle/>
            <a:p>
              <a:pPr algn="l"/>
              <a:r>
                <a:rPr lang="zh-CN" sz="825" dirty="0">
                  <a:solidFill>
                    <a:schemeClr val="bg1">
                      <a:lumMod val="65000"/>
                    </a:schemeClr>
                  </a:solidFill>
                  <a:latin typeface="Consolas"/>
                  <a:ea typeface="Microsoft YaHei"/>
                  <a:cs typeface="Consolas"/>
                </a:rPr>
                <a:t>Linear(256) + ReLU + Dropout(0.5)</a:t>
              </a:r>
            </a:p>
          </p:txBody>
        </p:sp>
        <p:sp>
          <p:nvSpPr>
            <p:cNvPr id="35" name="TextBox 35"/>
            <p:cNvSpPr txBox="1"/>
            <p:nvPr/>
          </p:nvSpPr>
          <p:spPr>
            <a:xfrm>
              <a:off x="5133022" y="3673316"/>
              <a:ext cx="295989"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[512]</a:t>
              </a:r>
            </a:p>
          </p:txBody>
        </p:sp>
      </p:grpSp>
      <p:grpSp>
        <p:nvGrpSpPr>
          <p:cNvPr id="42" name="Group 42"/>
          <p:cNvGrpSpPr/>
          <p:nvPr/>
        </p:nvGrpSpPr>
        <p:grpSpPr>
          <a:xfrm>
            <a:off x="857250" y="3952875"/>
            <a:ext cx="6667500" cy="285750"/>
            <a:chOff x="857250" y="3952875"/>
            <a:chExt cx="6667500" cy="285750"/>
          </a:xfrm>
        </p:grpSpPr>
        <p:sp>
          <p:nvSpPr>
            <p:cNvPr id="37" name="Rectangle 37"/>
            <p:cNvSpPr/>
            <p:nvPr/>
          </p:nvSpPr>
          <p:spPr>
            <a:xfrm>
              <a:off x="857250" y="3952875"/>
              <a:ext cx="6667500" cy="285750"/>
            </a:xfrm>
            <a:prstGeom prst="roundRect">
              <a:avLst>
                <a:gd name="adj" fmla="val 20000"/>
              </a:avLst>
            </a:prstGeom>
            <a:solidFill>
              <a:srgbClr val="0F172A"/>
            </a:solidFill>
            <a:ln w="9525">
              <a:solidFill>
                <a:srgbClr val="334155"/>
              </a:solidFill>
            </a:ln>
          </p:spPr>
        </p:sp>
        <p:sp>
          <p:nvSpPr>
            <p:cNvPr id="38" name="TextBox 38"/>
            <p:cNvSpPr txBox="1"/>
            <p:nvPr/>
          </p:nvSpPr>
          <p:spPr>
            <a:xfrm>
              <a:off x="942022" y="4054316"/>
              <a:ext cx="202478" cy="167640"/>
            </a:xfrm>
            <a:prstGeom prst="rect">
              <a:avLst/>
            </a:prstGeom>
            <a:noFill/>
            <a:ln>
              <a:noFill/>
            </a:ln>
          </p:spPr>
          <p:txBody>
            <a:bodyPr wrap="none" lIns="0" tIns="0" rIns="0" bIns="0" anchor="t" anchorCtr="0">
              <a:spAutoFit/>
            </a:bodyPr>
            <a:lstStyle/>
            <a:p>
              <a:pPr algn="l"/>
              <a:r>
                <a:rPr lang="zh-CN" sz="825" dirty="0">
                  <a:solidFill>
                    <a:srgbClr val="CBD5E1"/>
                  </a:solidFill>
                  <a:latin typeface="Consolas"/>
                  <a:ea typeface="Microsoft YaHei"/>
                  <a:cs typeface="Consolas"/>
                </a:rPr>
                <a:t>FC2</a:t>
              </a:r>
            </a:p>
          </p:txBody>
        </p:sp>
        <p:sp>
          <p:nvSpPr>
            <p:cNvPr id="39" name="TextBox 39"/>
            <p:cNvSpPr txBox="1"/>
            <p:nvPr/>
          </p:nvSpPr>
          <p:spPr>
            <a:xfrm>
              <a:off x="1799272" y="4054316"/>
              <a:ext cx="750205" cy="126958"/>
            </a:xfrm>
            <a:prstGeom prst="rect">
              <a:avLst/>
            </a:prstGeom>
            <a:noFill/>
            <a:ln>
              <a:noFill/>
            </a:ln>
          </p:spPr>
          <p:txBody>
            <a:bodyPr wrap="none" lIns="0" tIns="0" rIns="0" bIns="0" anchor="t" anchorCtr="0">
              <a:spAutoFit/>
            </a:bodyPr>
            <a:lstStyle/>
            <a:p>
              <a:pPr algn="l"/>
              <a:r>
                <a:rPr lang="zh-CN" sz="825" dirty="0">
                  <a:solidFill>
                    <a:schemeClr val="bg1">
                      <a:lumMod val="65000"/>
                    </a:schemeClr>
                  </a:solidFill>
                  <a:latin typeface="Consolas"/>
                  <a:ea typeface="Microsoft YaHei"/>
                  <a:cs typeface="Consolas"/>
                </a:rPr>
                <a:t>Linear(512→2)</a:t>
              </a:r>
            </a:p>
          </p:txBody>
        </p:sp>
        <p:sp>
          <p:nvSpPr>
            <p:cNvPr id="40" name="TextBox 40"/>
            <p:cNvSpPr txBox="1"/>
            <p:nvPr/>
          </p:nvSpPr>
          <p:spPr>
            <a:xfrm>
              <a:off x="3704272" y="4054316"/>
              <a:ext cx="202478"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a:ea typeface="Microsoft YaHei"/>
                  <a:cs typeface="Consolas"/>
                </a:rPr>
                <a:t>[2]</a:t>
              </a:r>
            </a:p>
          </p:txBody>
        </p:sp>
        <p:sp>
          <p:nvSpPr>
            <p:cNvPr id="41" name="TextBox 41"/>
            <p:cNvSpPr txBox="1"/>
            <p:nvPr/>
          </p:nvSpPr>
          <p:spPr>
            <a:xfrm>
              <a:off x="4656772" y="4054316"/>
              <a:ext cx="1368623" cy="167640"/>
            </a:xfrm>
            <a:prstGeom prst="rect">
              <a:avLst/>
            </a:prstGeom>
            <a:noFill/>
            <a:ln>
              <a:noFill/>
            </a:ln>
          </p:spPr>
          <p:txBody>
            <a:bodyPr wrap="none" lIns="0" tIns="0" rIns="0" bIns="0" anchor="t" anchorCtr="0">
              <a:spAutoFit/>
            </a:bodyPr>
            <a:lstStyle/>
            <a:p>
              <a:pPr algn="l"/>
              <a:r>
                <a:rPr lang="zh-CN" sz="825" dirty="0">
                  <a:solidFill>
                    <a:srgbClr val="CBD5E1"/>
                  </a:solidFill>
                  <a:latin typeface="Consolas"/>
                  <a:ea typeface="Microsoft YaHei"/>
                  <a:cs typeface="Consolas"/>
                </a:rPr>
                <a:t>→ 输出: [AM概率, FM概率]</a:t>
              </a:r>
            </a:p>
          </p:txBody>
        </p:sp>
      </p:grpSp>
      <p:sp>
        <p:nvSpPr>
          <p:cNvPr id="43" name="Rectangle 43"/>
          <p:cNvSpPr/>
          <p:nvPr/>
        </p:nvSpPr>
        <p:spPr>
          <a:xfrm>
            <a:off x="8191500" y="1047750"/>
            <a:ext cx="3429000" cy="1714500"/>
          </a:xfrm>
          <a:prstGeom prst="roundRect">
            <a:avLst>
              <a:gd name="adj" fmla="val 6667"/>
            </a:avLst>
          </a:prstGeom>
          <a:solidFill>
            <a:srgbClr val="1E293B"/>
          </a:solidFill>
          <a:ln w="9525">
            <a:solidFill>
              <a:srgbClr val="334155"/>
            </a:solidFill>
          </a:ln>
        </p:spPr>
      </p:sp>
      <p:sp>
        <p:nvSpPr>
          <p:cNvPr id="44" name="TextBox 44"/>
          <p:cNvSpPr txBox="1"/>
          <p:nvPr/>
        </p:nvSpPr>
        <p:spPr>
          <a:xfrm>
            <a:off x="8460105" y="1235392"/>
            <a:ext cx="790384"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核心组件</a:t>
            </a:r>
          </a:p>
        </p:txBody>
      </p:sp>
      <p:sp>
        <p:nvSpPr>
          <p:cNvPr id="45" name="TextBox 45"/>
          <p:cNvSpPr txBox="1"/>
          <p:nvPr/>
        </p:nvSpPr>
        <p:spPr>
          <a:xfrm>
            <a:off x="8464868" y="1561624"/>
            <a:ext cx="1181910"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 </a:t>
            </a:r>
            <a:r>
              <a:rPr lang="zh-CN" sz="975" b="1" dirty="0">
                <a:solidFill>
                  <a:srgbClr val="CBD5E1"/>
                </a:solidFill>
                <a:latin typeface="Arial"/>
                <a:ea typeface="Microsoft YaHei"/>
                <a:cs typeface="Arial"/>
              </a:rPr>
              <a:t>ReLU</a:t>
            </a:r>
            <a:r>
              <a:rPr lang="zh-CN" sz="975" dirty="0">
                <a:solidFill>
                  <a:srgbClr val="CBD5E1"/>
                </a:solidFill>
                <a:latin typeface="Arial"/>
                <a:ea typeface="Microsoft YaHei"/>
                <a:cs typeface="Arial"/>
              </a:rPr>
              <a:t>: 引入非线性</a:t>
            </a:r>
          </a:p>
        </p:txBody>
      </p:sp>
      <p:sp>
        <p:nvSpPr>
          <p:cNvPr id="46" name="TextBox 46"/>
          <p:cNvSpPr txBox="1"/>
          <p:nvPr/>
        </p:nvSpPr>
        <p:spPr>
          <a:xfrm>
            <a:off x="8464868" y="1799749"/>
            <a:ext cx="1402937"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 </a:t>
            </a:r>
            <a:r>
              <a:rPr lang="zh-CN" sz="975" b="1" dirty="0">
                <a:solidFill>
                  <a:srgbClr val="CBD5E1"/>
                </a:solidFill>
                <a:latin typeface="Arial"/>
                <a:ea typeface="Microsoft YaHei"/>
                <a:cs typeface="Arial"/>
              </a:rPr>
              <a:t>MaxPool2d</a:t>
            </a:r>
            <a:r>
              <a:rPr lang="zh-CN" sz="975" dirty="0">
                <a:solidFill>
                  <a:srgbClr val="CBD5E1"/>
                </a:solidFill>
                <a:latin typeface="Arial"/>
                <a:ea typeface="Microsoft YaHei"/>
                <a:cs typeface="Arial"/>
              </a:rPr>
              <a:t>: 降维减参</a:t>
            </a:r>
          </a:p>
        </p:txBody>
      </p:sp>
      <p:sp>
        <p:nvSpPr>
          <p:cNvPr id="47" name="TextBox 47"/>
          <p:cNvSpPr txBox="1"/>
          <p:nvPr/>
        </p:nvSpPr>
        <p:spPr>
          <a:xfrm>
            <a:off x="8464868" y="2037874"/>
            <a:ext cx="1773484"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 </a:t>
            </a:r>
            <a:r>
              <a:rPr lang="zh-CN" sz="975" b="1" dirty="0">
                <a:solidFill>
                  <a:srgbClr val="CBD5E1"/>
                </a:solidFill>
                <a:latin typeface="Arial"/>
                <a:ea typeface="Microsoft YaHei"/>
                <a:cs typeface="Arial"/>
              </a:rPr>
              <a:t>AdaptiveAvgPool</a:t>
            </a:r>
            <a:r>
              <a:rPr lang="zh-CN" sz="975" dirty="0">
                <a:solidFill>
                  <a:srgbClr val="CBD5E1"/>
                </a:solidFill>
                <a:latin typeface="Arial"/>
                <a:ea typeface="Microsoft YaHei"/>
                <a:cs typeface="Arial"/>
              </a:rPr>
              <a:t>: 固定输出</a:t>
            </a:r>
          </a:p>
        </p:txBody>
      </p:sp>
      <p:sp>
        <p:nvSpPr>
          <p:cNvPr id="48" name="TextBox 48"/>
          <p:cNvSpPr txBox="1"/>
          <p:nvPr/>
        </p:nvSpPr>
        <p:spPr>
          <a:xfrm>
            <a:off x="8464868" y="2275999"/>
            <a:ext cx="1396436" cy="198120"/>
          </a:xfrm>
          <a:prstGeom prst="rect">
            <a:avLst/>
          </a:prstGeom>
          <a:noFill/>
          <a:ln>
            <a:noFill/>
          </a:ln>
        </p:spPr>
        <p:txBody>
          <a:bodyPr wrap="none" lIns="0" tIns="0" rIns="0" bIns="0" anchor="t" anchorCtr="0">
            <a:spAutoFit/>
          </a:bodyPr>
          <a:lstStyle/>
          <a:p>
            <a:pPr algn="l"/>
            <a:r>
              <a:rPr lang="zh-CN" sz="975" dirty="0">
                <a:solidFill>
                  <a:srgbClr val="CBD5E1"/>
                </a:solidFill>
                <a:latin typeface="Arial"/>
                <a:ea typeface="Microsoft YaHei"/>
                <a:cs typeface="Arial"/>
              </a:rPr>
              <a:t>• </a:t>
            </a:r>
            <a:r>
              <a:rPr lang="zh-CN" sz="975" b="1" dirty="0">
                <a:solidFill>
                  <a:srgbClr val="CBD5E1"/>
                </a:solidFill>
                <a:latin typeface="Arial"/>
                <a:ea typeface="Microsoft YaHei"/>
                <a:cs typeface="Arial"/>
              </a:rPr>
              <a:t>Dropout</a:t>
            </a:r>
            <a:r>
              <a:rPr lang="zh-CN" sz="975" dirty="0">
                <a:solidFill>
                  <a:srgbClr val="CBD5E1"/>
                </a:solidFill>
                <a:latin typeface="Arial"/>
                <a:ea typeface="Microsoft YaHei"/>
                <a:cs typeface="Arial"/>
              </a:rPr>
              <a:t>: 防止过拟合</a:t>
            </a:r>
          </a:p>
        </p:txBody>
      </p:sp>
      <p:sp>
        <p:nvSpPr>
          <p:cNvPr id="49" name="TextBox 49"/>
          <p:cNvSpPr txBox="1"/>
          <p:nvPr/>
        </p:nvSpPr>
        <p:spPr>
          <a:xfrm>
            <a:off x="8464868" y="2514124"/>
            <a:ext cx="1041952"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(随机失活概率 0.5)</a:t>
            </a:r>
          </a:p>
        </p:txBody>
      </p:sp>
      <p:sp>
        <p:nvSpPr>
          <p:cNvPr id="50" name="Rectangle 50"/>
          <p:cNvSpPr/>
          <p:nvPr/>
        </p:nvSpPr>
        <p:spPr>
          <a:xfrm>
            <a:off x="8191500" y="2952750"/>
            <a:ext cx="3429000" cy="1714500"/>
          </a:xfrm>
          <a:prstGeom prst="roundRect">
            <a:avLst>
              <a:gd name="adj" fmla="val 6667"/>
            </a:avLst>
          </a:prstGeom>
          <a:solidFill>
            <a:srgbClr val="EFF6FF"/>
          </a:solidFill>
          <a:ln w="19050">
            <a:solidFill>
              <a:srgbClr val="2563EB"/>
            </a:solidFill>
          </a:ln>
        </p:spPr>
      </p:sp>
      <p:sp>
        <p:nvSpPr>
          <p:cNvPr id="51" name="TextBox 51"/>
          <p:cNvSpPr txBox="1"/>
          <p:nvPr/>
        </p:nvSpPr>
        <p:spPr>
          <a:xfrm>
            <a:off x="8460105" y="3140392"/>
            <a:ext cx="790384" cy="274320"/>
          </a:xfrm>
          <a:prstGeom prst="rect">
            <a:avLst/>
          </a:prstGeom>
          <a:noFill/>
          <a:ln>
            <a:noFill/>
          </a:ln>
        </p:spPr>
        <p:txBody>
          <a:bodyPr wrap="none" lIns="0" tIns="0" rIns="0" bIns="0" anchor="t" anchorCtr="0">
            <a:spAutoFit/>
          </a:bodyPr>
          <a:lstStyle/>
          <a:p>
            <a:pPr algn="l"/>
            <a:r>
              <a:rPr lang="zh-CN" sz="1350" b="1" dirty="0">
                <a:gradFill>
                  <a:gsLst>
                    <a:gs pos="0">
                      <a:srgbClr val="2563EB"/>
                    </a:gs>
                    <a:gs pos="100000">
                      <a:srgbClr val="8B5CF6"/>
                    </a:gs>
                  </a:gsLst>
                  <a:lin ang="0" scaled="1"/>
                </a:gradFill>
                <a:latin typeface="Arial"/>
                <a:ea typeface="Microsoft YaHei"/>
                <a:cs typeface="Arial"/>
              </a:rPr>
              <a:t>模型参数</a:t>
            </a:r>
          </a:p>
        </p:txBody>
      </p:sp>
      <p:sp>
        <p:nvSpPr>
          <p:cNvPr id="52" name="TextBox 52"/>
          <p:cNvSpPr txBox="1"/>
          <p:nvPr/>
        </p:nvSpPr>
        <p:spPr>
          <a:xfrm>
            <a:off x="8463915" y="3506152"/>
            <a:ext cx="71013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总参数数量:</a:t>
            </a:r>
          </a:p>
        </p:txBody>
      </p:sp>
      <p:sp>
        <p:nvSpPr>
          <p:cNvPr id="53" name="TextBox 53"/>
          <p:cNvSpPr txBox="1"/>
          <p:nvPr/>
        </p:nvSpPr>
        <p:spPr>
          <a:xfrm>
            <a:off x="9978390" y="3425190"/>
            <a:ext cx="1016041" cy="365760"/>
          </a:xfrm>
          <a:prstGeom prst="rect">
            <a:avLst/>
          </a:prstGeom>
          <a:noFill/>
          <a:ln>
            <a:noFill/>
          </a:ln>
        </p:spPr>
        <p:txBody>
          <a:bodyPr wrap="none" lIns="0" tIns="0" rIns="0" bIns="0" anchor="t" anchorCtr="0">
            <a:spAutoFit/>
          </a:bodyPr>
          <a:lstStyle/>
          <a:p>
            <a:pPr algn="l"/>
            <a:r>
              <a:rPr lang="zh-CN" sz="1800" b="1" dirty="0">
                <a:gradFill>
                  <a:gsLst>
                    <a:gs pos="0">
                      <a:srgbClr val="2563EB"/>
                    </a:gs>
                    <a:gs pos="100000">
                      <a:srgbClr val="8B5CF6"/>
                    </a:gs>
                  </a:gsLst>
                  <a:lin ang="0" scaled="1"/>
                </a:gradFill>
                <a:latin typeface="Arial"/>
                <a:ea typeface="Microsoft YaHei"/>
                <a:cs typeface="Arial"/>
              </a:rPr>
              <a:t>520,450</a:t>
            </a:r>
          </a:p>
        </p:txBody>
      </p:sp>
      <p:sp>
        <p:nvSpPr>
          <p:cNvPr id="54" name="TextBox 54"/>
          <p:cNvSpPr txBox="1"/>
          <p:nvPr/>
        </p:nvSpPr>
        <p:spPr>
          <a:xfrm>
            <a:off x="8463915" y="3791902"/>
            <a:ext cx="71013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可训练参数:</a:t>
            </a:r>
          </a:p>
        </p:txBody>
      </p:sp>
      <p:sp>
        <p:nvSpPr>
          <p:cNvPr id="55" name="TextBox 55"/>
          <p:cNvSpPr txBox="1"/>
          <p:nvPr/>
        </p:nvSpPr>
        <p:spPr>
          <a:xfrm>
            <a:off x="9978390" y="3710940"/>
            <a:ext cx="1016041"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520,450</a:t>
            </a:r>
          </a:p>
        </p:txBody>
      </p:sp>
      <p:sp>
        <p:nvSpPr>
          <p:cNvPr id="56" name="TextBox 56"/>
          <p:cNvSpPr txBox="1"/>
          <p:nvPr/>
        </p:nvSpPr>
        <p:spPr>
          <a:xfrm>
            <a:off x="8464868" y="4133374"/>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所有参数均可训练，无冻结层</a:t>
            </a:r>
          </a:p>
        </p:txBody>
      </p:sp>
      <p:sp>
        <p:nvSpPr>
          <p:cNvPr id="57" name="TextBox 57"/>
          <p:cNvSpPr txBox="1"/>
          <p:nvPr/>
        </p:nvSpPr>
        <p:spPr>
          <a:xfrm>
            <a:off x="8464868" y="4371499"/>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无批归一化层，无预训练参数</a:t>
            </a:r>
          </a:p>
        </p:txBody>
      </p:sp>
      <p:sp>
        <p:nvSpPr>
          <p:cNvPr id="58" name="Rectangle 58"/>
          <p:cNvSpPr/>
          <p:nvPr/>
        </p:nvSpPr>
        <p:spPr>
          <a:xfrm>
            <a:off x="571500" y="4953000"/>
            <a:ext cx="11049000" cy="1428750"/>
          </a:xfrm>
          <a:prstGeom prst="roundRect">
            <a:avLst>
              <a:gd name="adj" fmla="val 8000"/>
            </a:avLst>
          </a:prstGeom>
          <a:solidFill>
            <a:srgbClr val="1E293B"/>
          </a:solidFill>
          <a:ln w="9525">
            <a:solidFill>
              <a:srgbClr val="334155"/>
            </a:solidFill>
          </a:ln>
        </p:spPr>
      </p:sp>
      <p:sp>
        <p:nvSpPr>
          <p:cNvPr id="59" name="TextBox 59"/>
          <p:cNvSpPr txBox="1"/>
          <p:nvPr/>
        </p:nvSpPr>
        <p:spPr>
          <a:xfrm>
            <a:off x="840105" y="5140642"/>
            <a:ext cx="790384"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设计要点</a:t>
            </a:r>
          </a:p>
        </p:txBody>
      </p:sp>
      <p:sp>
        <p:nvSpPr>
          <p:cNvPr id="60" name="TextBox 60"/>
          <p:cNvSpPr txBox="1"/>
          <p:nvPr/>
        </p:nvSpPr>
        <p:spPr>
          <a:xfrm>
            <a:off x="843915" y="5506402"/>
            <a:ext cx="534033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1. 多次池化下采样，将 17×61 的频谱图逐步压缩为 2×7，降低计算量同时保留有效信息</a:t>
            </a:r>
          </a:p>
        </p:txBody>
      </p:sp>
      <p:sp>
        <p:nvSpPr>
          <p:cNvPr id="61" name="TextBox 61"/>
          <p:cNvSpPr txBox="1"/>
          <p:nvPr/>
        </p:nvSpPr>
        <p:spPr>
          <a:xfrm>
            <a:off x="843915" y="5792152"/>
            <a:ext cx="3723132"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2. 自适应池化输出固定维度的特征向量，保证网络的鲁棒性</a:t>
            </a:r>
          </a:p>
        </p:txBody>
      </p:sp>
      <p:sp>
        <p:nvSpPr>
          <p:cNvPr id="62" name="TextBox 62"/>
          <p:cNvSpPr txBox="1"/>
          <p:nvPr/>
        </p:nvSpPr>
        <p:spPr>
          <a:xfrm>
            <a:off x="843915" y="6077902"/>
            <a:ext cx="314906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3. Dropout(0.5) 防止过拟合，提升模型泛化能力</a:t>
            </a:r>
          </a:p>
        </p:txBody>
      </p:sp>
      <p:sp>
        <p:nvSpPr>
          <p:cNvPr id="63" name="TextBox 63"/>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P09</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7761842"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CNN 卷积层详解 Convolutional Layer Details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1238250"/>
          </a:xfrm>
          <a:prstGeom prst="roundRect">
            <a:avLst>
              <a:gd name="adj" fmla="val 9231"/>
            </a:avLst>
          </a:prstGeom>
          <a:solidFill>
            <a:srgbClr val="1E293B"/>
          </a:solidFill>
          <a:ln w="9525">
            <a:solidFill>
              <a:srgbClr val="334155"/>
            </a:solidFill>
          </a:ln>
        </p:spPr>
      </p:sp>
      <p:sp>
        <p:nvSpPr>
          <p:cNvPr id="7" name="TextBox 7"/>
          <p:cNvSpPr txBox="1"/>
          <p:nvPr/>
        </p:nvSpPr>
        <p:spPr>
          <a:xfrm>
            <a:off x="838200" y="121920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卷积操作原理</a:t>
            </a:r>
          </a:p>
        </p:txBody>
      </p:sp>
      <p:sp>
        <p:nvSpPr>
          <p:cNvPr id="8" name="TextBox 8"/>
          <p:cNvSpPr txBox="1"/>
          <p:nvPr/>
        </p:nvSpPr>
        <p:spPr>
          <a:xfrm>
            <a:off x="843915" y="1601152"/>
            <a:ext cx="4533292"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卷积核(滤波器)在输入特征图上滑动，计算局部区域的加权和，提取空间特征</a:t>
            </a:r>
          </a:p>
        </p:txBody>
      </p:sp>
      <p:sp>
        <p:nvSpPr>
          <p:cNvPr id="9" name="TextBox 9"/>
          <p:cNvSpPr txBox="1"/>
          <p:nvPr/>
        </p:nvSpPr>
        <p:spPr>
          <a:xfrm>
            <a:off x="843915" y="1886902"/>
            <a:ext cx="408017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卷积核大小: 3×3 | 步长: 1 | 填充: 1 (保持尺寸) | 激活函数: ReLU</a:t>
            </a:r>
          </a:p>
        </p:txBody>
      </p:sp>
      <p:sp>
        <p:nvSpPr>
          <p:cNvPr id="10" name="Rectangle 10"/>
          <p:cNvSpPr/>
          <p:nvPr/>
        </p:nvSpPr>
        <p:spPr>
          <a:xfrm>
            <a:off x="571500" y="2476500"/>
            <a:ext cx="5334000" cy="2095500"/>
          </a:xfrm>
          <a:prstGeom prst="roundRect">
            <a:avLst>
              <a:gd name="adj" fmla="val 5455"/>
            </a:avLst>
          </a:prstGeom>
          <a:solidFill>
            <a:srgbClr val="1E293B"/>
          </a:solidFill>
          <a:ln w="9525">
            <a:solidFill>
              <a:srgbClr val="334155"/>
            </a:solidFill>
          </a:ln>
        </p:spPr>
      </p:sp>
      <p:sp>
        <p:nvSpPr>
          <p:cNvPr id="11" name="TextBox 11"/>
          <p:cNvSpPr txBox="1"/>
          <p:nvPr/>
        </p:nvSpPr>
        <p:spPr>
          <a:xfrm>
            <a:off x="840105" y="2664142"/>
            <a:ext cx="1234590"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Conv1: 输入层</a:t>
            </a:r>
          </a:p>
        </p:txBody>
      </p:sp>
      <p:sp>
        <p:nvSpPr>
          <p:cNvPr id="12" name="TextBox 12"/>
          <p:cNvSpPr txBox="1"/>
          <p:nvPr/>
        </p:nvSpPr>
        <p:spPr>
          <a:xfrm>
            <a:off x="843915" y="3029902"/>
            <a:ext cx="1210268"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输入形状: [1, 17, 61]</a:t>
            </a:r>
          </a:p>
        </p:txBody>
      </p:sp>
      <p:sp>
        <p:nvSpPr>
          <p:cNvPr id="13" name="TextBox 13"/>
          <p:cNvSpPr txBox="1"/>
          <p:nvPr/>
        </p:nvSpPr>
        <p:spPr>
          <a:xfrm>
            <a:off x="843915" y="3315652"/>
            <a:ext cx="810768"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1 个输入通道</a:t>
            </a:r>
          </a:p>
        </p:txBody>
      </p:sp>
      <p:sp>
        <p:nvSpPr>
          <p:cNvPr id="14" name="TextBox 14"/>
          <p:cNvSpPr txBox="1"/>
          <p:nvPr/>
        </p:nvSpPr>
        <p:spPr>
          <a:xfrm>
            <a:off x="843915" y="3601402"/>
            <a:ext cx="922782"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17 个频率 bins</a:t>
            </a:r>
          </a:p>
        </p:txBody>
      </p:sp>
      <p:sp>
        <p:nvSpPr>
          <p:cNvPr id="15" name="TextBox 15"/>
          <p:cNvSpPr txBox="1"/>
          <p:nvPr/>
        </p:nvSpPr>
        <p:spPr>
          <a:xfrm>
            <a:off x="843915" y="3887152"/>
            <a:ext cx="74776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61 个时间帧</a:t>
            </a:r>
          </a:p>
        </p:txBody>
      </p:sp>
      <p:sp>
        <p:nvSpPr>
          <p:cNvPr id="16" name="TextBox 16"/>
          <p:cNvSpPr txBox="1"/>
          <p:nvPr/>
        </p:nvSpPr>
        <p:spPr>
          <a:xfrm>
            <a:off x="843915" y="4220528"/>
            <a:ext cx="1511556" cy="213360"/>
          </a:xfrm>
          <a:prstGeom prst="rect">
            <a:avLst/>
          </a:prstGeom>
          <a:noFill/>
          <a:ln>
            <a:noFill/>
          </a:ln>
        </p:spPr>
        <p:txBody>
          <a:bodyPr wrap="none" lIns="0" tIns="0" rIns="0" bIns="0" anchor="t" anchorCtr="0">
            <a:spAutoFit/>
          </a:bodyPr>
          <a:lstStyle/>
          <a:p>
            <a:pPr algn="l"/>
            <a:r>
              <a:rPr lang="zh-CN" sz="1050" b="1" dirty="0">
                <a:gradFill>
                  <a:gsLst>
                    <a:gs pos="0">
                      <a:srgbClr val="2563EB"/>
                    </a:gs>
                    <a:gs pos="100000">
                      <a:srgbClr val="8B5CF6"/>
                    </a:gs>
                  </a:gsLst>
                  <a:lin ang="0" scaled="1"/>
                </a:gradFill>
                <a:latin typeface="Arial"/>
                <a:ea typeface="Microsoft YaHei"/>
                <a:cs typeface="Arial"/>
              </a:rPr>
              <a:t>↓ 输出: 32 通道特征图</a:t>
            </a:r>
          </a:p>
        </p:txBody>
      </p:sp>
      <p:sp>
        <p:nvSpPr>
          <p:cNvPr id="17" name="Rectangle 17"/>
          <p:cNvSpPr/>
          <p:nvPr/>
        </p:nvSpPr>
        <p:spPr>
          <a:xfrm>
            <a:off x="6286500" y="2476500"/>
            <a:ext cx="5334000" cy="2095500"/>
          </a:xfrm>
          <a:prstGeom prst="roundRect">
            <a:avLst>
              <a:gd name="adj" fmla="val 5455"/>
            </a:avLst>
          </a:prstGeom>
          <a:solidFill>
            <a:srgbClr val="1E293B"/>
          </a:solidFill>
          <a:ln w="9525">
            <a:solidFill>
              <a:srgbClr val="334155"/>
            </a:solidFill>
          </a:ln>
        </p:spPr>
      </p:sp>
      <p:sp>
        <p:nvSpPr>
          <p:cNvPr id="18" name="TextBox 18"/>
          <p:cNvSpPr txBox="1"/>
          <p:nvPr/>
        </p:nvSpPr>
        <p:spPr>
          <a:xfrm>
            <a:off x="6555105" y="2664142"/>
            <a:ext cx="1489772"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Conv2-4: 隐藏层</a:t>
            </a:r>
          </a:p>
        </p:txBody>
      </p:sp>
      <p:sp>
        <p:nvSpPr>
          <p:cNvPr id="19" name="TextBox 19"/>
          <p:cNvSpPr txBox="1"/>
          <p:nvPr/>
        </p:nvSpPr>
        <p:spPr>
          <a:xfrm>
            <a:off x="6558915" y="3029902"/>
            <a:ext cx="239488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逐层增加通道数: 32 → 64 → 128 → 256</a:t>
            </a:r>
          </a:p>
        </p:txBody>
      </p:sp>
      <p:sp>
        <p:nvSpPr>
          <p:cNvPr id="20" name="TextBox 20"/>
          <p:cNvSpPr txBox="1"/>
          <p:nvPr/>
        </p:nvSpPr>
        <p:spPr>
          <a:xfrm>
            <a:off x="6558915" y="3315652"/>
            <a:ext cx="142684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提取越来越抽象的特征</a:t>
            </a:r>
          </a:p>
        </p:txBody>
      </p:sp>
      <p:sp>
        <p:nvSpPr>
          <p:cNvPr id="21" name="TextBox 21"/>
          <p:cNvSpPr txBox="1"/>
          <p:nvPr/>
        </p:nvSpPr>
        <p:spPr>
          <a:xfrm>
            <a:off x="6558915" y="3601402"/>
            <a:ext cx="112580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低层: 边缘、纹理</a:t>
            </a:r>
          </a:p>
        </p:txBody>
      </p:sp>
      <p:sp>
        <p:nvSpPr>
          <p:cNvPr id="22" name="TextBox 22"/>
          <p:cNvSpPr txBox="1"/>
          <p:nvPr/>
        </p:nvSpPr>
        <p:spPr>
          <a:xfrm>
            <a:off x="6558915" y="3887152"/>
            <a:ext cx="112580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高层: 模式、语义</a:t>
            </a:r>
          </a:p>
        </p:txBody>
      </p:sp>
      <p:sp>
        <p:nvSpPr>
          <p:cNvPr id="23" name="TextBox 23"/>
          <p:cNvSpPr txBox="1"/>
          <p:nvPr/>
        </p:nvSpPr>
        <p:spPr>
          <a:xfrm>
            <a:off x="6558915" y="4220528"/>
            <a:ext cx="1452748" cy="213360"/>
          </a:xfrm>
          <a:prstGeom prst="rect">
            <a:avLst/>
          </a:prstGeom>
          <a:noFill/>
          <a:ln>
            <a:noFill/>
          </a:ln>
        </p:spPr>
        <p:txBody>
          <a:bodyPr wrap="none" lIns="0" tIns="0" rIns="0" bIns="0" anchor="t" anchorCtr="0">
            <a:spAutoFit/>
          </a:bodyPr>
          <a:lstStyle/>
          <a:p>
            <a:pPr algn="l"/>
            <a:r>
              <a:rPr lang="zh-CN" sz="1050" b="1" dirty="0">
                <a:solidFill>
                  <a:srgbClr val="818CF8"/>
                </a:solidFill>
                <a:latin typeface="Arial"/>
                <a:ea typeface="Microsoft YaHei"/>
                <a:cs typeface="Arial"/>
              </a:rPr>
              <a:t>MaxPool2d: 2×2 降维</a:t>
            </a:r>
          </a:p>
        </p:txBody>
      </p:sp>
      <p:sp>
        <p:nvSpPr>
          <p:cNvPr id="24" name="Rectangle 24"/>
          <p:cNvSpPr/>
          <p:nvPr/>
        </p:nvSpPr>
        <p:spPr>
          <a:xfrm>
            <a:off x="571500" y="4762500"/>
            <a:ext cx="11049000" cy="1714500"/>
          </a:xfrm>
          <a:prstGeom prst="roundRect">
            <a:avLst>
              <a:gd name="adj" fmla="val 6667"/>
            </a:avLst>
          </a:prstGeom>
          <a:solidFill>
            <a:srgbClr val="1E293B"/>
          </a:solidFill>
          <a:ln w="9525">
            <a:solidFill>
              <a:srgbClr val="334155"/>
            </a:solidFill>
          </a:ln>
        </p:spPr>
      </p:sp>
      <p:sp>
        <p:nvSpPr>
          <p:cNvPr id="25" name="TextBox 25"/>
          <p:cNvSpPr txBox="1"/>
          <p:nvPr/>
        </p:nvSpPr>
        <p:spPr>
          <a:xfrm>
            <a:off x="838200" y="4933950"/>
            <a:ext cx="1508284"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特征图尺寸变化</a:t>
            </a:r>
          </a:p>
        </p:txBody>
      </p:sp>
      <p:grpSp>
        <p:nvGrpSpPr>
          <p:cNvPr id="29" name="Group 29"/>
          <p:cNvGrpSpPr/>
          <p:nvPr/>
        </p:nvGrpSpPr>
        <p:grpSpPr>
          <a:xfrm>
            <a:off x="857250" y="5334000"/>
            <a:ext cx="1428750" cy="476250"/>
            <a:chOff x="857250" y="5334000"/>
            <a:chExt cx="1428750" cy="476250"/>
          </a:xfrm>
        </p:grpSpPr>
        <p:sp>
          <p:nvSpPr>
            <p:cNvPr id="26" name="Rectangle 26"/>
            <p:cNvSpPr/>
            <p:nvPr/>
          </p:nvSpPr>
          <p:spPr>
            <a:xfrm>
              <a:off x="857250" y="5334000"/>
              <a:ext cx="1428750" cy="476250"/>
            </a:xfrm>
            <a:prstGeom prst="roundRect">
              <a:avLst>
                <a:gd name="adj" fmla="val 12000"/>
              </a:avLst>
            </a:prstGeom>
            <a:solidFill>
              <a:srgbClr val="EFF6FF"/>
            </a:solidFill>
            <a:ln w="19050">
              <a:solidFill>
                <a:srgbClr val="2563EB"/>
              </a:solidFill>
            </a:ln>
          </p:spPr>
        </p:sp>
        <p:sp>
          <p:nvSpPr>
            <p:cNvPr id="27" name="TextBox 27"/>
            <p:cNvSpPr txBox="1"/>
            <p:nvPr/>
          </p:nvSpPr>
          <p:spPr>
            <a:xfrm>
              <a:off x="1402675" y="5427345"/>
              <a:ext cx="337899" cy="182880"/>
            </a:xfrm>
            <a:prstGeom prst="rect">
              <a:avLst/>
            </a:prstGeom>
            <a:noFill/>
            <a:ln>
              <a:noFill/>
            </a:ln>
          </p:spPr>
          <p:txBody>
            <a:bodyPr wrap="none" lIns="0" tIns="0" rIns="0" bIns="0" anchor="t" anchorCtr="0">
              <a:spAutoFit/>
            </a:bodyPr>
            <a:lstStyle/>
            <a:p>
              <a:pPr algn="ctr"/>
              <a:r>
                <a:rPr lang="zh-CN" sz="900" b="1" dirty="0">
                  <a:gradFill>
                    <a:gsLst>
                      <a:gs pos="0">
                        <a:srgbClr val="2563EB"/>
                      </a:gs>
                      <a:gs pos="100000">
                        <a:srgbClr val="8B5CF6"/>
                      </a:gs>
                    </a:gsLst>
                    <a:lin ang="0" scaled="1"/>
                  </a:gradFill>
                  <a:latin typeface="Arial"/>
                  <a:ea typeface="Microsoft YaHei"/>
                  <a:cs typeface="Arial"/>
                </a:rPr>
                <a:t>Conv1</a:t>
              </a:r>
            </a:p>
          </p:txBody>
        </p:sp>
        <p:sp>
          <p:nvSpPr>
            <p:cNvPr id="28" name="TextBox 28"/>
            <p:cNvSpPr txBox="1"/>
            <p:nvPr/>
          </p:nvSpPr>
          <p:spPr>
            <a:xfrm>
              <a:off x="1255859" y="5606891"/>
              <a:ext cx="631531" cy="167640"/>
            </a:xfrm>
            <a:prstGeom prst="rect">
              <a:avLst/>
            </a:prstGeom>
            <a:noFill/>
            <a:ln>
              <a:noFill/>
            </a:ln>
          </p:spPr>
          <p:txBody>
            <a:bodyPr wrap="none" lIns="0" tIns="0" rIns="0" bIns="0" anchor="t" anchorCtr="0">
              <a:spAutoFit/>
            </a:bodyPr>
            <a:lstStyle/>
            <a:p>
              <a:pPr algn="ctr"/>
              <a:r>
                <a:rPr lang="zh-CN" sz="825" dirty="0">
                  <a:solidFill>
                    <a:srgbClr val="475569"/>
                  </a:solidFill>
                  <a:latin typeface="Arial"/>
                  <a:ea typeface="Microsoft YaHei"/>
                  <a:cs typeface="Arial"/>
                </a:rPr>
                <a:t>[32, 8, 30]</a:t>
              </a:r>
            </a:p>
          </p:txBody>
        </p:sp>
      </p:grpSp>
      <p:sp>
        <p:nvSpPr>
          <p:cNvPr id="30" name="TextBox 30"/>
          <p:cNvSpPr txBox="1"/>
          <p:nvPr/>
        </p:nvSpPr>
        <p:spPr>
          <a:xfrm>
            <a:off x="2362200" y="5410200"/>
            <a:ext cx="192360" cy="230832"/>
          </a:xfrm>
          <a:prstGeom prst="rect">
            <a:avLst/>
          </a:prstGeom>
          <a:noFill/>
          <a:ln>
            <a:noFill/>
          </a:ln>
        </p:spPr>
        <p:txBody>
          <a:bodyPr wrap="none" lIns="0" tIns="0" rIns="0" bIns="0" anchor="t" anchorCtr="0">
            <a:spAutoFit/>
          </a:bodyPr>
          <a:lstStyle/>
          <a:p>
            <a:pPr algn="l"/>
            <a:r>
              <a:rPr lang="zh-CN" sz="1500" dirty="0">
                <a:solidFill>
                  <a:schemeClr val="bg1"/>
                </a:solidFill>
                <a:latin typeface="Arial"/>
                <a:ea typeface="Microsoft YaHei"/>
                <a:cs typeface="Arial"/>
              </a:rPr>
              <a:t>→</a:t>
            </a:r>
          </a:p>
        </p:txBody>
      </p:sp>
      <p:grpSp>
        <p:nvGrpSpPr>
          <p:cNvPr id="34" name="Group 34"/>
          <p:cNvGrpSpPr/>
          <p:nvPr/>
        </p:nvGrpSpPr>
        <p:grpSpPr>
          <a:xfrm>
            <a:off x="2667000" y="5334000"/>
            <a:ext cx="1428750" cy="476250"/>
            <a:chOff x="2667000" y="5334000"/>
            <a:chExt cx="1428750" cy="476250"/>
          </a:xfrm>
        </p:grpSpPr>
        <p:sp>
          <p:nvSpPr>
            <p:cNvPr id="31" name="Rectangle 31"/>
            <p:cNvSpPr/>
            <p:nvPr/>
          </p:nvSpPr>
          <p:spPr>
            <a:xfrm>
              <a:off x="2667000" y="5334000"/>
              <a:ext cx="1428750" cy="476250"/>
            </a:xfrm>
            <a:prstGeom prst="roundRect">
              <a:avLst>
                <a:gd name="adj" fmla="val 12000"/>
              </a:avLst>
            </a:prstGeom>
            <a:solidFill>
              <a:srgbClr val="F3E8FF"/>
            </a:solidFill>
            <a:ln w="19050">
              <a:solidFill>
                <a:srgbClr val="8B5CF6"/>
              </a:solidFill>
            </a:ln>
          </p:spPr>
        </p:sp>
        <p:sp>
          <p:nvSpPr>
            <p:cNvPr id="32" name="TextBox 32"/>
            <p:cNvSpPr txBox="1"/>
            <p:nvPr/>
          </p:nvSpPr>
          <p:spPr>
            <a:xfrm>
              <a:off x="3196673" y="5427345"/>
              <a:ext cx="369403" cy="182880"/>
            </a:xfrm>
            <a:prstGeom prst="rect">
              <a:avLst/>
            </a:prstGeom>
            <a:noFill/>
            <a:ln>
              <a:noFill/>
            </a:ln>
          </p:spPr>
          <p:txBody>
            <a:bodyPr wrap="none" lIns="0" tIns="0" rIns="0" bIns="0" anchor="t" anchorCtr="0">
              <a:spAutoFit/>
            </a:bodyPr>
            <a:lstStyle/>
            <a:p>
              <a:pPr algn="ctr"/>
              <a:r>
                <a:rPr lang="zh-CN" sz="900" b="1" dirty="0">
                  <a:solidFill>
                    <a:srgbClr val="818CF8"/>
                  </a:solidFill>
                  <a:latin typeface="Arial"/>
                  <a:ea typeface="Microsoft YaHei"/>
                  <a:cs typeface="Arial"/>
                </a:rPr>
                <a:t>Conv2</a:t>
              </a:r>
            </a:p>
          </p:txBody>
        </p:sp>
        <p:sp>
          <p:nvSpPr>
            <p:cNvPr id="33" name="TextBox 33"/>
            <p:cNvSpPr txBox="1"/>
            <p:nvPr/>
          </p:nvSpPr>
          <p:spPr>
            <a:xfrm>
              <a:off x="3079361" y="5606891"/>
              <a:ext cx="604028" cy="167640"/>
            </a:xfrm>
            <a:prstGeom prst="rect">
              <a:avLst/>
            </a:prstGeom>
            <a:noFill/>
            <a:ln>
              <a:noFill/>
            </a:ln>
          </p:spPr>
          <p:txBody>
            <a:bodyPr wrap="none" lIns="0" tIns="0" rIns="0" bIns="0" anchor="t" anchorCtr="0">
              <a:spAutoFit/>
            </a:bodyPr>
            <a:lstStyle/>
            <a:p>
              <a:pPr algn="ctr"/>
              <a:r>
                <a:rPr lang="zh-CN" sz="825" dirty="0">
                  <a:solidFill>
                    <a:srgbClr val="475569"/>
                  </a:solidFill>
                  <a:latin typeface="Arial"/>
                  <a:ea typeface="Microsoft YaHei"/>
                  <a:cs typeface="Arial"/>
                </a:rPr>
                <a:t>[64, 4, 15]</a:t>
              </a:r>
            </a:p>
          </p:txBody>
        </p:sp>
      </p:grpSp>
      <p:sp>
        <p:nvSpPr>
          <p:cNvPr id="35" name="TextBox 35"/>
          <p:cNvSpPr txBox="1"/>
          <p:nvPr/>
        </p:nvSpPr>
        <p:spPr>
          <a:xfrm>
            <a:off x="4171950" y="5410200"/>
            <a:ext cx="192360" cy="230832"/>
          </a:xfrm>
          <a:prstGeom prst="rect">
            <a:avLst/>
          </a:prstGeom>
          <a:noFill/>
          <a:ln>
            <a:noFill/>
          </a:ln>
        </p:spPr>
        <p:txBody>
          <a:bodyPr wrap="none" lIns="0" tIns="0" rIns="0" bIns="0" anchor="t" anchorCtr="0">
            <a:spAutoFit/>
          </a:bodyPr>
          <a:lstStyle/>
          <a:p>
            <a:pPr algn="l"/>
            <a:r>
              <a:rPr lang="zh-CN" sz="1500" dirty="0">
                <a:solidFill>
                  <a:schemeClr val="bg1"/>
                </a:solidFill>
                <a:latin typeface="Arial"/>
                <a:ea typeface="Microsoft YaHei"/>
                <a:cs typeface="Arial"/>
              </a:rPr>
              <a:t>→</a:t>
            </a:r>
          </a:p>
        </p:txBody>
      </p:sp>
      <p:grpSp>
        <p:nvGrpSpPr>
          <p:cNvPr id="39" name="Group 39"/>
          <p:cNvGrpSpPr/>
          <p:nvPr/>
        </p:nvGrpSpPr>
        <p:grpSpPr>
          <a:xfrm>
            <a:off x="4476750" y="5334000"/>
            <a:ext cx="1428750" cy="476250"/>
            <a:chOff x="4476750" y="5334000"/>
            <a:chExt cx="1428750" cy="476250"/>
          </a:xfrm>
        </p:grpSpPr>
        <p:sp>
          <p:nvSpPr>
            <p:cNvPr id="36" name="Rectangle 36"/>
            <p:cNvSpPr/>
            <p:nvPr/>
          </p:nvSpPr>
          <p:spPr>
            <a:xfrm>
              <a:off x="4476750" y="5334000"/>
              <a:ext cx="1428750" cy="476250"/>
            </a:xfrm>
            <a:prstGeom prst="roundRect">
              <a:avLst>
                <a:gd name="adj" fmla="val 12000"/>
              </a:avLst>
            </a:prstGeom>
            <a:solidFill>
              <a:srgbClr val="ECFDF5"/>
            </a:solidFill>
            <a:ln w="19050">
              <a:solidFill>
                <a:srgbClr val="10B981"/>
              </a:solidFill>
            </a:ln>
          </p:spPr>
        </p:sp>
        <p:sp>
          <p:nvSpPr>
            <p:cNvPr id="37" name="TextBox 37"/>
            <p:cNvSpPr txBox="1"/>
            <p:nvPr/>
          </p:nvSpPr>
          <p:spPr>
            <a:xfrm>
              <a:off x="5006423" y="5427345"/>
              <a:ext cx="369403" cy="182880"/>
            </a:xfrm>
            <a:prstGeom prst="rect">
              <a:avLst/>
            </a:prstGeom>
            <a:noFill/>
            <a:ln>
              <a:noFill/>
            </a:ln>
          </p:spPr>
          <p:txBody>
            <a:bodyPr wrap="none" lIns="0" tIns="0" rIns="0" bIns="0" anchor="t" anchorCtr="0">
              <a:spAutoFit/>
            </a:bodyPr>
            <a:lstStyle/>
            <a:p>
              <a:pPr algn="ctr"/>
              <a:r>
                <a:rPr lang="zh-CN" sz="900" b="1" dirty="0">
                  <a:solidFill>
                    <a:srgbClr val="10B981"/>
                  </a:solidFill>
                  <a:latin typeface="Arial"/>
                  <a:ea typeface="Microsoft YaHei"/>
                  <a:cs typeface="Arial"/>
                </a:rPr>
                <a:t>Conv3</a:t>
              </a:r>
            </a:p>
          </p:txBody>
        </p:sp>
        <p:sp>
          <p:nvSpPr>
            <p:cNvPr id="38" name="TextBox 38"/>
            <p:cNvSpPr txBox="1"/>
            <p:nvPr/>
          </p:nvSpPr>
          <p:spPr>
            <a:xfrm>
              <a:off x="4889111" y="5606891"/>
              <a:ext cx="604028" cy="167640"/>
            </a:xfrm>
            <a:prstGeom prst="rect">
              <a:avLst/>
            </a:prstGeom>
            <a:noFill/>
            <a:ln>
              <a:noFill/>
            </a:ln>
          </p:spPr>
          <p:txBody>
            <a:bodyPr wrap="none" lIns="0" tIns="0" rIns="0" bIns="0" anchor="t" anchorCtr="0">
              <a:spAutoFit/>
            </a:bodyPr>
            <a:lstStyle/>
            <a:p>
              <a:pPr algn="ctr"/>
              <a:r>
                <a:rPr lang="zh-CN" sz="825" dirty="0">
                  <a:solidFill>
                    <a:srgbClr val="475569"/>
                  </a:solidFill>
                  <a:latin typeface="Arial"/>
                  <a:ea typeface="Microsoft YaHei"/>
                  <a:cs typeface="Arial"/>
                </a:rPr>
                <a:t>[128, 2, 7]</a:t>
              </a:r>
            </a:p>
          </p:txBody>
        </p:sp>
      </p:grpSp>
      <p:sp>
        <p:nvSpPr>
          <p:cNvPr id="40" name="TextBox 40"/>
          <p:cNvSpPr txBox="1"/>
          <p:nvPr/>
        </p:nvSpPr>
        <p:spPr>
          <a:xfrm>
            <a:off x="5981700" y="5410200"/>
            <a:ext cx="192360" cy="230832"/>
          </a:xfrm>
          <a:prstGeom prst="rect">
            <a:avLst/>
          </a:prstGeom>
          <a:noFill/>
          <a:ln>
            <a:noFill/>
          </a:ln>
        </p:spPr>
        <p:txBody>
          <a:bodyPr wrap="none" lIns="0" tIns="0" rIns="0" bIns="0" anchor="t" anchorCtr="0">
            <a:spAutoFit/>
          </a:bodyPr>
          <a:lstStyle/>
          <a:p>
            <a:pPr algn="l"/>
            <a:r>
              <a:rPr lang="zh-CN" sz="1500" dirty="0">
                <a:solidFill>
                  <a:schemeClr val="bg1"/>
                </a:solidFill>
                <a:latin typeface="Arial"/>
                <a:ea typeface="Microsoft YaHei"/>
                <a:cs typeface="Arial"/>
              </a:rPr>
              <a:t>→</a:t>
            </a:r>
          </a:p>
        </p:txBody>
      </p:sp>
      <p:grpSp>
        <p:nvGrpSpPr>
          <p:cNvPr id="44" name="Group 44"/>
          <p:cNvGrpSpPr/>
          <p:nvPr/>
        </p:nvGrpSpPr>
        <p:grpSpPr>
          <a:xfrm>
            <a:off x="6286500" y="5334000"/>
            <a:ext cx="1428750" cy="476250"/>
            <a:chOff x="6286500" y="5334000"/>
            <a:chExt cx="1428750" cy="476250"/>
          </a:xfrm>
        </p:grpSpPr>
        <p:sp>
          <p:nvSpPr>
            <p:cNvPr id="41" name="Rectangle 41"/>
            <p:cNvSpPr/>
            <p:nvPr/>
          </p:nvSpPr>
          <p:spPr>
            <a:xfrm>
              <a:off x="6286500" y="5334000"/>
              <a:ext cx="1428750" cy="476250"/>
            </a:xfrm>
            <a:prstGeom prst="roundRect">
              <a:avLst>
                <a:gd name="adj" fmla="val 12000"/>
              </a:avLst>
            </a:prstGeom>
            <a:solidFill>
              <a:srgbClr val="FEF2F2"/>
            </a:solidFill>
            <a:ln w="19050">
              <a:solidFill>
                <a:srgbClr val="EF4444"/>
              </a:solidFill>
            </a:ln>
          </p:spPr>
        </p:sp>
        <p:sp>
          <p:nvSpPr>
            <p:cNvPr id="42" name="TextBox 42"/>
            <p:cNvSpPr txBox="1"/>
            <p:nvPr/>
          </p:nvSpPr>
          <p:spPr>
            <a:xfrm>
              <a:off x="6816173" y="5427345"/>
              <a:ext cx="369403" cy="182880"/>
            </a:xfrm>
            <a:prstGeom prst="rect">
              <a:avLst/>
            </a:prstGeom>
            <a:noFill/>
            <a:ln>
              <a:noFill/>
            </a:ln>
          </p:spPr>
          <p:txBody>
            <a:bodyPr wrap="none" lIns="0" tIns="0" rIns="0" bIns="0" anchor="t" anchorCtr="0">
              <a:spAutoFit/>
            </a:bodyPr>
            <a:lstStyle/>
            <a:p>
              <a:pPr algn="ctr"/>
              <a:r>
                <a:rPr lang="zh-CN" sz="900" b="1" dirty="0">
                  <a:solidFill>
                    <a:srgbClr val="F87171"/>
                  </a:solidFill>
                  <a:latin typeface="Arial"/>
                  <a:ea typeface="Microsoft YaHei"/>
                  <a:cs typeface="Arial"/>
                </a:rPr>
                <a:t>Conv4</a:t>
              </a:r>
            </a:p>
          </p:txBody>
        </p:sp>
        <p:sp>
          <p:nvSpPr>
            <p:cNvPr id="43" name="TextBox 43"/>
            <p:cNvSpPr txBox="1"/>
            <p:nvPr/>
          </p:nvSpPr>
          <p:spPr>
            <a:xfrm>
              <a:off x="6712613" y="5606891"/>
              <a:ext cx="576524" cy="167640"/>
            </a:xfrm>
            <a:prstGeom prst="rect">
              <a:avLst/>
            </a:prstGeom>
            <a:noFill/>
            <a:ln>
              <a:noFill/>
            </a:ln>
          </p:spPr>
          <p:txBody>
            <a:bodyPr wrap="none" lIns="0" tIns="0" rIns="0" bIns="0" anchor="t" anchorCtr="0">
              <a:spAutoFit/>
            </a:bodyPr>
            <a:lstStyle/>
            <a:p>
              <a:pPr algn="ctr"/>
              <a:r>
                <a:rPr lang="zh-CN" sz="825" dirty="0">
                  <a:solidFill>
                    <a:srgbClr val="475569"/>
                  </a:solidFill>
                  <a:latin typeface="Arial"/>
                  <a:ea typeface="Microsoft YaHei"/>
                  <a:cs typeface="Arial"/>
                </a:rPr>
                <a:t>[256, 1, 1]</a:t>
              </a:r>
            </a:p>
          </p:txBody>
        </p:sp>
      </p:grpSp>
      <p:sp>
        <p:nvSpPr>
          <p:cNvPr id="45" name="TextBox 45"/>
          <p:cNvSpPr txBox="1"/>
          <p:nvPr/>
        </p:nvSpPr>
        <p:spPr>
          <a:xfrm>
            <a:off x="7886700" y="5410200"/>
            <a:ext cx="192360" cy="230832"/>
          </a:xfrm>
          <a:prstGeom prst="rect">
            <a:avLst/>
          </a:prstGeom>
          <a:noFill/>
          <a:ln>
            <a:noFill/>
          </a:ln>
        </p:spPr>
        <p:txBody>
          <a:bodyPr wrap="none" lIns="0" tIns="0" rIns="0" bIns="0" anchor="t" anchorCtr="0">
            <a:spAutoFit/>
          </a:bodyPr>
          <a:lstStyle/>
          <a:p>
            <a:pPr algn="l"/>
            <a:r>
              <a:rPr lang="zh-CN" sz="1500" dirty="0">
                <a:solidFill>
                  <a:schemeClr val="bg1"/>
                </a:solidFill>
                <a:latin typeface="Arial"/>
                <a:ea typeface="Microsoft YaHei"/>
                <a:cs typeface="Arial"/>
              </a:rPr>
              <a:t>→</a:t>
            </a:r>
          </a:p>
        </p:txBody>
      </p:sp>
      <p:grpSp>
        <p:nvGrpSpPr>
          <p:cNvPr id="49" name="Group 49"/>
          <p:cNvGrpSpPr/>
          <p:nvPr/>
        </p:nvGrpSpPr>
        <p:grpSpPr>
          <a:xfrm>
            <a:off x="8191500" y="5334000"/>
            <a:ext cx="1428750" cy="476250"/>
            <a:chOff x="8191500" y="5334000"/>
            <a:chExt cx="1428750" cy="476250"/>
          </a:xfrm>
        </p:grpSpPr>
        <p:sp>
          <p:nvSpPr>
            <p:cNvPr id="46" name="Rectangle 46"/>
            <p:cNvSpPr/>
            <p:nvPr/>
          </p:nvSpPr>
          <p:spPr>
            <a:xfrm>
              <a:off x="8191500" y="5334000"/>
              <a:ext cx="1428750" cy="476250"/>
            </a:xfrm>
            <a:prstGeom prst="roundRect">
              <a:avLst>
                <a:gd name="adj" fmla="val 12000"/>
              </a:avLst>
            </a:prstGeom>
            <a:solidFill>
              <a:srgbClr val="0F172A"/>
            </a:solidFill>
            <a:ln w="19050">
              <a:solidFill>
                <a:srgbClr val="1E293B"/>
              </a:solidFill>
            </a:ln>
          </p:spPr>
        </p:sp>
        <p:sp>
          <p:nvSpPr>
            <p:cNvPr id="47" name="TextBox 47"/>
            <p:cNvSpPr txBox="1"/>
            <p:nvPr/>
          </p:nvSpPr>
          <p:spPr>
            <a:xfrm>
              <a:off x="8632962" y="5427345"/>
              <a:ext cx="545825" cy="182880"/>
            </a:xfrm>
            <a:prstGeom prst="rect">
              <a:avLst/>
            </a:prstGeom>
            <a:noFill/>
            <a:ln>
              <a:noFill/>
            </a:ln>
          </p:spPr>
          <p:txBody>
            <a:bodyPr wrap="none" lIns="0" tIns="0" rIns="0" bIns="0" anchor="t" anchorCtr="0">
              <a:spAutoFit/>
            </a:bodyPr>
            <a:lstStyle/>
            <a:p>
              <a:pPr algn="ctr"/>
              <a:r>
                <a:rPr lang="zh-CN" sz="900" b="1" dirty="0">
                  <a:solidFill>
                    <a:srgbClr val="CBD5E1"/>
                  </a:solidFill>
                  <a:latin typeface="Arial"/>
                  <a:ea typeface="Microsoft YaHei"/>
                  <a:cs typeface="Arial"/>
                </a:rPr>
                <a:t>Adaptive</a:t>
              </a:r>
            </a:p>
          </p:txBody>
        </p:sp>
        <p:sp>
          <p:nvSpPr>
            <p:cNvPr id="48" name="TextBox 48"/>
            <p:cNvSpPr txBox="1"/>
            <p:nvPr/>
          </p:nvSpPr>
          <p:spPr>
            <a:xfrm>
              <a:off x="8671035" y="5606891"/>
              <a:ext cx="469679" cy="126958"/>
            </a:xfrm>
            <a:prstGeom prst="rect">
              <a:avLst/>
            </a:prstGeom>
            <a:noFill/>
            <a:ln>
              <a:noFill/>
            </a:ln>
          </p:spPr>
          <p:txBody>
            <a:bodyPr wrap="none" lIns="0" tIns="0" rIns="0" bIns="0" anchor="t" anchorCtr="0">
              <a:spAutoFit/>
            </a:bodyPr>
            <a:lstStyle/>
            <a:p>
              <a:pPr algn="ctr"/>
              <a:r>
                <a:rPr lang="zh-CN" sz="825" dirty="0">
                  <a:solidFill>
                    <a:schemeClr val="bg1">
                      <a:lumMod val="95000"/>
                    </a:schemeClr>
                  </a:solidFill>
                  <a:latin typeface="Arial"/>
                  <a:ea typeface="Microsoft YaHei"/>
                  <a:cs typeface="Arial"/>
                </a:rPr>
                <a:t>[256, 1, 1]</a:t>
              </a:r>
            </a:p>
          </p:txBody>
        </p:sp>
      </p:grpSp>
      <p:sp>
        <p:nvSpPr>
          <p:cNvPr id="50" name="TextBox 50"/>
          <p:cNvSpPr txBox="1"/>
          <p:nvPr/>
        </p:nvSpPr>
        <p:spPr>
          <a:xfrm>
            <a:off x="9696450" y="5410200"/>
            <a:ext cx="192360" cy="230832"/>
          </a:xfrm>
          <a:prstGeom prst="rect">
            <a:avLst/>
          </a:prstGeom>
          <a:noFill/>
          <a:ln>
            <a:noFill/>
          </a:ln>
        </p:spPr>
        <p:txBody>
          <a:bodyPr wrap="none" lIns="0" tIns="0" rIns="0" bIns="0" anchor="t" anchorCtr="0">
            <a:spAutoFit/>
          </a:bodyPr>
          <a:lstStyle/>
          <a:p>
            <a:pPr algn="l"/>
            <a:r>
              <a:rPr lang="zh-CN" sz="1500" dirty="0">
                <a:solidFill>
                  <a:schemeClr val="bg1"/>
                </a:solidFill>
                <a:latin typeface="Arial"/>
                <a:ea typeface="Microsoft YaHei"/>
                <a:cs typeface="Arial"/>
              </a:rPr>
              <a:t>→</a:t>
            </a:r>
          </a:p>
        </p:txBody>
      </p:sp>
      <p:grpSp>
        <p:nvGrpSpPr>
          <p:cNvPr id="54" name="Group 54"/>
          <p:cNvGrpSpPr/>
          <p:nvPr/>
        </p:nvGrpSpPr>
        <p:grpSpPr>
          <a:xfrm>
            <a:off x="10001250" y="5334000"/>
            <a:ext cx="1428750" cy="476250"/>
            <a:chOff x="10001250" y="5334000"/>
            <a:chExt cx="1428750" cy="476250"/>
          </a:xfrm>
        </p:grpSpPr>
        <p:sp>
          <p:nvSpPr>
            <p:cNvPr id="51" name="Rectangle 51"/>
            <p:cNvSpPr/>
            <p:nvPr/>
          </p:nvSpPr>
          <p:spPr>
            <a:xfrm>
              <a:off x="10001250" y="5334000"/>
              <a:ext cx="1428750" cy="476250"/>
            </a:xfrm>
            <a:prstGeom prst="roundRect">
              <a:avLst>
                <a:gd name="adj" fmla="val 12000"/>
              </a:avLst>
            </a:prstGeom>
            <a:solidFill>
              <a:srgbClr val="10B981"/>
            </a:solidFill>
            <a:ln w="19050">
              <a:solidFill>
                <a:srgbClr val="10B981"/>
              </a:solidFill>
            </a:ln>
          </p:spPr>
        </p:sp>
        <p:sp>
          <p:nvSpPr>
            <p:cNvPr id="52" name="TextBox 52"/>
            <p:cNvSpPr txBox="1"/>
            <p:nvPr/>
          </p:nvSpPr>
          <p:spPr>
            <a:xfrm>
              <a:off x="10477367" y="5427345"/>
              <a:ext cx="47651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Flatten</a:t>
              </a:r>
            </a:p>
          </p:txBody>
        </p:sp>
        <p:sp>
          <p:nvSpPr>
            <p:cNvPr id="53" name="TextBox 53"/>
            <p:cNvSpPr txBox="1"/>
            <p:nvPr/>
          </p:nvSpPr>
          <p:spPr>
            <a:xfrm>
              <a:off x="10553879" y="5606891"/>
              <a:ext cx="323493" cy="167640"/>
            </a:xfrm>
            <a:prstGeom prst="rect">
              <a:avLst/>
            </a:prstGeom>
            <a:noFill/>
            <a:ln>
              <a:noFill/>
            </a:ln>
          </p:spPr>
          <p:txBody>
            <a:bodyPr wrap="none" lIns="0" tIns="0" rIns="0" bIns="0" anchor="t" anchorCtr="0">
              <a:spAutoFit/>
            </a:bodyPr>
            <a:lstStyle/>
            <a:p>
              <a:pPr algn="ctr"/>
              <a:r>
                <a:rPr lang="zh-CN" sz="825" dirty="0">
                  <a:solidFill>
                    <a:srgbClr val="0F172A"/>
                  </a:solidFill>
                  <a:latin typeface="Arial"/>
                  <a:ea typeface="Microsoft YaHei"/>
                  <a:cs typeface="Arial"/>
                </a:rPr>
                <a:t>[256]</a:t>
              </a:r>
            </a:p>
          </p:txBody>
        </p:sp>
      </p:grpSp>
      <p:sp>
        <p:nvSpPr>
          <p:cNvPr id="55" name="TextBox 55"/>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9255128"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CNN 特征图与完整架构 Feature Maps &amp; Architecture</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2667000"/>
          </a:xfrm>
          <a:prstGeom prst="roundRect">
            <a:avLst>
              <a:gd name="adj" fmla="val 4286"/>
            </a:avLst>
          </a:prstGeom>
          <a:solidFill>
            <a:srgbClr val="1E293B"/>
          </a:solidFill>
          <a:ln w="9525">
            <a:solidFill>
              <a:srgbClr val="334155"/>
            </a:solidFill>
          </a:ln>
        </p:spPr>
      </p:sp>
      <p:sp>
        <p:nvSpPr>
          <p:cNvPr id="7" name="TextBox 7"/>
          <p:cNvSpPr txBox="1"/>
          <p:nvPr/>
        </p:nvSpPr>
        <p:spPr>
          <a:xfrm>
            <a:off x="838200" y="121920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特征图可视化</a:t>
            </a:r>
          </a:p>
        </p:txBody>
      </p:sp>
      <p:grpSp>
        <p:nvGrpSpPr>
          <p:cNvPr id="13" name="Group 13"/>
          <p:cNvGrpSpPr/>
          <p:nvPr/>
        </p:nvGrpSpPr>
        <p:grpSpPr>
          <a:xfrm>
            <a:off x="857250" y="1619250"/>
            <a:ext cx="1905000" cy="1143000"/>
            <a:chOff x="857250" y="1619250"/>
            <a:chExt cx="1905000" cy="1143000"/>
          </a:xfrm>
        </p:grpSpPr>
        <p:sp>
          <p:nvSpPr>
            <p:cNvPr id="8" name="Rectangle 8"/>
            <p:cNvSpPr/>
            <p:nvPr/>
          </p:nvSpPr>
          <p:spPr>
            <a:xfrm>
              <a:off x="857250" y="1619250"/>
              <a:ext cx="1905000" cy="1143000"/>
            </a:xfrm>
            <a:prstGeom prst="roundRect">
              <a:avLst>
                <a:gd name="adj" fmla="val 6667"/>
              </a:avLst>
            </a:prstGeom>
            <a:solidFill>
              <a:srgbClr val="0F172A"/>
            </a:solidFill>
            <a:ln w="9525">
              <a:solidFill>
                <a:srgbClr val="334155"/>
              </a:solidFill>
            </a:ln>
          </p:spPr>
        </p:sp>
        <p:sp>
          <p:nvSpPr>
            <p:cNvPr id="9" name="TextBox 9"/>
            <p:cNvSpPr txBox="1"/>
            <p:nvPr/>
          </p:nvSpPr>
          <p:spPr>
            <a:xfrm>
              <a:off x="1453884" y="1712595"/>
              <a:ext cx="711733"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Conv1 特征图</a:t>
              </a:r>
            </a:p>
          </p:txBody>
        </p:sp>
        <p:sp>
          <p:nvSpPr>
            <p:cNvPr id="10" name="Rectangle 10"/>
            <p:cNvSpPr/>
            <p:nvPr/>
          </p:nvSpPr>
          <p:spPr>
            <a:xfrm>
              <a:off x="1047750" y="1952625"/>
              <a:ext cx="1524000" cy="666750"/>
            </a:xfrm>
            <a:prstGeom prst="rect">
              <a:avLst/>
            </a:prstGeom>
            <a:solidFill>
              <a:srgbClr val="EFF6FF"/>
            </a:solidFill>
            <a:ln>
              <a:noFill/>
            </a:ln>
          </p:spPr>
        </p:sp>
        <p:sp>
          <p:nvSpPr>
            <p:cNvPr id="11" name="TextBox 11"/>
            <p:cNvSpPr txBox="1"/>
            <p:nvPr/>
          </p:nvSpPr>
          <p:spPr>
            <a:xfrm>
              <a:off x="1493984" y="2196941"/>
              <a:ext cx="631531" cy="167640"/>
            </a:xfrm>
            <a:prstGeom prst="rect">
              <a:avLst/>
            </a:prstGeom>
            <a:noFill/>
            <a:ln>
              <a:noFill/>
            </a:ln>
          </p:spPr>
          <p:txBody>
            <a:bodyPr wrap="none" lIns="0" tIns="0" rIns="0" bIns="0" anchor="t" anchorCtr="0">
              <a:spAutoFit/>
            </a:bodyPr>
            <a:lstStyle/>
            <a:p>
              <a:pPr algn="ctr"/>
              <a:r>
                <a:rPr lang="zh-CN" sz="825" dirty="0">
                  <a:gradFill>
                    <a:gsLst>
                      <a:gs pos="0">
                        <a:srgbClr val="2563EB"/>
                      </a:gs>
                      <a:gs pos="100000">
                        <a:srgbClr val="8B5CF6"/>
                      </a:gs>
                    </a:gsLst>
                    <a:lin ang="0" scaled="1"/>
                  </a:gradFill>
                  <a:latin typeface="Arial"/>
                  <a:ea typeface="Microsoft YaHei"/>
                  <a:cs typeface="Arial"/>
                </a:rPr>
                <a:t>32 channels</a:t>
              </a:r>
            </a:p>
          </p:txBody>
        </p:sp>
        <p:sp>
          <p:nvSpPr>
            <p:cNvPr id="12" name="TextBox 12"/>
            <p:cNvSpPr txBox="1"/>
            <p:nvPr/>
          </p:nvSpPr>
          <p:spPr>
            <a:xfrm>
              <a:off x="1605201" y="2376488"/>
              <a:ext cx="409099" cy="152400"/>
            </a:xfrm>
            <a:prstGeom prst="rect">
              <a:avLst/>
            </a:prstGeom>
            <a:noFill/>
            <a:ln>
              <a:noFill/>
            </a:ln>
          </p:spPr>
          <p:txBody>
            <a:bodyPr wrap="none" lIns="0" tIns="0" rIns="0" bIns="0" anchor="t" anchorCtr="0">
              <a:spAutoFit/>
            </a:bodyPr>
            <a:lstStyle/>
            <a:p>
              <a:pPr algn="ctr"/>
              <a:r>
                <a:rPr lang="zh-CN" sz="750" dirty="0">
                  <a:solidFill>
                    <a:srgbClr val="475569"/>
                  </a:solidFill>
                  <a:latin typeface="Arial"/>
                  <a:ea typeface="Microsoft YaHei"/>
                  <a:cs typeface="Arial"/>
                </a:rPr>
                <a:t>[8 × 30]</a:t>
              </a:r>
            </a:p>
          </p:txBody>
        </p:sp>
      </p:grpSp>
      <p:grpSp>
        <p:nvGrpSpPr>
          <p:cNvPr id="19" name="Group 19"/>
          <p:cNvGrpSpPr/>
          <p:nvPr/>
        </p:nvGrpSpPr>
        <p:grpSpPr>
          <a:xfrm>
            <a:off x="2952750" y="1619250"/>
            <a:ext cx="1905000" cy="1143000"/>
            <a:chOff x="2952750" y="1619250"/>
            <a:chExt cx="1905000" cy="1143000"/>
          </a:xfrm>
        </p:grpSpPr>
        <p:sp>
          <p:nvSpPr>
            <p:cNvPr id="14" name="Rectangle 14"/>
            <p:cNvSpPr/>
            <p:nvPr/>
          </p:nvSpPr>
          <p:spPr>
            <a:xfrm>
              <a:off x="2952750" y="1619250"/>
              <a:ext cx="1905000" cy="1143000"/>
            </a:xfrm>
            <a:prstGeom prst="roundRect">
              <a:avLst>
                <a:gd name="adj" fmla="val 6667"/>
              </a:avLst>
            </a:prstGeom>
            <a:solidFill>
              <a:srgbClr val="0F172A"/>
            </a:solidFill>
            <a:ln w="9525">
              <a:solidFill>
                <a:srgbClr val="334155"/>
              </a:solidFill>
            </a:ln>
          </p:spPr>
        </p:sp>
        <p:sp>
          <p:nvSpPr>
            <p:cNvPr id="15" name="TextBox 15"/>
            <p:cNvSpPr txBox="1"/>
            <p:nvPr/>
          </p:nvSpPr>
          <p:spPr>
            <a:xfrm>
              <a:off x="3549384" y="1712595"/>
              <a:ext cx="711733"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Conv2 特征图</a:t>
              </a:r>
            </a:p>
          </p:txBody>
        </p:sp>
        <p:sp>
          <p:nvSpPr>
            <p:cNvPr id="16" name="Rectangle 16"/>
            <p:cNvSpPr/>
            <p:nvPr/>
          </p:nvSpPr>
          <p:spPr>
            <a:xfrm>
              <a:off x="3143250" y="1952625"/>
              <a:ext cx="1524000" cy="666750"/>
            </a:xfrm>
            <a:prstGeom prst="rect">
              <a:avLst/>
            </a:prstGeom>
            <a:solidFill>
              <a:srgbClr val="F3E8FF"/>
            </a:solidFill>
            <a:ln>
              <a:noFill/>
            </a:ln>
          </p:spPr>
        </p:sp>
        <p:sp>
          <p:nvSpPr>
            <p:cNvPr id="17" name="TextBox 17"/>
            <p:cNvSpPr txBox="1"/>
            <p:nvPr/>
          </p:nvSpPr>
          <p:spPr>
            <a:xfrm>
              <a:off x="3589484" y="2196941"/>
              <a:ext cx="631531" cy="167640"/>
            </a:xfrm>
            <a:prstGeom prst="rect">
              <a:avLst/>
            </a:prstGeom>
            <a:noFill/>
            <a:ln>
              <a:noFill/>
            </a:ln>
          </p:spPr>
          <p:txBody>
            <a:bodyPr wrap="none" lIns="0" tIns="0" rIns="0" bIns="0" anchor="t" anchorCtr="0">
              <a:spAutoFit/>
            </a:bodyPr>
            <a:lstStyle/>
            <a:p>
              <a:pPr algn="ctr"/>
              <a:r>
                <a:rPr lang="zh-CN" sz="825" dirty="0">
                  <a:solidFill>
                    <a:srgbClr val="818CF8"/>
                  </a:solidFill>
                  <a:latin typeface="Arial"/>
                  <a:ea typeface="Microsoft YaHei"/>
                  <a:cs typeface="Arial"/>
                </a:rPr>
                <a:t>64 channels</a:t>
              </a:r>
            </a:p>
          </p:txBody>
        </p:sp>
        <p:sp>
          <p:nvSpPr>
            <p:cNvPr id="18" name="TextBox 18"/>
            <p:cNvSpPr txBox="1"/>
            <p:nvPr/>
          </p:nvSpPr>
          <p:spPr>
            <a:xfrm>
              <a:off x="3713202" y="2376488"/>
              <a:ext cx="384096" cy="152400"/>
            </a:xfrm>
            <a:prstGeom prst="rect">
              <a:avLst/>
            </a:prstGeom>
            <a:noFill/>
            <a:ln>
              <a:noFill/>
            </a:ln>
          </p:spPr>
          <p:txBody>
            <a:bodyPr wrap="none" lIns="0" tIns="0" rIns="0" bIns="0" anchor="t" anchorCtr="0">
              <a:spAutoFit/>
            </a:bodyPr>
            <a:lstStyle/>
            <a:p>
              <a:pPr algn="ctr"/>
              <a:r>
                <a:rPr lang="zh-CN" sz="750" dirty="0">
                  <a:solidFill>
                    <a:srgbClr val="475569"/>
                  </a:solidFill>
                  <a:latin typeface="Arial"/>
                  <a:ea typeface="Microsoft YaHei"/>
                  <a:cs typeface="Arial"/>
                </a:rPr>
                <a:t>[4 × 15]</a:t>
              </a:r>
            </a:p>
          </p:txBody>
        </p:sp>
      </p:grpSp>
      <p:grpSp>
        <p:nvGrpSpPr>
          <p:cNvPr id="25" name="Group 25"/>
          <p:cNvGrpSpPr/>
          <p:nvPr/>
        </p:nvGrpSpPr>
        <p:grpSpPr>
          <a:xfrm>
            <a:off x="5048250" y="1619250"/>
            <a:ext cx="1905000" cy="1143000"/>
            <a:chOff x="5048250" y="1619250"/>
            <a:chExt cx="1905000" cy="1143000"/>
          </a:xfrm>
        </p:grpSpPr>
        <p:sp>
          <p:nvSpPr>
            <p:cNvPr id="20" name="Rectangle 20"/>
            <p:cNvSpPr/>
            <p:nvPr/>
          </p:nvSpPr>
          <p:spPr>
            <a:xfrm>
              <a:off x="5048250" y="1619250"/>
              <a:ext cx="1905000" cy="1143000"/>
            </a:xfrm>
            <a:prstGeom prst="roundRect">
              <a:avLst>
                <a:gd name="adj" fmla="val 6667"/>
              </a:avLst>
            </a:prstGeom>
            <a:solidFill>
              <a:srgbClr val="0F172A"/>
            </a:solidFill>
            <a:ln w="9525">
              <a:solidFill>
                <a:srgbClr val="334155"/>
              </a:solidFill>
            </a:ln>
          </p:spPr>
        </p:sp>
        <p:sp>
          <p:nvSpPr>
            <p:cNvPr id="21" name="TextBox 21"/>
            <p:cNvSpPr txBox="1"/>
            <p:nvPr/>
          </p:nvSpPr>
          <p:spPr>
            <a:xfrm>
              <a:off x="5644884" y="1712595"/>
              <a:ext cx="711733"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Conv3 特征图</a:t>
              </a:r>
            </a:p>
          </p:txBody>
        </p:sp>
        <p:sp>
          <p:nvSpPr>
            <p:cNvPr id="22" name="Rectangle 22"/>
            <p:cNvSpPr/>
            <p:nvPr/>
          </p:nvSpPr>
          <p:spPr>
            <a:xfrm>
              <a:off x="5238750" y="1952625"/>
              <a:ext cx="1524000" cy="666750"/>
            </a:xfrm>
            <a:prstGeom prst="rect">
              <a:avLst/>
            </a:prstGeom>
            <a:solidFill>
              <a:srgbClr val="ECFDF5"/>
            </a:solidFill>
            <a:ln>
              <a:noFill/>
            </a:ln>
          </p:spPr>
        </p:sp>
        <p:sp>
          <p:nvSpPr>
            <p:cNvPr id="23" name="TextBox 23"/>
            <p:cNvSpPr txBox="1"/>
            <p:nvPr/>
          </p:nvSpPr>
          <p:spPr>
            <a:xfrm>
              <a:off x="5668482" y="2196941"/>
              <a:ext cx="664535" cy="167640"/>
            </a:xfrm>
            <a:prstGeom prst="rect">
              <a:avLst/>
            </a:prstGeom>
            <a:noFill/>
            <a:ln>
              <a:noFill/>
            </a:ln>
          </p:spPr>
          <p:txBody>
            <a:bodyPr wrap="none" lIns="0" tIns="0" rIns="0" bIns="0" anchor="t" anchorCtr="0">
              <a:spAutoFit/>
            </a:bodyPr>
            <a:lstStyle/>
            <a:p>
              <a:pPr algn="ctr"/>
              <a:r>
                <a:rPr lang="zh-CN" sz="825" dirty="0">
                  <a:solidFill>
                    <a:srgbClr val="10B981"/>
                  </a:solidFill>
                  <a:latin typeface="Arial"/>
                  <a:ea typeface="Microsoft YaHei"/>
                  <a:cs typeface="Arial"/>
                </a:rPr>
                <a:t>128 channels</a:t>
              </a:r>
            </a:p>
          </p:txBody>
        </p:sp>
        <p:sp>
          <p:nvSpPr>
            <p:cNvPr id="24" name="TextBox 24"/>
            <p:cNvSpPr txBox="1"/>
            <p:nvPr/>
          </p:nvSpPr>
          <p:spPr>
            <a:xfrm>
              <a:off x="5823704" y="2376488"/>
              <a:ext cx="354092" cy="152400"/>
            </a:xfrm>
            <a:prstGeom prst="rect">
              <a:avLst/>
            </a:prstGeom>
            <a:noFill/>
            <a:ln>
              <a:noFill/>
            </a:ln>
          </p:spPr>
          <p:txBody>
            <a:bodyPr wrap="none" lIns="0" tIns="0" rIns="0" bIns="0" anchor="t" anchorCtr="0">
              <a:spAutoFit/>
            </a:bodyPr>
            <a:lstStyle/>
            <a:p>
              <a:pPr algn="ctr"/>
              <a:r>
                <a:rPr lang="zh-CN" sz="750" dirty="0">
                  <a:solidFill>
                    <a:srgbClr val="475569"/>
                  </a:solidFill>
                  <a:latin typeface="Arial"/>
                  <a:ea typeface="Microsoft YaHei"/>
                  <a:cs typeface="Arial"/>
                </a:rPr>
                <a:t>[2 × 7]</a:t>
              </a:r>
            </a:p>
          </p:txBody>
        </p:sp>
      </p:grpSp>
      <p:grpSp>
        <p:nvGrpSpPr>
          <p:cNvPr id="31" name="Group 31"/>
          <p:cNvGrpSpPr/>
          <p:nvPr/>
        </p:nvGrpSpPr>
        <p:grpSpPr>
          <a:xfrm>
            <a:off x="7143750" y="1619250"/>
            <a:ext cx="1905000" cy="1143000"/>
            <a:chOff x="7143750" y="1619250"/>
            <a:chExt cx="1905000" cy="1143000"/>
          </a:xfrm>
        </p:grpSpPr>
        <p:sp>
          <p:nvSpPr>
            <p:cNvPr id="26" name="Rectangle 26"/>
            <p:cNvSpPr/>
            <p:nvPr/>
          </p:nvSpPr>
          <p:spPr>
            <a:xfrm>
              <a:off x="7143750" y="1619250"/>
              <a:ext cx="1905000" cy="1143000"/>
            </a:xfrm>
            <a:prstGeom prst="roundRect">
              <a:avLst>
                <a:gd name="adj" fmla="val 6667"/>
              </a:avLst>
            </a:prstGeom>
            <a:solidFill>
              <a:srgbClr val="0F172A"/>
            </a:solidFill>
            <a:ln w="9525">
              <a:solidFill>
                <a:srgbClr val="334155"/>
              </a:solidFill>
            </a:ln>
          </p:spPr>
        </p:sp>
        <p:sp>
          <p:nvSpPr>
            <p:cNvPr id="27" name="TextBox 27"/>
            <p:cNvSpPr txBox="1"/>
            <p:nvPr/>
          </p:nvSpPr>
          <p:spPr>
            <a:xfrm>
              <a:off x="7740384" y="1712595"/>
              <a:ext cx="711733"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Conv4 特征图</a:t>
              </a:r>
            </a:p>
          </p:txBody>
        </p:sp>
        <p:sp>
          <p:nvSpPr>
            <p:cNvPr id="28" name="Rectangle 28"/>
            <p:cNvSpPr/>
            <p:nvPr/>
          </p:nvSpPr>
          <p:spPr>
            <a:xfrm>
              <a:off x="7334250" y="1952625"/>
              <a:ext cx="1524000" cy="666750"/>
            </a:xfrm>
            <a:prstGeom prst="rect">
              <a:avLst/>
            </a:prstGeom>
            <a:solidFill>
              <a:srgbClr val="FEF2F2"/>
            </a:solidFill>
            <a:ln>
              <a:noFill/>
            </a:ln>
          </p:spPr>
        </p:sp>
        <p:sp>
          <p:nvSpPr>
            <p:cNvPr id="29" name="TextBox 29"/>
            <p:cNvSpPr txBox="1"/>
            <p:nvPr/>
          </p:nvSpPr>
          <p:spPr>
            <a:xfrm>
              <a:off x="7750231" y="2196941"/>
              <a:ext cx="692039" cy="167640"/>
            </a:xfrm>
            <a:prstGeom prst="rect">
              <a:avLst/>
            </a:prstGeom>
            <a:noFill/>
            <a:ln>
              <a:noFill/>
            </a:ln>
          </p:spPr>
          <p:txBody>
            <a:bodyPr wrap="none" lIns="0" tIns="0" rIns="0" bIns="0" anchor="t" anchorCtr="0">
              <a:spAutoFit/>
            </a:bodyPr>
            <a:lstStyle/>
            <a:p>
              <a:pPr algn="ctr"/>
              <a:r>
                <a:rPr lang="zh-CN" sz="825" dirty="0">
                  <a:solidFill>
                    <a:srgbClr val="F87171"/>
                  </a:solidFill>
                  <a:latin typeface="Arial"/>
                  <a:ea typeface="Microsoft YaHei"/>
                  <a:cs typeface="Arial"/>
                </a:rPr>
                <a:t>256 channels</a:t>
              </a:r>
            </a:p>
          </p:txBody>
        </p:sp>
        <p:sp>
          <p:nvSpPr>
            <p:cNvPr id="30" name="TextBox 30"/>
            <p:cNvSpPr txBox="1"/>
            <p:nvPr/>
          </p:nvSpPr>
          <p:spPr>
            <a:xfrm>
              <a:off x="7944207" y="2376488"/>
              <a:ext cx="304086" cy="152400"/>
            </a:xfrm>
            <a:prstGeom prst="rect">
              <a:avLst/>
            </a:prstGeom>
            <a:noFill/>
            <a:ln>
              <a:noFill/>
            </a:ln>
          </p:spPr>
          <p:txBody>
            <a:bodyPr wrap="none" lIns="0" tIns="0" rIns="0" bIns="0" anchor="t" anchorCtr="0">
              <a:spAutoFit/>
            </a:bodyPr>
            <a:lstStyle/>
            <a:p>
              <a:pPr algn="ctr"/>
              <a:r>
                <a:rPr lang="zh-CN" sz="750" dirty="0">
                  <a:solidFill>
                    <a:srgbClr val="475569"/>
                  </a:solidFill>
                  <a:latin typeface="Arial"/>
                  <a:ea typeface="Microsoft YaHei"/>
                  <a:cs typeface="Arial"/>
                </a:rPr>
                <a:t>[1 × 1]</a:t>
              </a:r>
            </a:p>
          </p:txBody>
        </p:sp>
      </p:grpSp>
      <p:grpSp>
        <p:nvGrpSpPr>
          <p:cNvPr id="37" name="Group 37"/>
          <p:cNvGrpSpPr/>
          <p:nvPr/>
        </p:nvGrpSpPr>
        <p:grpSpPr>
          <a:xfrm>
            <a:off x="9239250" y="1619250"/>
            <a:ext cx="1905000" cy="1143000"/>
            <a:chOff x="9239250" y="1619250"/>
            <a:chExt cx="1905000" cy="1143000"/>
          </a:xfrm>
        </p:grpSpPr>
        <p:sp>
          <p:nvSpPr>
            <p:cNvPr id="32" name="Rectangle 32"/>
            <p:cNvSpPr/>
            <p:nvPr/>
          </p:nvSpPr>
          <p:spPr>
            <a:xfrm>
              <a:off x="9239250" y="1619250"/>
              <a:ext cx="1905000" cy="1143000"/>
            </a:xfrm>
            <a:prstGeom prst="roundRect">
              <a:avLst>
                <a:gd name="adj" fmla="val 6667"/>
              </a:avLst>
            </a:prstGeom>
            <a:solidFill>
              <a:srgbClr val="0F172A"/>
            </a:solidFill>
            <a:ln w="19050">
              <a:solidFill>
                <a:srgbClr val="10B981"/>
              </a:solidFill>
            </a:ln>
          </p:spPr>
        </p:sp>
        <p:sp>
          <p:nvSpPr>
            <p:cNvPr id="33" name="TextBox 33"/>
            <p:cNvSpPr txBox="1"/>
            <p:nvPr/>
          </p:nvSpPr>
          <p:spPr>
            <a:xfrm>
              <a:off x="9960917" y="1712595"/>
              <a:ext cx="461665"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特征向量</a:t>
              </a:r>
            </a:p>
          </p:txBody>
        </p:sp>
        <p:sp>
          <p:nvSpPr>
            <p:cNvPr id="34" name="Rectangle 34"/>
            <p:cNvSpPr/>
            <p:nvPr/>
          </p:nvSpPr>
          <p:spPr>
            <a:xfrm>
              <a:off x="9429750" y="1952625"/>
              <a:ext cx="1524000" cy="666750"/>
            </a:xfrm>
            <a:prstGeom prst="rect">
              <a:avLst/>
            </a:prstGeom>
            <a:solidFill>
              <a:srgbClr val="ECFDF5"/>
            </a:solidFill>
            <a:ln>
              <a:noFill/>
            </a:ln>
          </p:spPr>
        </p:sp>
        <p:sp>
          <p:nvSpPr>
            <p:cNvPr id="35" name="TextBox 35"/>
            <p:cNvSpPr txBox="1"/>
            <p:nvPr/>
          </p:nvSpPr>
          <p:spPr>
            <a:xfrm>
              <a:off x="10019002" y="2196941"/>
              <a:ext cx="345496" cy="167640"/>
            </a:xfrm>
            <a:prstGeom prst="rect">
              <a:avLst/>
            </a:prstGeom>
            <a:noFill/>
            <a:ln>
              <a:noFill/>
            </a:ln>
          </p:spPr>
          <p:txBody>
            <a:bodyPr wrap="none" lIns="0" tIns="0" rIns="0" bIns="0" anchor="t" anchorCtr="0">
              <a:spAutoFit/>
            </a:bodyPr>
            <a:lstStyle/>
            <a:p>
              <a:pPr algn="ctr"/>
              <a:r>
                <a:rPr lang="zh-CN" sz="825" dirty="0">
                  <a:solidFill>
                    <a:srgbClr val="10B981"/>
                  </a:solidFill>
                  <a:latin typeface="Arial"/>
                  <a:ea typeface="Microsoft YaHei"/>
                  <a:cs typeface="Arial"/>
                </a:rPr>
                <a:t>256 维</a:t>
              </a:r>
            </a:p>
          </p:txBody>
        </p:sp>
        <p:sp>
          <p:nvSpPr>
            <p:cNvPr id="36" name="TextBox 36"/>
            <p:cNvSpPr txBox="1"/>
            <p:nvPr/>
          </p:nvSpPr>
          <p:spPr>
            <a:xfrm>
              <a:off x="10082212" y="2376488"/>
              <a:ext cx="219075" cy="152400"/>
            </a:xfrm>
            <a:prstGeom prst="rect">
              <a:avLst/>
            </a:prstGeom>
            <a:noFill/>
            <a:ln>
              <a:noFill/>
            </a:ln>
          </p:spPr>
          <p:txBody>
            <a:bodyPr wrap="none" lIns="0" tIns="0" rIns="0" bIns="0" anchor="t" anchorCtr="0">
              <a:spAutoFit/>
            </a:bodyPr>
            <a:lstStyle/>
            <a:p>
              <a:pPr algn="ctr"/>
              <a:r>
                <a:rPr lang="zh-CN" sz="750" dirty="0">
                  <a:solidFill>
                    <a:srgbClr val="475569"/>
                  </a:solidFill>
                  <a:latin typeface="Arial"/>
                  <a:ea typeface="Microsoft YaHei"/>
                  <a:cs typeface="Arial"/>
                </a:rPr>
                <a:t>向量</a:t>
              </a:r>
            </a:p>
          </p:txBody>
        </p:sp>
      </p:grpSp>
      <p:sp>
        <p:nvSpPr>
          <p:cNvPr id="38" name="TextBox 38"/>
          <p:cNvSpPr txBox="1"/>
          <p:nvPr/>
        </p:nvSpPr>
        <p:spPr>
          <a:xfrm>
            <a:off x="843915" y="2934652"/>
            <a:ext cx="4174220"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随着层数加深，特征图尺寸减小但通道数增加，提取更抽象的特征表示</a:t>
            </a:r>
          </a:p>
        </p:txBody>
      </p:sp>
      <p:sp>
        <p:nvSpPr>
          <p:cNvPr id="39" name="Rectangle 39"/>
          <p:cNvSpPr/>
          <p:nvPr/>
        </p:nvSpPr>
        <p:spPr>
          <a:xfrm>
            <a:off x="571500" y="3238500"/>
            <a:ext cx="11049000" cy="3238500"/>
          </a:xfrm>
          <a:prstGeom prst="roundRect">
            <a:avLst>
              <a:gd name="adj" fmla="val 3529"/>
            </a:avLst>
          </a:prstGeom>
          <a:solidFill>
            <a:srgbClr val="1E293B"/>
          </a:solidFill>
          <a:ln w="9525">
            <a:solidFill>
              <a:srgbClr val="334155"/>
            </a:solidFill>
          </a:ln>
        </p:spPr>
      </p:sp>
      <p:sp>
        <p:nvSpPr>
          <p:cNvPr id="40" name="TextBox 40"/>
          <p:cNvSpPr txBox="1"/>
          <p:nvPr/>
        </p:nvSpPr>
        <p:spPr>
          <a:xfrm>
            <a:off x="838200" y="340995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完整模型架构</a:t>
            </a:r>
          </a:p>
        </p:txBody>
      </p:sp>
      <p:grpSp>
        <p:nvGrpSpPr>
          <p:cNvPr id="56" name="Group 56"/>
          <p:cNvGrpSpPr/>
          <p:nvPr/>
        </p:nvGrpSpPr>
        <p:grpSpPr>
          <a:xfrm>
            <a:off x="857250" y="3810000"/>
            <a:ext cx="10096500" cy="2800350"/>
            <a:chOff x="857250" y="3810000"/>
            <a:chExt cx="10096500" cy="2800350"/>
          </a:xfrm>
        </p:grpSpPr>
        <p:sp>
          <p:nvSpPr>
            <p:cNvPr id="41" name="Rectangle 41"/>
            <p:cNvSpPr/>
            <p:nvPr/>
          </p:nvSpPr>
          <p:spPr>
            <a:xfrm>
              <a:off x="857250" y="3810000"/>
              <a:ext cx="10096500" cy="2476500"/>
            </a:xfrm>
            <a:prstGeom prst="roundRect">
              <a:avLst>
                <a:gd name="adj" fmla="val 3077"/>
              </a:avLst>
            </a:prstGeom>
            <a:solidFill>
              <a:srgbClr val="0F172A"/>
            </a:solidFill>
            <a:ln w="9525">
              <a:solidFill>
                <a:srgbClr val="334155"/>
              </a:solidFill>
            </a:ln>
          </p:spPr>
        </p:sp>
        <p:sp>
          <p:nvSpPr>
            <p:cNvPr id="42" name="TextBox 42"/>
            <p:cNvSpPr txBox="1"/>
            <p:nvPr/>
          </p:nvSpPr>
          <p:spPr>
            <a:xfrm>
              <a:off x="1036320" y="3950970"/>
              <a:ext cx="730949"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AM_FM_CNN(</a:t>
              </a:r>
            </a:p>
          </p:txBody>
        </p:sp>
        <p:sp>
          <p:nvSpPr>
            <p:cNvPr id="43" name="TextBox 43"/>
            <p:cNvSpPr txBox="1"/>
            <p:nvPr/>
          </p:nvSpPr>
          <p:spPr>
            <a:xfrm>
              <a:off x="1226820" y="4141470"/>
              <a:ext cx="4007358"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(0) Conv2d: 1 → 32, kernel_size=(3, 3), stride=(1, 1), padding=(1, 1)</a:t>
              </a:r>
            </a:p>
          </p:txBody>
        </p:sp>
        <p:sp>
          <p:nvSpPr>
            <p:cNvPr id="44" name="TextBox 44"/>
            <p:cNvSpPr txBox="1"/>
            <p:nvPr/>
          </p:nvSpPr>
          <p:spPr>
            <a:xfrm>
              <a:off x="1226820" y="4331970"/>
              <a:ext cx="2915221"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(1) MaxPool2d: kernel_size=(2, 2), stride=(2, 2)</a:t>
              </a:r>
            </a:p>
          </p:txBody>
        </p:sp>
        <p:sp>
          <p:nvSpPr>
            <p:cNvPr id="45" name="TextBox 45"/>
            <p:cNvSpPr txBox="1"/>
            <p:nvPr/>
          </p:nvSpPr>
          <p:spPr>
            <a:xfrm>
              <a:off x="1226820" y="4522470"/>
              <a:ext cx="4103370"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(2) Conv2d: 32 → 64, kernel_size=(3, 3), stride=(1, 1), padding=(1, 1)</a:t>
              </a:r>
            </a:p>
          </p:txBody>
        </p:sp>
        <p:sp>
          <p:nvSpPr>
            <p:cNvPr id="46" name="TextBox 46"/>
            <p:cNvSpPr txBox="1"/>
            <p:nvPr/>
          </p:nvSpPr>
          <p:spPr>
            <a:xfrm>
              <a:off x="1226820" y="4712970"/>
              <a:ext cx="2945225"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(3) MaxPool2d: kernel_size=(2, 2), stride=(2, 2)</a:t>
              </a:r>
            </a:p>
          </p:txBody>
        </p:sp>
        <p:sp>
          <p:nvSpPr>
            <p:cNvPr id="47" name="TextBox 47"/>
            <p:cNvSpPr txBox="1"/>
            <p:nvPr/>
          </p:nvSpPr>
          <p:spPr>
            <a:xfrm>
              <a:off x="1226820" y="4903470"/>
              <a:ext cx="4139375"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(4) Conv2d: 64 → 128, kernel_size=(3, 3), stride=(1, 1), padding=(1, 1)</a:t>
              </a:r>
            </a:p>
          </p:txBody>
        </p:sp>
        <p:sp>
          <p:nvSpPr>
            <p:cNvPr id="48" name="TextBox 48"/>
            <p:cNvSpPr txBox="1"/>
            <p:nvPr/>
          </p:nvSpPr>
          <p:spPr>
            <a:xfrm>
              <a:off x="1226820" y="5093970"/>
              <a:ext cx="2945225"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(5) MaxPool2d: kernel_size=(2, 2), stride=(2, 2)</a:t>
              </a:r>
            </a:p>
          </p:txBody>
        </p:sp>
        <p:sp>
          <p:nvSpPr>
            <p:cNvPr id="49" name="TextBox 49"/>
            <p:cNvSpPr txBox="1"/>
            <p:nvPr/>
          </p:nvSpPr>
          <p:spPr>
            <a:xfrm>
              <a:off x="1226820" y="5284470"/>
              <a:ext cx="4205383"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(6) Conv2d: 128 → 256, kernel_size=(3, 3), stride=(1, 1), padding=(1, 1)</a:t>
              </a:r>
            </a:p>
          </p:txBody>
        </p:sp>
        <p:sp>
          <p:nvSpPr>
            <p:cNvPr id="50" name="TextBox 50"/>
            <p:cNvSpPr txBox="1"/>
            <p:nvPr/>
          </p:nvSpPr>
          <p:spPr>
            <a:xfrm>
              <a:off x="1226820" y="5474970"/>
              <a:ext cx="2489168"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(7) AdaptiveAvgPool2d: output_size=(1, 1)</a:t>
              </a:r>
            </a:p>
          </p:txBody>
        </p:sp>
        <p:sp>
          <p:nvSpPr>
            <p:cNvPr id="51" name="TextBox 51"/>
            <p:cNvSpPr txBox="1"/>
            <p:nvPr/>
          </p:nvSpPr>
          <p:spPr>
            <a:xfrm>
              <a:off x="1226820" y="5665470"/>
              <a:ext cx="1481042"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(8) Flatten: start_dim=1</a:t>
              </a:r>
            </a:p>
          </p:txBody>
        </p:sp>
        <p:sp>
          <p:nvSpPr>
            <p:cNvPr id="52" name="TextBox 52"/>
            <p:cNvSpPr txBox="1"/>
            <p:nvPr/>
          </p:nvSpPr>
          <p:spPr>
            <a:xfrm>
              <a:off x="1226820" y="5855970"/>
              <a:ext cx="1229011"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(9) Linear: 256 → 512</a:t>
              </a:r>
            </a:p>
          </p:txBody>
        </p:sp>
        <p:sp>
          <p:nvSpPr>
            <p:cNvPr id="53" name="TextBox 53"/>
            <p:cNvSpPr txBox="1"/>
            <p:nvPr/>
          </p:nvSpPr>
          <p:spPr>
            <a:xfrm>
              <a:off x="1226820" y="6046470"/>
              <a:ext cx="1187005"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(10) Dropout: p=0.5</a:t>
              </a:r>
            </a:p>
          </p:txBody>
        </p:sp>
        <p:sp>
          <p:nvSpPr>
            <p:cNvPr id="54" name="TextBox 54"/>
            <p:cNvSpPr txBox="1"/>
            <p:nvPr/>
          </p:nvSpPr>
          <p:spPr>
            <a:xfrm>
              <a:off x="1226820" y="6236970"/>
              <a:ext cx="1102995"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(11) Linear: 512 → 2</a:t>
              </a:r>
            </a:p>
          </p:txBody>
        </p:sp>
        <p:sp>
          <p:nvSpPr>
            <p:cNvPr id="55" name="TextBox 55"/>
            <p:cNvSpPr txBox="1"/>
            <p:nvPr/>
          </p:nvSpPr>
          <p:spPr>
            <a:xfrm>
              <a:off x="1036320" y="6427470"/>
              <a:ext cx="88868" cy="182880"/>
            </a:xfrm>
            <a:prstGeom prst="rect">
              <a:avLst/>
            </a:prstGeom>
            <a:noFill/>
            <a:ln>
              <a:noFill/>
            </a:ln>
          </p:spPr>
          <p:txBody>
            <a:bodyPr wrap="none" lIns="0" tIns="0" rIns="0" bIns="0" anchor="t" anchorCtr="0">
              <a:spAutoFit/>
            </a:bodyPr>
            <a:lstStyle/>
            <a:p>
              <a:pPr algn="l"/>
              <a:r>
                <a:rPr lang="zh-CN" sz="900" dirty="0">
                  <a:solidFill>
                    <a:srgbClr val="CBD5E1"/>
                  </a:solidFill>
                  <a:latin typeface="Consolas"/>
                  <a:ea typeface="Microsoft YaHei"/>
                  <a:cs typeface="Consolas"/>
                </a:rPr>
                <a:t>)</a:t>
              </a:r>
            </a:p>
          </p:txBody>
        </p:sp>
      </p:grpSp>
      <p:sp>
        <p:nvSpPr>
          <p:cNvPr id="57" name="TextBox 57"/>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P07</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8496044" cy="415498"/>
          </a:xfrm>
          <a:prstGeom prst="rect">
            <a:avLst/>
          </a:prstGeom>
          <a:noFill/>
          <a:ln>
            <a:noFill/>
          </a:ln>
        </p:spPr>
        <p:txBody>
          <a:bodyPr wrap="none" lIns="0" tIns="0" rIns="0" bIns="0" anchor="t" anchorCtr="0">
            <a:spAutoFit/>
          </a:bodyPr>
          <a:lstStyle/>
          <a:p>
            <a:pPr algn="l"/>
            <a:r>
              <a:rPr lang="zh-CN" sz="2700" b="1" dirty="0">
                <a:solidFill>
                  <a:schemeClr val="bg1">
                    <a:lumMod val="65000"/>
                  </a:schemeClr>
                </a:solidFill>
                <a:latin typeface="Arial"/>
                <a:ea typeface="Microsoft YaHei"/>
                <a:cs typeface="Arial"/>
              </a:rPr>
              <a:t>CNN 特征演化可视化 Feature Evolution Visualization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4355" y="997268"/>
            <a:ext cx="4225516" cy="207749"/>
          </a:xfrm>
          <a:prstGeom prst="rect">
            <a:avLst/>
          </a:prstGeom>
          <a:noFill/>
          <a:ln>
            <a:noFill/>
          </a:ln>
        </p:spPr>
        <p:txBody>
          <a:bodyPr wrap="none" lIns="0" tIns="0" rIns="0" bIns="0" anchor="t" anchorCtr="0">
            <a:spAutoFit/>
          </a:bodyPr>
          <a:lstStyle/>
          <a:p>
            <a:pPr algn="l"/>
            <a:r>
              <a:rPr lang="zh-CN" sz="1350" dirty="0">
                <a:solidFill>
                  <a:schemeClr val="bg1">
                    <a:lumMod val="65000"/>
                  </a:schemeClr>
                </a:solidFill>
                <a:latin typeface="Arial"/>
                <a:ea typeface="Microsoft YaHei"/>
                <a:cs typeface="Arial"/>
              </a:rPr>
              <a:t>从"像素级信号细节"到"语义级类别特征"的深度学习过程</a:t>
            </a:r>
          </a:p>
        </p:txBody>
      </p:sp>
      <p:grpSp>
        <p:nvGrpSpPr>
          <p:cNvPr id="18" name="Group 18"/>
          <p:cNvGrpSpPr/>
          <p:nvPr/>
        </p:nvGrpSpPr>
        <p:grpSpPr>
          <a:xfrm>
            <a:off x="571500" y="1524000"/>
            <a:ext cx="5334000" cy="2476500"/>
            <a:chOff x="571500" y="1524000"/>
            <a:chExt cx="5334000" cy="2476500"/>
          </a:xfrm>
        </p:grpSpPr>
        <p:sp>
          <p:nvSpPr>
            <p:cNvPr id="7" name="Rectangle 7"/>
            <p:cNvSpPr/>
            <p:nvPr/>
          </p:nvSpPr>
          <p:spPr>
            <a:xfrm>
              <a:off x="571500" y="1524000"/>
              <a:ext cx="5334000" cy="2476500"/>
            </a:xfrm>
            <a:prstGeom prst="roundRect">
              <a:avLst>
                <a:gd name="adj" fmla="val 4615"/>
              </a:avLst>
            </a:prstGeom>
            <a:solidFill>
              <a:srgbClr val="1E293B"/>
            </a:solidFill>
            <a:ln w="19050">
              <a:solidFill>
                <a:srgbClr val="2563EB"/>
              </a:solidFill>
            </a:ln>
          </p:spPr>
        </p:sp>
        <p:sp>
          <p:nvSpPr>
            <p:cNvPr id="8" name="TextBox 8"/>
            <p:cNvSpPr txBox="1"/>
            <p:nvPr/>
          </p:nvSpPr>
          <p:spPr>
            <a:xfrm>
              <a:off x="744855" y="1664018"/>
              <a:ext cx="1558119" cy="207749"/>
            </a:xfrm>
            <a:prstGeom prst="rect">
              <a:avLst/>
            </a:prstGeom>
            <a:noFill/>
            <a:ln>
              <a:noFill/>
            </a:ln>
          </p:spPr>
          <p:txBody>
            <a:bodyPr wrap="none" lIns="0" tIns="0" rIns="0" bIns="0" anchor="t" anchorCtr="0">
              <a:spAutoFit/>
            </a:bodyPr>
            <a:lstStyle/>
            <a:p>
              <a:pPr algn="l"/>
              <a:r>
                <a:rPr lang="zh-CN" sz="1350" b="1" dirty="0">
                  <a:solidFill>
                    <a:schemeClr val="bg1">
                      <a:lumMod val="65000"/>
                    </a:schemeClr>
                  </a:solidFill>
                  <a:latin typeface="Arial"/>
                  <a:ea typeface="Microsoft YaHei"/>
                  <a:cs typeface="Arial"/>
                </a:rPr>
                <a:t>第一层卷积 (Conv1)</a:t>
              </a:r>
            </a:p>
          </p:txBody>
        </p:sp>
        <p:sp>
          <p:nvSpPr>
            <p:cNvPr id="9" name="TextBox 9"/>
            <p:cNvSpPr txBox="1"/>
            <p:nvPr/>
          </p:nvSpPr>
          <p:spPr>
            <a:xfrm>
              <a:off x="748665" y="1934528"/>
              <a:ext cx="80791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基础特征感知</a:t>
              </a:r>
            </a:p>
          </p:txBody>
        </p:sp>
        <p:sp>
          <p:nvSpPr>
            <p:cNvPr id="10" name="Rectangle 10"/>
            <p:cNvSpPr/>
            <p:nvPr/>
          </p:nvSpPr>
          <p:spPr>
            <a:xfrm>
              <a:off x="762000" y="2190750"/>
              <a:ext cx="4953000" cy="28575"/>
            </a:xfrm>
            <a:prstGeom prst="rect">
              <a:avLst/>
            </a:prstGeom>
            <a:gradFill>
              <a:gsLst>
                <a:gs pos="0">
                  <a:srgbClr val="2563EB"/>
                </a:gs>
                <a:gs pos="100000">
                  <a:srgbClr val="8B5CF6"/>
                </a:gs>
              </a:gsLst>
              <a:lin ang="0" scaled="1"/>
            </a:gradFill>
            <a:ln>
              <a:noFill/>
            </a:ln>
          </p:spPr>
        </p:sp>
        <p:sp>
          <p:nvSpPr>
            <p:cNvPr id="11" name="TextBox 11"/>
            <p:cNvSpPr txBox="1"/>
            <p:nvPr/>
          </p:nvSpPr>
          <p:spPr>
            <a:xfrm>
              <a:off x="748665" y="2363152"/>
              <a:ext cx="2019784"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主要提取频谱图的基础边缘、纹理</a:t>
              </a:r>
            </a:p>
          </p:txBody>
        </p:sp>
        <p:sp>
          <p:nvSpPr>
            <p:cNvPr id="12" name="TextBox 12"/>
            <p:cNvSpPr txBox="1"/>
            <p:nvPr/>
          </p:nvSpPr>
          <p:spPr>
            <a:xfrm>
              <a:off x="748665" y="2601278"/>
              <a:ext cx="67326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与颜色信息</a:t>
              </a:r>
            </a:p>
          </p:txBody>
        </p:sp>
        <p:sp>
          <p:nvSpPr>
            <p:cNvPr id="13" name="TextBox 13"/>
            <p:cNvSpPr txBox="1"/>
            <p:nvPr/>
          </p:nvSpPr>
          <p:spPr>
            <a:xfrm>
              <a:off x="749618" y="2895124"/>
              <a:ext cx="1625445"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工作机制类似人类视觉系统的</a:t>
              </a:r>
            </a:p>
          </p:txBody>
        </p:sp>
        <p:sp>
          <p:nvSpPr>
            <p:cNvPr id="14" name="TextBox 14"/>
            <p:cNvSpPr txBox="1"/>
            <p:nvPr/>
          </p:nvSpPr>
          <p:spPr>
            <a:xfrm>
              <a:off x="749618" y="3133249"/>
              <a:ext cx="750205"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初级处理阶段</a:t>
              </a:r>
            </a:p>
          </p:txBody>
        </p:sp>
        <p:sp>
          <p:nvSpPr>
            <p:cNvPr id="15" name="TextBox 15"/>
            <p:cNvSpPr txBox="1"/>
            <p:nvPr/>
          </p:nvSpPr>
          <p:spPr>
            <a:xfrm>
              <a:off x="749618" y="3418999"/>
              <a:ext cx="1625445"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敏锐捕捉信号的原始物理形态</a:t>
              </a:r>
            </a:p>
          </p:txBody>
        </p:sp>
        <p:sp>
          <p:nvSpPr>
            <p:cNvPr id="16" name="TextBox 16"/>
            <p:cNvSpPr txBox="1"/>
            <p:nvPr/>
          </p:nvSpPr>
          <p:spPr>
            <a:xfrm>
              <a:off x="749618" y="3657124"/>
              <a:ext cx="625171"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与局部细节</a:t>
              </a:r>
            </a:p>
          </p:txBody>
        </p:sp>
        <p:sp>
          <p:nvSpPr>
            <p:cNvPr id="17" name="Rectangle 17"/>
            <p:cNvSpPr/>
            <p:nvPr/>
          </p:nvSpPr>
          <p:spPr>
            <a:xfrm>
              <a:off x="762000" y="3905250"/>
              <a:ext cx="4953000" cy="47625"/>
            </a:xfrm>
            <a:prstGeom prst="roundRect">
              <a:avLst>
                <a:gd name="adj" fmla="val 40000"/>
              </a:avLst>
            </a:prstGeom>
            <a:solidFill>
              <a:srgbClr val="EFF6FF"/>
            </a:solidFill>
            <a:ln>
              <a:noFill/>
            </a:ln>
          </p:spPr>
        </p:sp>
      </p:grpSp>
      <p:grpSp>
        <p:nvGrpSpPr>
          <p:cNvPr id="29" name="Group 29"/>
          <p:cNvGrpSpPr/>
          <p:nvPr/>
        </p:nvGrpSpPr>
        <p:grpSpPr>
          <a:xfrm>
            <a:off x="6286500" y="1524000"/>
            <a:ext cx="5334000" cy="2476500"/>
            <a:chOff x="6286500" y="1524000"/>
            <a:chExt cx="5334000" cy="2476500"/>
          </a:xfrm>
        </p:grpSpPr>
        <p:sp>
          <p:nvSpPr>
            <p:cNvPr id="19" name="Rectangle 19"/>
            <p:cNvSpPr/>
            <p:nvPr/>
          </p:nvSpPr>
          <p:spPr>
            <a:xfrm>
              <a:off x="6286500" y="1524000"/>
              <a:ext cx="5334000" cy="2476500"/>
            </a:xfrm>
            <a:prstGeom prst="roundRect">
              <a:avLst>
                <a:gd name="adj" fmla="val 4615"/>
              </a:avLst>
            </a:prstGeom>
            <a:solidFill>
              <a:srgbClr val="1E293B"/>
            </a:solidFill>
            <a:ln w="19050">
              <a:solidFill>
                <a:srgbClr val="8B5CF6"/>
              </a:solidFill>
            </a:ln>
          </p:spPr>
        </p:sp>
        <p:sp>
          <p:nvSpPr>
            <p:cNvPr id="20" name="TextBox 20"/>
            <p:cNvSpPr txBox="1"/>
            <p:nvPr/>
          </p:nvSpPr>
          <p:spPr>
            <a:xfrm>
              <a:off x="6459855" y="1664018"/>
              <a:ext cx="1731243" cy="207749"/>
            </a:xfrm>
            <a:prstGeom prst="rect">
              <a:avLst/>
            </a:prstGeom>
            <a:noFill/>
            <a:ln>
              <a:noFill/>
            </a:ln>
          </p:spPr>
          <p:txBody>
            <a:bodyPr wrap="none" lIns="0" tIns="0" rIns="0" bIns="0" anchor="t" anchorCtr="0">
              <a:spAutoFit/>
            </a:bodyPr>
            <a:lstStyle/>
            <a:p>
              <a:pPr algn="l"/>
              <a:r>
                <a:rPr lang="zh-CN" sz="1350" b="1" dirty="0">
                  <a:solidFill>
                    <a:schemeClr val="bg1">
                      <a:lumMod val="65000"/>
                    </a:schemeClr>
                  </a:solidFill>
                  <a:latin typeface="Arial"/>
                  <a:ea typeface="Microsoft YaHei"/>
                  <a:cs typeface="Arial"/>
                </a:rPr>
                <a:t>最后一层卷积 (Conv4)</a:t>
              </a:r>
            </a:p>
          </p:txBody>
        </p:sp>
        <p:sp>
          <p:nvSpPr>
            <p:cNvPr id="21" name="TextBox 21"/>
            <p:cNvSpPr txBox="1"/>
            <p:nvPr/>
          </p:nvSpPr>
          <p:spPr>
            <a:xfrm>
              <a:off x="6463665" y="1934528"/>
              <a:ext cx="80791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抽象语义建模</a:t>
              </a:r>
            </a:p>
          </p:txBody>
        </p:sp>
        <p:sp>
          <p:nvSpPr>
            <p:cNvPr id="22" name="Rectangle 22"/>
            <p:cNvSpPr/>
            <p:nvPr/>
          </p:nvSpPr>
          <p:spPr>
            <a:xfrm>
              <a:off x="6477000" y="2190750"/>
              <a:ext cx="4953000" cy="28575"/>
            </a:xfrm>
            <a:prstGeom prst="rect">
              <a:avLst/>
            </a:prstGeom>
            <a:solidFill>
              <a:srgbClr val="818CF8"/>
            </a:solidFill>
            <a:ln>
              <a:noFill/>
            </a:ln>
          </p:spPr>
        </p:sp>
        <p:sp>
          <p:nvSpPr>
            <p:cNvPr id="23" name="TextBox 23"/>
            <p:cNvSpPr txBox="1"/>
            <p:nvPr/>
          </p:nvSpPr>
          <p:spPr>
            <a:xfrm>
              <a:off x="6463665" y="2363152"/>
              <a:ext cx="161582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从底层细节中提炼出更抽象</a:t>
              </a:r>
            </a:p>
          </p:txBody>
        </p:sp>
        <p:sp>
          <p:nvSpPr>
            <p:cNvPr id="24" name="TextBox 24"/>
            <p:cNvSpPr txBox="1"/>
            <p:nvPr/>
          </p:nvSpPr>
          <p:spPr>
            <a:xfrm>
              <a:off x="6463665" y="2601278"/>
              <a:ext cx="1615827"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更具判别性的高级语义特征</a:t>
              </a:r>
            </a:p>
          </p:txBody>
        </p:sp>
        <p:sp>
          <p:nvSpPr>
            <p:cNvPr id="25" name="TextBox 25"/>
            <p:cNvSpPr txBox="1"/>
            <p:nvPr/>
          </p:nvSpPr>
          <p:spPr>
            <a:xfrm>
              <a:off x="6464618" y="2895124"/>
              <a:ext cx="1375377"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这一层的特征是模型区分</a:t>
              </a:r>
            </a:p>
          </p:txBody>
        </p:sp>
        <p:sp>
          <p:nvSpPr>
            <p:cNvPr id="26" name="TextBox 26"/>
            <p:cNvSpPr txBox="1"/>
            <p:nvPr/>
          </p:nvSpPr>
          <p:spPr>
            <a:xfrm>
              <a:off x="6464618" y="3133249"/>
              <a:ext cx="1869101"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AM与FM信号本质差异的核心依据</a:t>
              </a:r>
            </a:p>
          </p:txBody>
        </p:sp>
        <p:sp>
          <p:nvSpPr>
            <p:cNvPr id="27" name="TextBox 27"/>
            <p:cNvSpPr txBox="1"/>
            <p:nvPr/>
          </p:nvSpPr>
          <p:spPr>
            <a:xfrm>
              <a:off x="6464618" y="3418999"/>
              <a:ext cx="1750479"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完成了从信号表象到本质的映射</a:t>
              </a:r>
            </a:p>
          </p:txBody>
        </p:sp>
        <p:sp>
          <p:nvSpPr>
            <p:cNvPr id="28" name="Rectangle 28"/>
            <p:cNvSpPr/>
            <p:nvPr/>
          </p:nvSpPr>
          <p:spPr>
            <a:xfrm>
              <a:off x="6477000" y="3905250"/>
              <a:ext cx="4953000" cy="47625"/>
            </a:xfrm>
            <a:prstGeom prst="roundRect">
              <a:avLst>
                <a:gd name="adj" fmla="val 40000"/>
              </a:avLst>
            </a:prstGeom>
            <a:solidFill>
              <a:srgbClr val="F3E8FF"/>
            </a:solidFill>
            <a:ln>
              <a:noFill/>
            </a:ln>
          </p:spPr>
        </p:sp>
      </p:grpSp>
      <p:sp>
        <p:nvSpPr>
          <p:cNvPr id="30" name="Rectangle 30"/>
          <p:cNvSpPr/>
          <p:nvPr/>
        </p:nvSpPr>
        <p:spPr>
          <a:xfrm>
            <a:off x="571500" y="4191000"/>
            <a:ext cx="11049000" cy="2286000"/>
          </a:xfrm>
          <a:prstGeom prst="roundRect">
            <a:avLst>
              <a:gd name="adj" fmla="val 5000"/>
            </a:avLst>
          </a:prstGeom>
          <a:solidFill>
            <a:srgbClr val="1E293B"/>
          </a:solidFill>
          <a:ln w="9525">
            <a:solidFill>
              <a:srgbClr val="334155"/>
            </a:solidFill>
          </a:ln>
        </p:spPr>
      </p:sp>
      <p:sp>
        <p:nvSpPr>
          <p:cNvPr id="31" name="TextBox 31"/>
          <p:cNvSpPr txBox="1"/>
          <p:nvPr/>
        </p:nvSpPr>
        <p:spPr>
          <a:xfrm>
            <a:off x="838200" y="4362450"/>
            <a:ext cx="1346522" cy="230832"/>
          </a:xfrm>
          <a:prstGeom prst="rect">
            <a:avLst/>
          </a:prstGeom>
          <a:noFill/>
          <a:ln>
            <a:noFill/>
          </a:ln>
        </p:spPr>
        <p:txBody>
          <a:bodyPr wrap="none" lIns="0" tIns="0" rIns="0" bIns="0" anchor="t" anchorCtr="0">
            <a:spAutoFit/>
          </a:bodyPr>
          <a:lstStyle/>
          <a:p>
            <a:pPr algn="l"/>
            <a:r>
              <a:rPr lang="zh-CN" sz="1500" b="1" dirty="0">
                <a:solidFill>
                  <a:schemeClr val="bg1">
                    <a:lumMod val="65000"/>
                  </a:schemeClr>
                </a:solidFill>
                <a:latin typeface="Arial"/>
                <a:ea typeface="Microsoft YaHei"/>
                <a:cs typeface="Arial"/>
              </a:rPr>
              <a:t>可视化表现对比</a:t>
            </a:r>
          </a:p>
        </p:txBody>
      </p:sp>
      <p:grpSp>
        <p:nvGrpSpPr>
          <p:cNvPr id="36" name="Group 36"/>
          <p:cNvGrpSpPr/>
          <p:nvPr/>
        </p:nvGrpSpPr>
        <p:grpSpPr>
          <a:xfrm>
            <a:off x="857250" y="4762500"/>
            <a:ext cx="4762500" cy="762000"/>
            <a:chOff x="857250" y="4762500"/>
            <a:chExt cx="4762500" cy="762000"/>
          </a:xfrm>
        </p:grpSpPr>
        <p:sp>
          <p:nvSpPr>
            <p:cNvPr id="32" name="Rectangle 32"/>
            <p:cNvSpPr/>
            <p:nvPr/>
          </p:nvSpPr>
          <p:spPr>
            <a:xfrm>
              <a:off x="857250" y="4762500"/>
              <a:ext cx="4762500" cy="762000"/>
            </a:xfrm>
            <a:prstGeom prst="roundRect">
              <a:avLst>
                <a:gd name="adj" fmla="val 10000"/>
              </a:avLst>
            </a:prstGeom>
            <a:solidFill>
              <a:srgbClr val="0F172A"/>
            </a:solidFill>
            <a:ln w="19050">
              <a:solidFill>
                <a:srgbClr val="2563EB"/>
              </a:solidFill>
            </a:ln>
          </p:spPr>
        </p:sp>
        <p:sp>
          <p:nvSpPr>
            <p:cNvPr id="33" name="TextBox 33"/>
            <p:cNvSpPr txBox="1"/>
            <p:nvPr/>
          </p:nvSpPr>
          <p:spPr>
            <a:xfrm>
              <a:off x="1034415" y="4887278"/>
              <a:ext cx="852798"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Conv1 特征图</a:t>
              </a:r>
            </a:p>
          </p:txBody>
        </p:sp>
        <p:sp>
          <p:nvSpPr>
            <p:cNvPr id="34" name="TextBox 34"/>
            <p:cNvSpPr txBox="1"/>
            <p:nvPr/>
          </p:nvSpPr>
          <p:spPr>
            <a:xfrm>
              <a:off x="1035368" y="5133499"/>
              <a:ext cx="1500411"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保留了原始图像的丰富细节</a:t>
              </a:r>
            </a:p>
          </p:txBody>
        </p:sp>
        <p:sp>
          <p:nvSpPr>
            <p:cNvPr id="35" name="TextBox 35"/>
            <p:cNvSpPr txBox="1"/>
            <p:nvPr/>
          </p:nvSpPr>
          <p:spPr>
            <a:xfrm>
              <a:off x="1035368" y="5323999"/>
              <a:ext cx="1750479"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直观呈现信号的时域与频域轮廓</a:t>
              </a:r>
            </a:p>
          </p:txBody>
        </p:sp>
      </p:grpSp>
      <p:grpSp>
        <p:nvGrpSpPr>
          <p:cNvPr id="41" name="Group 41"/>
          <p:cNvGrpSpPr/>
          <p:nvPr/>
        </p:nvGrpSpPr>
        <p:grpSpPr>
          <a:xfrm>
            <a:off x="857250" y="5619750"/>
            <a:ext cx="4762500" cy="762000"/>
            <a:chOff x="857250" y="5619750"/>
            <a:chExt cx="4762500" cy="762000"/>
          </a:xfrm>
        </p:grpSpPr>
        <p:sp>
          <p:nvSpPr>
            <p:cNvPr id="37" name="Rectangle 37"/>
            <p:cNvSpPr/>
            <p:nvPr/>
          </p:nvSpPr>
          <p:spPr>
            <a:xfrm>
              <a:off x="857250" y="5619750"/>
              <a:ext cx="4762500" cy="762000"/>
            </a:xfrm>
            <a:prstGeom prst="roundRect">
              <a:avLst>
                <a:gd name="adj" fmla="val 10000"/>
              </a:avLst>
            </a:prstGeom>
            <a:solidFill>
              <a:srgbClr val="0F172A"/>
            </a:solidFill>
            <a:ln w="19050">
              <a:solidFill>
                <a:srgbClr val="8B5CF6"/>
              </a:solidFill>
            </a:ln>
          </p:spPr>
        </p:sp>
        <p:sp>
          <p:nvSpPr>
            <p:cNvPr id="38" name="TextBox 38"/>
            <p:cNvSpPr txBox="1"/>
            <p:nvPr/>
          </p:nvSpPr>
          <p:spPr>
            <a:xfrm>
              <a:off x="1034415" y="5744528"/>
              <a:ext cx="852798"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Conv4 特征图</a:t>
              </a:r>
            </a:p>
          </p:txBody>
        </p:sp>
        <p:sp>
          <p:nvSpPr>
            <p:cNvPr id="39" name="TextBox 39"/>
            <p:cNvSpPr txBox="1"/>
            <p:nvPr/>
          </p:nvSpPr>
          <p:spPr>
            <a:xfrm>
              <a:off x="1035368" y="5990749"/>
              <a:ext cx="1875513"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图像极度抽象，人眼难以直观理解</a:t>
              </a:r>
            </a:p>
          </p:txBody>
        </p:sp>
        <p:sp>
          <p:nvSpPr>
            <p:cNvPr id="40" name="TextBox 40"/>
            <p:cNvSpPr txBox="1"/>
            <p:nvPr/>
          </p:nvSpPr>
          <p:spPr>
            <a:xfrm>
              <a:off x="1035368" y="6181249"/>
              <a:ext cx="1875513"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包含用于分类决策的关键判别信息</a:t>
              </a:r>
            </a:p>
          </p:txBody>
        </p:sp>
      </p:grpSp>
      <p:sp>
        <p:nvSpPr>
          <p:cNvPr id="42" name="Rectangle 42"/>
          <p:cNvSpPr/>
          <p:nvPr/>
        </p:nvSpPr>
        <p:spPr>
          <a:xfrm>
            <a:off x="5905500" y="4762500"/>
            <a:ext cx="5524500" cy="1619250"/>
          </a:xfrm>
          <a:prstGeom prst="roundRect">
            <a:avLst>
              <a:gd name="adj" fmla="val 7059"/>
            </a:avLst>
          </a:prstGeom>
          <a:solidFill>
            <a:srgbClr val="10B981"/>
          </a:solidFill>
          <a:ln>
            <a:noFill/>
          </a:ln>
        </p:spPr>
      </p:sp>
      <p:sp>
        <p:nvSpPr>
          <p:cNvPr id="43" name="TextBox 43"/>
          <p:cNvSpPr txBox="1"/>
          <p:nvPr/>
        </p:nvSpPr>
        <p:spPr>
          <a:xfrm>
            <a:off x="8321501" y="4950142"/>
            <a:ext cx="692497" cy="207749"/>
          </a:xfrm>
          <a:prstGeom prst="rect">
            <a:avLst/>
          </a:prstGeom>
          <a:noFill/>
          <a:ln>
            <a:noFill/>
          </a:ln>
        </p:spPr>
        <p:txBody>
          <a:bodyPr wrap="none" lIns="0" tIns="0" rIns="0" bIns="0" anchor="t" anchorCtr="0">
            <a:spAutoFit/>
          </a:bodyPr>
          <a:lstStyle/>
          <a:p>
            <a:pPr algn="ctr"/>
            <a:r>
              <a:rPr lang="zh-CN" sz="1350" b="1" dirty="0">
                <a:solidFill>
                  <a:schemeClr val="bg1"/>
                </a:solidFill>
                <a:latin typeface="Arial"/>
                <a:ea typeface="Microsoft YaHei"/>
                <a:cs typeface="Arial"/>
              </a:rPr>
              <a:t>核心洞察</a:t>
            </a:r>
          </a:p>
        </p:txBody>
      </p:sp>
      <p:sp>
        <p:nvSpPr>
          <p:cNvPr id="44" name="TextBox 44"/>
          <p:cNvSpPr txBox="1"/>
          <p:nvPr/>
        </p:nvSpPr>
        <p:spPr>
          <a:xfrm>
            <a:off x="7780487" y="5315902"/>
            <a:ext cx="1774525" cy="161583"/>
          </a:xfrm>
          <a:prstGeom prst="rect">
            <a:avLst/>
          </a:prstGeom>
          <a:noFill/>
          <a:ln>
            <a:noFill/>
          </a:ln>
        </p:spPr>
        <p:txBody>
          <a:bodyPr wrap="none" lIns="0" tIns="0" rIns="0" bIns="0" anchor="t" anchorCtr="0">
            <a:spAutoFit/>
          </a:bodyPr>
          <a:lstStyle/>
          <a:p>
            <a:pPr algn="ctr"/>
            <a:r>
              <a:rPr lang="zh-CN" sz="1050" dirty="0">
                <a:solidFill>
                  <a:schemeClr val="bg1"/>
                </a:solidFill>
                <a:latin typeface="Arial"/>
                <a:ea typeface="Microsoft YaHei"/>
                <a:cs typeface="Arial"/>
              </a:rPr>
              <a:t>CNN通过逐层递进的层级结构</a:t>
            </a:r>
          </a:p>
        </p:txBody>
      </p:sp>
      <p:sp>
        <p:nvSpPr>
          <p:cNvPr id="45" name="TextBox 45"/>
          <p:cNvSpPr txBox="1"/>
          <p:nvPr/>
        </p:nvSpPr>
        <p:spPr>
          <a:xfrm>
            <a:off x="7927163" y="5554028"/>
            <a:ext cx="1481175" cy="161583"/>
          </a:xfrm>
          <a:prstGeom prst="rect">
            <a:avLst/>
          </a:prstGeom>
          <a:noFill/>
          <a:ln>
            <a:noFill/>
          </a:ln>
        </p:spPr>
        <p:txBody>
          <a:bodyPr wrap="none" lIns="0" tIns="0" rIns="0" bIns="0" anchor="t" anchorCtr="0">
            <a:spAutoFit/>
          </a:bodyPr>
          <a:lstStyle/>
          <a:p>
            <a:pPr algn="ctr"/>
            <a:r>
              <a:rPr lang="zh-CN" sz="1050" dirty="0">
                <a:solidFill>
                  <a:schemeClr val="bg1"/>
                </a:solidFill>
                <a:latin typeface="Arial"/>
                <a:ea typeface="Microsoft YaHei"/>
                <a:cs typeface="Arial"/>
              </a:rPr>
              <a:t>将原始频谱图数据转化为</a:t>
            </a:r>
          </a:p>
        </p:txBody>
      </p:sp>
      <p:sp>
        <p:nvSpPr>
          <p:cNvPr id="46" name="TextBox 46"/>
          <p:cNvSpPr txBox="1"/>
          <p:nvPr/>
        </p:nvSpPr>
        <p:spPr>
          <a:xfrm>
            <a:off x="7590532" y="5792152"/>
            <a:ext cx="2154436" cy="161583"/>
          </a:xfrm>
          <a:prstGeom prst="rect">
            <a:avLst/>
          </a:prstGeom>
          <a:noFill/>
          <a:ln>
            <a:noFill/>
          </a:ln>
        </p:spPr>
        <p:txBody>
          <a:bodyPr wrap="none" lIns="0" tIns="0" rIns="0" bIns="0" anchor="t" anchorCtr="0">
            <a:spAutoFit/>
          </a:bodyPr>
          <a:lstStyle/>
          <a:p>
            <a:pPr algn="ctr"/>
            <a:r>
              <a:rPr lang="zh-CN" sz="1050" dirty="0">
                <a:solidFill>
                  <a:schemeClr val="bg1"/>
                </a:solidFill>
                <a:latin typeface="Arial"/>
                <a:ea typeface="Microsoft YaHei"/>
                <a:cs typeface="Arial"/>
              </a:rPr>
              <a:t>对分类任务有高度区分度的高级特征</a:t>
            </a:r>
          </a:p>
        </p:txBody>
      </p:sp>
      <p:sp>
        <p:nvSpPr>
          <p:cNvPr id="47" name="TextBox 47"/>
          <p:cNvSpPr txBox="1"/>
          <p:nvPr/>
        </p:nvSpPr>
        <p:spPr>
          <a:xfrm>
            <a:off x="7657858" y="6077902"/>
            <a:ext cx="2019784" cy="161583"/>
          </a:xfrm>
          <a:prstGeom prst="rect">
            <a:avLst/>
          </a:prstGeom>
          <a:noFill/>
          <a:ln>
            <a:noFill/>
          </a:ln>
        </p:spPr>
        <p:txBody>
          <a:bodyPr wrap="none" lIns="0" tIns="0" rIns="0" bIns="0" anchor="t" anchorCtr="0">
            <a:spAutoFit/>
          </a:bodyPr>
          <a:lstStyle/>
          <a:p>
            <a:pPr algn="ctr"/>
            <a:r>
              <a:rPr lang="zh-CN" sz="1050" dirty="0">
                <a:solidFill>
                  <a:schemeClr val="bg1"/>
                </a:solidFill>
                <a:latin typeface="Arial"/>
                <a:ea typeface="Microsoft YaHei"/>
                <a:cs typeface="Arial"/>
              </a:rPr>
              <a:t>自动完成特征工程，无需人工干预</a:t>
            </a:r>
          </a:p>
        </p:txBody>
      </p:sp>
      <p:sp>
        <p:nvSpPr>
          <p:cNvPr id="48" name="TextBox 48"/>
          <p:cNvSpPr txBox="1"/>
          <p:nvPr/>
        </p:nvSpPr>
        <p:spPr>
          <a:xfrm>
            <a:off x="560070" y="6379845"/>
            <a:ext cx="205184"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P23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4737464"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模型训练 Training Process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6096000" cy="5238750"/>
          </a:xfrm>
          <a:prstGeom prst="roundRect">
            <a:avLst>
              <a:gd name="adj" fmla="val 2182"/>
            </a:avLst>
          </a:prstGeom>
          <a:solidFill>
            <a:srgbClr val="1E293B"/>
          </a:solidFill>
          <a:ln w="9525">
            <a:solidFill>
              <a:srgbClr val="334155"/>
            </a:solidFill>
          </a:ln>
        </p:spPr>
      </p:sp>
      <p:pic>
        <p:nvPicPr>
          <p:cNvPr id="7" name="Image 7"/>
          <p:cNvPicPr>
            <a:picLocks noChangeAspect="1"/>
          </p:cNvPicPr>
          <p:nvPr/>
        </p:nvPicPr>
        <p:blipFill>
          <a:blip r:embed="rId2"/>
          <a:stretch>
            <a:fillRect/>
          </a:stretch>
        </p:blipFill>
        <p:spPr>
          <a:xfrm>
            <a:off x="762000" y="2606795"/>
            <a:ext cx="5715000" cy="2120660"/>
          </a:xfrm>
          <a:prstGeom prst="rect">
            <a:avLst/>
          </a:prstGeom>
        </p:spPr>
      </p:pic>
      <p:sp>
        <p:nvSpPr>
          <p:cNvPr id="8" name="Rectangle 8"/>
          <p:cNvSpPr/>
          <p:nvPr/>
        </p:nvSpPr>
        <p:spPr>
          <a:xfrm>
            <a:off x="6858000" y="1047750"/>
            <a:ext cx="4762500" cy="2381250"/>
          </a:xfrm>
          <a:prstGeom prst="roundRect">
            <a:avLst>
              <a:gd name="adj" fmla="val 4800"/>
            </a:avLst>
          </a:prstGeom>
          <a:solidFill>
            <a:srgbClr val="1E293B"/>
          </a:solidFill>
          <a:ln w="9525">
            <a:solidFill>
              <a:srgbClr val="334155"/>
            </a:solidFill>
          </a:ln>
        </p:spPr>
      </p:sp>
      <p:sp>
        <p:nvSpPr>
          <p:cNvPr id="9" name="TextBox 9"/>
          <p:cNvSpPr txBox="1"/>
          <p:nvPr/>
        </p:nvSpPr>
        <p:spPr>
          <a:xfrm>
            <a:off x="7126605" y="1235392"/>
            <a:ext cx="979408"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数据集配置</a:t>
            </a:r>
          </a:p>
        </p:txBody>
      </p:sp>
      <p:sp>
        <p:nvSpPr>
          <p:cNvPr id="10" name="TextBox 10"/>
          <p:cNvSpPr txBox="1"/>
          <p:nvPr/>
        </p:nvSpPr>
        <p:spPr>
          <a:xfrm>
            <a:off x="7130415" y="1601152"/>
            <a:ext cx="117481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总样本: </a:t>
            </a:r>
            <a:r>
              <a:rPr lang="zh-CN" sz="1050" b="1" dirty="0">
                <a:gradFill>
                  <a:gsLst>
                    <a:gs pos="0">
                      <a:srgbClr val="2563EB"/>
                    </a:gs>
                    <a:gs pos="100000">
                      <a:srgbClr val="8B5CF6"/>
                    </a:gs>
                  </a:gsLst>
                  <a:lin ang="0" scaled="1"/>
                </a:gradFill>
                <a:latin typeface="Arial"/>
                <a:ea typeface="Microsoft YaHei"/>
                <a:cs typeface="Arial"/>
              </a:rPr>
              <a:t>2000</a:t>
            </a:r>
            <a:r>
              <a:rPr lang="zh-CN" sz="1050" dirty="0">
                <a:solidFill>
                  <a:srgbClr val="CBD5E1"/>
                </a:solidFill>
                <a:latin typeface="Arial"/>
                <a:ea typeface="Microsoft YaHei"/>
                <a:cs typeface="Arial"/>
              </a:rPr>
              <a:t> 个</a:t>
            </a:r>
          </a:p>
        </p:txBody>
      </p:sp>
      <p:sp>
        <p:nvSpPr>
          <p:cNvPr id="11" name="TextBox 11"/>
          <p:cNvSpPr txBox="1"/>
          <p:nvPr/>
        </p:nvSpPr>
        <p:spPr>
          <a:xfrm>
            <a:off x="7130415" y="1839278"/>
            <a:ext cx="1461849"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AM调制信号: </a:t>
            </a:r>
            <a:r>
              <a:rPr lang="zh-CN" sz="1050" b="1" dirty="0">
                <a:solidFill>
                  <a:srgbClr val="10B981"/>
                </a:solidFill>
                <a:latin typeface="Arial"/>
                <a:ea typeface="Microsoft YaHei"/>
                <a:cs typeface="Arial"/>
              </a:rPr>
              <a:t>1000</a:t>
            </a:r>
            <a:r>
              <a:rPr lang="zh-CN" sz="1050" dirty="0">
                <a:solidFill>
                  <a:srgbClr val="CBD5E1"/>
                </a:solidFill>
                <a:latin typeface="Arial"/>
                <a:ea typeface="Microsoft YaHei"/>
                <a:cs typeface="Arial"/>
              </a:rPr>
              <a:t> 个</a:t>
            </a:r>
          </a:p>
        </p:txBody>
      </p:sp>
      <p:sp>
        <p:nvSpPr>
          <p:cNvPr id="12" name="TextBox 12"/>
          <p:cNvSpPr txBox="1"/>
          <p:nvPr/>
        </p:nvSpPr>
        <p:spPr>
          <a:xfrm>
            <a:off x="7130415" y="2077402"/>
            <a:ext cx="1461849"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FM调制信号: </a:t>
            </a:r>
            <a:r>
              <a:rPr lang="zh-CN" sz="1050" b="1" dirty="0">
                <a:solidFill>
                  <a:srgbClr val="10B981"/>
                </a:solidFill>
                <a:latin typeface="Arial"/>
                <a:ea typeface="Microsoft YaHei"/>
                <a:cs typeface="Arial"/>
              </a:rPr>
              <a:t>1000</a:t>
            </a:r>
            <a:r>
              <a:rPr lang="zh-CN" sz="1050" dirty="0">
                <a:solidFill>
                  <a:srgbClr val="CBD5E1"/>
                </a:solidFill>
                <a:latin typeface="Arial"/>
                <a:ea typeface="Microsoft YaHei"/>
                <a:cs typeface="Arial"/>
              </a:rPr>
              <a:t> 个</a:t>
            </a:r>
          </a:p>
        </p:txBody>
      </p:sp>
      <p:sp>
        <p:nvSpPr>
          <p:cNvPr id="13" name="TextBox 13"/>
          <p:cNvSpPr txBox="1"/>
          <p:nvPr/>
        </p:nvSpPr>
        <p:spPr>
          <a:xfrm>
            <a:off x="7130415" y="2363152"/>
            <a:ext cx="84478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参数随机范围:</a:t>
            </a:r>
          </a:p>
        </p:txBody>
      </p:sp>
      <p:sp>
        <p:nvSpPr>
          <p:cNvPr id="14" name="TextBox 14"/>
          <p:cNvSpPr txBox="1"/>
          <p:nvPr/>
        </p:nvSpPr>
        <p:spPr>
          <a:xfrm>
            <a:off x="7131368" y="2609374"/>
            <a:ext cx="1223092"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 载波频率: 50-150 Hz</a:t>
            </a:r>
          </a:p>
        </p:txBody>
      </p:sp>
      <p:sp>
        <p:nvSpPr>
          <p:cNvPr id="15" name="TextBox 15"/>
          <p:cNvSpPr txBox="1"/>
          <p:nvPr/>
        </p:nvSpPr>
        <p:spPr>
          <a:xfrm>
            <a:off x="7131368" y="2828449"/>
            <a:ext cx="1085233"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 消息频率: 1-10 Hz</a:t>
            </a:r>
          </a:p>
        </p:txBody>
      </p:sp>
      <p:sp>
        <p:nvSpPr>
          <p:cNvPr id="16" name="TextBox 16"/>
          <p:cNvSpPr txBox="1"/>
          <p:nvPr/>
        </p:nvSpPr>
        <p:spPr>
          <a:xfrm>
            <a:off x="7131368" y="3047524"/>
            <a:ext cx="847989"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 SNR: 0-20 dB</a:t>
            </a:r>
          </a:p>
        </p:txBody>
      </p:sp>
      <p:sp>
        <p:nvSpPr>
          <p:cNvPr id="17" name="Rectangle 17"/>
          <p:cNvSpPr/>
          <p:nvPr/>
        </p:nvSpPr>
        <p:spPr>
          <a:xfrm>
            <a:off x="6858000" y="3619500"/>
            <a:ext cx="4762500" cy="2667000"/>
          </a:xfrm>
          <a:prstGeom prst="roundRect">
            <a:avLst>
              <a:gd name="adj" fmla="val 4286"/>
            </a:avLst>
          </a:prstGeom>
          <a:solidFill>
            <a:srgbClr val="1E293B"/>
          </a:solidFill>
          <a:ln w="9525">
            <a:solidFill>
              <a:srgbClr val="334155"/>
            </a:solidFill>
          </a:ln>
        </p:spPr>
      </p:sp>
      <p:sp>
        <p:nvSpPr>
          <p:cNvPr id="18" name="TextBox 18"/>
          <p:cNvSpPr txBox="1"/>
          <p:nvPr/>
        </p:nvSpPr>
        <p:spPr>
          <a:xfrm>
            <a:off x="7126605" y="3807142"/>
            <a:ext cx="790384"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训练配置</a:t>
            </a:r>
          </a:p>
        </p:txBody>
      </p:sp>
      <p:sp>
        <p:nvSpPr>
          <p:cNvPr id="19" name="TextBox 19"/>
          <p:cNvSpPr txBox="1"/>
          <p:nvPr/>
        </p:nvSpPr>
        <p:spPr>
          <a:xfrm>
            <a:off x="7130415" y="4172902"/>
            <a:ext cx="1083802"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框架: </a:t>
            </a:r>
            <a:r>
              <a:rPr lang="zh-CN" sz="1050" b="1" dirty="0">
                <a:solidFill>
                  <a:srgbClr val="CBD5E1"/>
                </a:solidFill>
                <a:latin typeface="Arial"/>
                <a:ea typeface="Microsoft YaHei"/>
                <a:cs typeface="Arial"/>
              </a:rPr>
              <a:t>PyTorch</a:t>
            </a:r>
          </a:p>
        </p:txBody>
      </p:sp>
      <p:sp>
        <p:nvSpPr>
          <p:cNvPr id="20" name="TextBox 20"/>
          <p:cNvSpPr txBox="1"/>
          <p:nvPr/>
        </p:nvSpPr>
        <p:spPr>
          <a:xfrm>
            <a:off x="7130415" y="4411028"/>
            <a:ext cx="205692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损失函数: </a:t>
            </a:r>
            <a:r>
              <a:rPr lang="zh-CN" sz="1050" b="1" dirty="0">
                <a:solidFill>
                  <a:srgbClr val="CBD5E1"/>
                </a:solidFill>
                <a:latin typeface="Arial"/>
                <a:ea typeface="Microsoft YaHei"/>
                <a:cs typeface="Arial"/>
              </a:rPr>
              <a:t>CrossEntropyLoss</a:t>
            </a:r>
          </a:p>
        </p:txBody>
      </p:sp>
      <p:sp>
        <p:nvSpPr>
          <p:cNvPr id="21" name="TextBox 21"/>
          <p:cNvSpPr txBox="1"/>
          <p:nvPr/>
        </p:nvSpPr>
        <p:spPr>
          <a:xfrm>
            <a:off x="7130415" y="4649152"/>
            <a:ext cx="176288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优化器: </a:t>
            </a:r>
            <a:r>
              <a:rPr lang="zh-CN" sz="1050" b="1" dirty="0">
                <a:solidFill>
                  <a:srgbClr val="CBD5E1"/>
                </a:solidFill>
                <a:latin typeface="Arial"/>
                <a:ea typeface="Microsoft YaHei"/>
                <a:cs typeface="Arial"/>
              </a:rPr>
              <a:t>Adam</a:t>
            </a:r>
            <a:r>
              <a:rPr lang="zh-CN" sz="1050" dirty="0">
                <a:solidFill>
                  <a:srgbClr val="CBD5E1"/>
                </a:solidFill>
                <a:latin typeface="Arial"/>
                <a:ea typeface="Microsoft YaHei"/>
                <a:cs typeface="Arial"/>
              </a:rPr>
              <a:t> (lr=0.001)</a:t>
            </a:r>
          </a:p>
        </p:txBody>
      </p:sp>
      <p:sp>
        <p:nvSpPr>
          <p:cNvPr id="22" name="TextBox 22"/>
          <p:cNvSpPr txBox="1"/>
          <p:nvPr/>
        </p:nvSpPr>
        <p:spPr>
          <a:xfrm>
            <a:off x="7130415" y="4887278"/>
            <a:ext cx="1447848"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训练轮次: </a:t>
            </a:r>
            <a:r>
              <a:rPr lang="zh-CN" sz="1050" b="1" dirty="0">
                <a:solidFill>
                  <a:srgbClr val="818CF8"/>
                </a:solidFill>
                <a:latin typeface="Arial"/>
                <a:ea typeface="Microsoft YaHei"/>
                <a:cs typeface="Arial"/>
              </a:rPr>
              <a:t>10 epochs</a:t>
            </a:r>
          </a:p>
        </p:txBody>
      </p:sp>
      <p:sp>
        <p:nvSpPr>
          <p:cNvPr id="23" name="TextBox 23"/>
          <p:cNvSpPr txBox="1"/>
          <p:nvPr/>
        </p:nvSpPr>
        <p:spPr>
          <a:xfrm>
            <a:off x="7130415" y="5125402"/>
            <a:ext cx="111880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Batch Size: </a:t>
            </a:r>
            <a:r>
              <a:rPr lang="zh-CN" sz="1050" b="1" dirty="0">
                <a:solidFill>
                  <a:srgbClr val="CBD5E1"/>
                </a:solidFill>
                <a:latin typeface="Arial"/>
                <a:ea typeface="Microsoft YaHei"/>
                <a:cs typeface="Arial"/>
              </a:rPr>
              <a:t>32</a:t>
            </a:r>
          </a:p>
        </p:txBody>
      </p:sp>
      <p:sp>
        <p:nvSpPr>
          <p:cNvPr id="24" name="TextBox 24"/>
          <p:cNvSpPr txBox="1"/>
          <p:nvPr/>
        </p:nvSpPr>
        <p:spPr>
          <a:xfrm>
            <a:off x="7130415" y="5411152"/>
            <a:ext cx="170688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训练集: </a:t>
            </a:r>
            <a:r>
              <a:rPr lang="zh-CN" sz="1050" b="1" dirty="0">
                <a:solidFill>
                  <a:srgbClr val="CBD5E1"/>
                </a:solidFill>
                <a:latin typeface="Arial"/>
                <a:ea typeface="Microsoft YaHei"/>
                <a:cs typeface="Arial"/>
              </a:rPr>
              <a:t>1600</a:t>
            </a:r>
            <a:r>
              <a:rPr lang="zh-CN" sz="1050" dirty="0">
                <a:solidFill>
                  <a:srgbClr val="CBD5E1"/>
                </a:solidFill>
                <a:latin typeface="Arial"/>
                <a:ea typeface="Microsoft YaHei"/>
                <a:cs typeface="Arial"/>
              </a:rPr>
              <a:t> 样本 (80%)</a:t>
            </a:r>
          </a:p>
        </p:txBody>
      </p:sp>
      <p:sp>
        <p:nvSpPr>
          <p:cNvPr id="25" name="TextBox 25"/>
          <p:cNvSpPr txBox="1"/>
          <p:nvPr/>
        </p:nvSpPr>
        <p:spPr>
          <a:xfrm>
            <a:off x="7130415" y="5649278"/>
            <a:ext cx="166487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测试集: </a:t>
            </a:r>
            <a:r>
              <a:rPr lang="zh-CN" sz="1050" b="1" dirty="0">
                <a:solidFill>
                  <a:srgbClr val="CBD5E1"/>
                </a:solidFill>
                <a:latin typeface="Arial"/>
                <a:ea typeface="Microsoft YaHei"/>
                <a:cs typeface="Arial"/>
              </a:rPr>
              <a:t>400</a:t>
            </a:r>
            <a:r>
              <a:rPr lang="zh-CN" sz="1050" dirty="0">
                <a:solidFill>
                  <a:srgbClr val="CBD5E1"/>
                </a:solidFill>
                <a:latin typeface="Arial"/>
                <a:ea typeface="Microsoft YaHei"/>
                <a:cs typeface="Arial"/>
              </a:rPr>
              <a:t> 样本 (20%)</a:t>
            </a:r>
          </a:p>
        </p:txBody>
      </p:sp>
      <p:sp>
        <p:nvSpPr>
          <p:cNvPr id="26" name="Rectangle 26"/>
          <p:cNvSpPr/>
          <p:nvPr/>
        </p:nvSpPr>
        <p:spPr>
          <a:xfrm>
            <a:off x="7143750" y="5953125"/>
            <a:ext cx="4095750" cy="238125"/>
          </a:xfrm>
          <a:prstGeom prst="roundRect">
            <a:avLst>
              <a:gd name="adj" fmla="val 24000"/>
            </a:avLst>
          </a:prstGeom>
          <a:solidFill>
            <a:srgbClr val="10B981"/>
          </a:solidFill>
          <a:ln>
            <a:noFill/>
          </a:ln>
        </p:spPr>
      </p:sp>
      <p:sp>
        <p:nvSpPr>
          <p:cNvPr id="27" name="TextBox 27"/>
          <p:cNvSpPr txBox="1"/>
          <p:nvPr/>
        </p:nvSpPr>
        <p:spPr>
          <a:xfrm>
            <a:off x="8418160" y="6009799"/>
            <a:ext cx="1546930"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最终训练准确率: 99.56%</a:t>
            </a:r>
          </a:p>
        </p:txBody>
      </p:sp>
      <p:sp>
        <p:nvSpPr>
          <p:cNvPr id="28" name="TextBox 28"/>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4718561"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模型评估 Model Evaluation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6096000" cy="5238750"/>
          </a:xfrm>
          <a:prstGeom prst="roundRect">
            <a:avLst>
              <a:gd name="adj" fmla="val 2182"/>
            </a:avLst>
          </a:prstGeom>
          <a:solidFill>
            <a:srgbClr val="1E293B"/>
          </a:solidFill>
          <a:ln w="9525">
            <a:solidFill>
              <a:srgbClr val="334155"/>
            </a:solidFill>
          </a:ln>
        </p:spPr>
      </p:sp>
      <p:pic>
        <p:nvPicPr>
          <p:cNvPr id="7" name="Image 7"/>
          <p:cNvPicPr>
            <a:picLocks noChangeAspect="1"/>
          </p:cNvPicPr>
          <p:nvPr/>
        </p:nvPicPr>
        <p:blipFill>
          <a:blip r:embed="rId2"/>
          <a:stretch>
            <a:fillRect/>
          </a:stretch>
        </p:blipFill>
        <p:spPr>
          <a:xfrm>
            <a:off x="762000" y="1645461"/>
            <a:ext cx="5715000" cy="4043328"/>
          </a:xfrm>
          <a:prstGeom prst="rect">
            <a:avLst/>
          </a:prstGeom>
        </p:spPr>
      </p:pic>
      <p:sp>
        <p:nvSpPr>
          <p:cNvPr id="8" name="Rectangle 8"/>
          <p:cNvSpPr/>
          <p:nvPr/>
        </p:nvSpPr>
        <p:spPr>
          <a:xfrm>
            <a:off x="6858000" y="1047750"/>
            <a:ext cx="4762500" cy="1714500"/>
          </a:xfrm>
          <a:prstGeom prst="roundRect">
            <a:avLst>
              <a:gd name="adj" fmla="val 6667"/>
            </a:avLst>
          </a:prstGeom>
          <a:solidFill>
            <a:srgbClr val="1E293B"/>
          </a:solidFill>
          <a:ln w="9525">
            <a:solidFill>
              <a:srgbClr val="334155"/>
            </a:solidFill>
          </a:ln>
        </p:spPr>
      </p:sp>
      <p:sp>
        <p:nvSpPr>
          <p:cNvPr id="9" name="TextBox 9"/>
          <p:cNvSpPr txBox="1"/>
          <p:nvPr/>
        </p:nvSpPr>
        <p:spPr>
          <a:xfrm>
            <a:off x="7124700" y="1219200"/>
            <a:ext cx="1508284"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测试集评估结果</a:t>
            </a:r>
          </a:p>
        </p:txBody>
      </p:sp>
      <p:sp>
        <p:nvSpPr>
          <p:cNvPr id="10" name="TextBox 10"/>
          <p:cNvSpPr txBox="1"/>
          <p:nvPr/>
        </p:nvSpPr>
        <p:spPr>
          <a:xfrm>
            <a:off x="7128510" y="1632585"/>
            <a:ext cx="91859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测试准确率:</a:t>
            </a:r>
          </a:p>
        </p:txBody>
      </p:sp>
      <p:sp>
        <p:nvSpPr>
          <p:cNvPr id="11" name="TextBox 11"/>
          <p:cNvSpPr txBox="1"/>
          <p:nvPr/>
        </p:nvSpPr>
        <p:spPr>
          <a:xfrm>
            <a:off x="8728710" y="1470660"/>
            <a:ext cx="1316136" cy="548640"/>
          </a:xfrm>
          <a:prstGeom prst="rect">
            <a:avLst/>
          </a:prstGeom>
          <a:noFill/>
          <a:ln>
            <a:noFill/>
          </a:ln>
        </p:spPr>
        <p:txBody>
          <a:bodyPr wrap="none" lIns="0" tIns="0" rIns="0" bIns="0" anchor="t" anchorCtr="0">
            <a:spAutoFit/>
          </a:bodyPr>
          <a:lstStyle/>
          <a:p>
            <a:pPr algn="l"/>
            <a:r>
              <a:rPr lang="zh-CN" sz="2700" b="1" dirty="0">
                <a:solidFill>
                  <a:srgbClr val="10B981"/>
                </a:solidFill>
                <a:latin typeface="Arial"/>
                <a:ea typeface="Microsoft YaHei"/>
                <a:cs typeface="Arial"/>
              </a:rPr>
              <a:t>99.50%</a:t>
            </a:r>
          </a:p>
        </p:txBody>
      </p:sp>
      <p:sp>
        <p:nvSpPr>
          <p:cNvPr id="12" name="TextBox 12"/>
          <p:cNvSpPr txBox="1"/>
          <p:nvPr/>
        </p:nvSpPr>
        <p:spPr>
          <a:xfrm>
            <a:off x="7128510" y="1965960"/>
            <a:ext cx="1518666"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正确预测: </a:t>
            </a:r>
            <a:r>
              <a:rPr lang="zh-CN" sz="1200" b="1" dirty="0">
                <a:solidFill>
                  <a:srgbClr val="CBD5E1"/>
                </a:solidFill>
                <a:latin typeface="Arial"/>
                <a:ea typeface="Microsoft YaHei"/>
                <a:cs typeface="Arial"/>
              </a:rPr>
              <a:t>398</a:t>
            </a:r>
            <a:r>
              <a:rPr lang="zh-CN" sz="1200" dirty="0">
                <a:solidFill>
                  <a:srgbClr val="CBD5E1"/>
                </a:solidFill>
                <a:latin typeface="Arial"/>
                <a:ea typeface="Microsoft YaHei"/>
                <a:cs typeface="Arial"/>
              </a:rPr>
              <a:t> / 400</a:t>
            </a:r>
          </a:p>
        </p:txBody>
      </p:sp>
      <p:sp>
        <p:nvSpPr>
          <p:cNvPr id="13" name="Rectangle 13"/>
          <p:cNvSpPr/>
          <p:nvPr/>
        </p:nvSpPr>
        <p:spPr>
          <a:xfrm>
            <a:off x="6858000" y="2952750"/>
            <a:ext cx="4762500" cy="3333750"/>
          </a:xfrm>
          <a:prstGeom prst="roundRect">
            <a:avLst>
              <a:gd name="adj" fmla="val 3429"/>
            </a:avLst>
          </a:prstGeom>
          <a:solidFill>
            <a:srgbClr val="1E293B"/>
          </a:solidFill>
          <a:ln w="9525">
            <a:solidFill>
              <a:srgbClr val="334155"/>
            </a:solidFill>
          </a:ln>
        </p:spPr>
      </p:sp>
      <p:sp>
        <p:nvSpPr>
          <p:cNvPr id="14" name="TextBox 14"/>
          <p:cNvSpPr txBox="1"/>
          <p:nvPr/>
        </p:nvSpPr>
        <p:spPr>
          <a:xfrm>
            <a:off x="7126605" y="3140392"/>
            <a:ext cx="1168432"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混淆矩阵分析</a:t>
            </a:r>
          </a:p>
        </p:txBody>
      </p:sp>
      <p:sp>
        <p:nvSpPr>
          <p:cNvPr id="15" name="Rectangle 15"/>
          <p:cNvSpPr/>
          <p:nvPr/>
        </p:nvSpPr>
        <p:spPr>
          <a:xfrm>
            <a:off x="7143750" y="3524250"/>
            <a:ext cx="2095500" cy="762000"/>
          </a:xfrm>
          <a:prstGeom prst="roundRect">
            <a:avLst>
              <a:gd name="adj" fmla="val 10000"/>
            </a:avLst>
          </a:prstGeom>
          <a:solidFill>
            <a:srgbClr val="0F172A"/>
          </a:solidFill>
          <a:ln w="19050">
            <a:solidFill>
              <a:srgbClr val="10B981"/>
            </a:solidFill>
          </a:ln>
        </p:spPr>
      </p:sp>
      <p:sp>
        <p:nvSpPr>
          <p:cNvPr id="16" name="TextBox 16"/>
          <p:cNvSpPr txBox="1"/>
          <p:nvPr/>
        </p:nvSpPr>
        <p:spPr>
          <a:xfrm>
            <a:off x="7674102" y="3696652"/>
            <a:ext cx="1034796"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a:ea typeface="Microsoft YaHei"/>
                <a:cs typeface="Arial"/>
              </a:rPr>
              <a:t>True Negatives</a:t>
            </a:r>
          </a:p>
        </p:txBody>
      </p:sp>
      <p:sp>
        <p:nvSpPr>
          <p:cNvPr id="17" name="TextBox 17"/>
          <p:cNvSpPr txBox="1"/>
          <p:nvPr/>
        </p:nvSpPr>
        <p:spPr>
          <a:xfrm>
            <a:off x="7877312" y="3887152"/>
            <a:ext cx="628377"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(AM→AM)</a:t>
            </a:r>
          </a:p>
        </p:txBody>
      </p:sp>
      <p:sp>
        <p:nvSpPr>
          <p:cNvPr id="18" name="TextBox 18"/>
          <p:cNvSpPr txBox="1"/>
          <p:nvPr/>
        </p:nvSpPr>
        <p:spPr>
          <a:xfrm>
            <a:off x="7959004" y="4011930"/>
            <a:ext cx="464991" cy="426720"/>
          </a:xfrm>
          <a:prstGeom prst="rect">
            <a:avLst/>
          </a:prstGeom>
          <a:noFill/>
          <a:ln>
            <a:noFill/>
          </a:ln>
        </p:spPr>
        <p:txBody>
          <a:bodyPr wrap="none" lIns="0" tIns="0" rIns="0" bIns="0" anchor="t" anchorCtr="0">
            <a:spAutoFit/>
          </a:bodyPr>
          <a:lstStyle/>
          <a:p>
            <a:pPr algn="ctr"/>
            <a:r>
              <a:rPr lang="zh-CN" sz="2100" b="1" dirty="0">
                <a:solidFill>
                  <a:srgbClr val="10B981"/>
                </a:solidFill>
                <a:latin typeface="Arial"/>
                <a:ea typeface="Microsoft YaHei"/>
                <a:cs typeface="Arial"/>
              </a:rPr>
              <a:t>201</a:t>
            </a:r>
          </a:p>
        </p:txBody>
      </p:sp>
      <p:sp>
        <p:nvSpPr>
          <p:cNvPr id="19" name="Rectangle 19"/>
          <p:cNvSpPr/>
          <p:nvPr/>
        </p:nvSpPr>
        <p:spPr>
          <a:xfrm>
            <a:off x="9429750" y="3524250"/>
            <a:ext cx="2095500" cy="762000"/>
          </a:xfrm>
          <a:prstGeom prst="roundRect">
            <a:avLst>
              <a:gd name="adj" fmla="val 10000"/>
            </a:avLst>
          </a:prstGeom>
          <a:solidFill>
            <a:srgbClr val="0F172A"/>
          </a:solidFill>
          <a:ln w="19050">
            <a:solidFill>
              <a:srgbClr val="EF4444"/>
            </a:solidFill>
          </a:ln>
        </p:spPr>
      </p:sp>
      <p:sp>
        <p:nvSpPr>
          <p:cNvPr id="20" name="TextBox 20"/>
          <p:cNvSpPr txBox="1"/>
          <p:nvPr/>
        </p:nvSpPr>
        <p:spPr>
          <a:xfrm>
            <a:off x="9956602" y="3696652"/>
            <a:ext cx="1041797"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a:ea typeface="Microsoft YaHei"/>
                <a:cs typeface="Arial"/>
              </a:rPr>
              <a:t>False Positives</a:t>
            </a:r>
          </a:p>
        </p:txBody>
      </p:sp>
      <p:sp>
        <p:nvSpPr>
          <p:cNvPr id="21" name="TextBox 21"/>
          <p:cNvSpPr txBox="1"/>
          <p:nvPr/>
        </p:nvSpPr>
        <p:spPr>
          <a:xfrm>
            <a:off x="10167318" y="3887152"/>
            <a:ext cx="620363"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(AM→FM)</a:t>
            </a:r>
          </a:p>
        </p:txBody>
      </p:sp>
      <p:sp>
        <p:nvSpPr>
          <p:cNvPr id="22" name="TextBox 22"/>
          <p:cNvSpPr txBox="1"/>
          <p:nvPr/>
        </p:nvSpPr>
        <p:spPr>
          <a:xfrm>
            <a:off x="10369970" y="4011930"/>
            <a:ext cx="215060" cy="426720"/>
          </a:xfrm>
          <a:prstGeom prst="rect">
            <a:avLst/>
          </a:prstGeom>
          <a:noFill/>
          <a:ln>
            <a:noFill/>
          </a:ln>
        </p:spPr>
        <p:txBody>
          <a:bodyPr wrap="none" lIns="0" tIns="0" rIns="0" bIns="0" anchor="t" anchorCtr="0">
            <a:spAutoFit/>
          </a:bodyPr>
          <a:lstStyle/>
          <a:p>
            <a:pPr algn="ctr"/>
            <a:r>
              <a:rPr lang="zh-CN" sz="2100" b="1" dirty="0">
                <a:solidFill>
                  <a:srgbClr val="F87171"/>
                </a:solidFill>
                <a:latin typeface="Arial"/>
                <a:ea typeface="Microsoft YaHei"/>
                <a:cs typeface="Arial"/>
              </a:rPr>
              <a:t>2</a:t>
            </a:r>
          </a:p>
        </p:txBody>
      </p:sp>
      <p:sp>
        <p:nvSpPr>
          <p:cNvPr id="23" name="Rectangle 23"/>
          <p:cNvSpPr/>
          <p:nvPr/>
        </p:nvSpPr>
        <p:spPr>
          <a:xfrm>
            <a:off x="7143750" y="4476750"/>
            <a:ext cx="2095500" cy="762000"/>
          </a:xfrm>
          <a:prstGeom prst="roundRect">
            <a:avLst>
              <a:gd name="adj" fmla="val 10000"/>
            </a:avLst>
          </a:prstGeom>
          <a:solidFill>
            <a:srgbClr val="0F172A"/>
          </a:solidFill>
          <a:ln w="19050">
            <a:solidFill>
              <a:srgbClr val="EF4444"/>
            </a:solidFill>
          </a:ln>
        </p:spPr>
      </p:sp>
      <p:sp>
        <p:nvSpPr>
          <p:cNvPr id="24" name="TextBox 24"/>
          <p:cNvSpPr txBox="1"/>
          <p:nvPr/>
        </p:nvSpPr>
        <p:spPr>
          <a:xfrm>
            <a:off x="7653099" y="4649152"/>
            <a:ext cx="1076801"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a:ea typeface="Microsoft YaHei"/>
                <a:cs typeface="Arial"/>
              </a:rPr>
              <a:t>False Negatives</a:t>
            </a:r>
          </a:p>
        </p:txBody>
      </p:sp>
      <p:sp>
        <p:nvSpPr>
          <p:cNvPr id="25" name="TextBox 25"/>
          <p:cNvSpPr txBox="1"/>
          <p:nvPr/>
        </p:nvSpPr>
        <p:spPr>
          <a:xfrm>
            <a:off x="7881318" y="4839652"/>
            <a:ext cx="620363"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(FM→AM)</a:t>
            </a:r>
          </a:p>
        </p:txBody>
      </p:sp>
      <p:sp>
        <p:nvSpPr>
          <p:cNvPr id="26" name="TextBox 26"/>
          <p:cNvSpPr txBox="1"/>
          <p:nvPr/>
        </p:nvSpPr>
        <p:spPr>
          <a:xfrm>
            <a:off x="8083970" y="4964430"/>
            <a:ext cx="215060" cy="426720"/>
          </a:xfrm>
          <a:prstGeom prst="rect">
            <a:avLst/>
          </a:prstGeom>
          <a:noFill/>
          <a:ln>
            <a:noFill/>
          </a:ln>
        </p:spPr>
        <p:txBody>
          <a:bodyPr wrap="none" lIns="0" tIns="0" rIns="0" bIns="0" anchor="t" anchorCtr="0">
            <a:spAutoFit/>
          </a:bodyPr>
          <a:lstStyle/>
          <a:p>
            <a:pPr algn="ctr"/>
            <a:r>
              <a:rPr lang="zh-CN" sz="2100" b="1" dirty="0">
                <a:solidFill>
                  <a:srgbClr val="F87171"/>
                </a:solidFill>
                <a:latin typeface="Arial"/>
                <a:ea typeface="Microsoft YaHei"/>
                <a:cs typeface="Arial"/>
              </a:rPr>
              <a:t>0</a:t>
            </a:r>
          </a:p>
        </p:txBody>
      </p:sp>
      <p:sp>
        <p:nvSpPr>
          <p:cNvPr id="27" name="Rectangle 27"/>
          <p:cNvSpPr/>
          <p:nvPr/>
        </p:nvSpPr>
        <p:spPr>
          <a:xfrm>
            <a:off x="9429750" y="4476750"/>
            <a:ext cx="2095500" cy="762000"/>
          </a:xfrm>
          <a:prstGeom prst="roundRect">
            <a:avLst>
              <a:gd name="adj" fmla="val 10000"/>
            </a:avLst>
          </a:prstGeom>
          <a:solidFill>
            <a:srgbClr val="0F172A"/>
          </a:solidFill>
          <a:ln w="19050">
            <a:solidFill>
              <a:srgbClr val="10B981"/>
            </a:solidFill>
          </a:ln>
        </p:spPr>
      </p:sp>
      <p:sp>
        <p:nvSpPr>
          <p:cNvPr id="28" name="TextBox 28"/>
          <p:cNvSpPr txBox="1"/>
          <p:nvPr/>
        </p:nvSpPr>
        <p:spPr>
          <a:xfrm>
            <a:off x="9977604" y="4649152"/>
            <a:ext cx="999792"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a:ea typeface="Microsoft YaHei"/>
                <a:cs typeface="Arial"/>
              </a:rPr>
              <a:t>True Positives</a:t>
            </a:r>
          </a:p>
        </p:txBody>
      </p:sp>
      <p:sp>
        <p:nvSpPr>
          <p:cNvPr id="29" name="TextBox 29"/>
          <p:cNvSpPr txBox="1"/>
          <p:nvPr/>
        </p:nvSpPr>
        <p:spPr>
          <a:xfrm>
            <a:off x="10171326" y="4839652"/>
            <a:ext cx="612347" cy="161583"/>
          </a:xfrm>
          <a:prstGeom prst="rect">
            <a:avLst/>
          </a:prstGeom>
          <a:noFill/>
          <a:ln>
            <a:noFill/>
          </a:ln>
        </p:spPr>
        <p:txBody>
          <a:bodyPr wrap="none" lIns="0" tIns="0" rIns="0" bIns="0" anchor="t" anchorCtr="0">
            <a:spAutoFit/>
          </a:bodyPr>
          <a:lstStyle/>
          <a:p>
            <a:pPr algn="ctr"/>
            <a:r>
              <a:rPr lang="zh-CN" sz="1050" dirty="0">
                <a:solidFill>
                  <a:schemeClr val="bg1">
                    <a:lumMod val="65000"/>
                  </a:schemeClr>
                </a:solidFill>
                <a:latin typeface="Arial"/>
                <a:ea typeface="Microsoft YaHei"/>
                <a:cs typeface="Arial"/>
              </a:rPr>
              <a:t>(FM→FM)</a:t>
            </a:r>
          </a:p>
        </p:txBody>
      </p:sp>
      <p:sp>
        <p:nvSpPr>
          <p:cNvPr id="30" name="TextBox 30"/>
          <p:cNvSpPr txBox="1"/>
          <p:nvPr/>
        </p:nvSpPr>
        <p:spPr>
          <a:xfrm>
            <a:off x="10245004" y="4964430"/>
            <a:ext cx="464991" cy="426720"/>
          </a:xfrm>
          <a:prstGeom prst="rect">
            <a:avLst/>
          </a:prstGeom>
          <a:noFill/>
          <a:ln>
            <a:noFill/>
          </a:ln>
        </p:spPr>
        <p:txBody>
          <a:bodyPr wrap="none" lIns="0" tIns="0" rIns="0" bIns="0" anchor="t" anchorCtr="0">
            <a:spAutoFit/>
          </a:bodyPr>
          <a:lstStyle/>
          <a:p>
            <a:pPr algn="ctr"/>
            <a:r>
              <a:rPr lang="zh-CN" sz="2100" b="1" dirty="0">
                <a:solidFill>
                  <a:srgbClr val="10B981"/>
                </a:solidFill>
                <a:latin typeface="Arial"/>
                <a:ea typeface="Microsoft YaHei"/>
                <a:cs typeface="Arial"/>
              </a:rPr>
              <a:t>197</a:t>
            </a:r>
          </a:p>
        </p:txBody>
      </p:sp>
      <p:sp>
        <p:nvSpPr>
          <p:cNvPr id="31" name="TextBox 31"/>
          <p:cNvSpPr txBox="1"/>
          <p:nvPr/>
        </p:nvSpPr>
        <p:spPr>
          <a:xfrm>
            <a:off x="7130415" y="5411152"/>
            <a:ext cx="94378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混淆矩阵原理:</a:t>
            </a:r>
          </a:p>
        </p:txBody>
      </p:sp>
      <p:sp>
        <p:nvSpPr>
          <p:cNvPr id="32" name="TextBox 32"/>
          <p:cNvSpPr txBox="1"/>
          <p:nvPr/>
        </p:nvSpPr>
        <p:spPr>
          <a:xfrm>
            <a:off x="7131368" y="5657374"/>
            <a:ext cx="3020058"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CNN通过多层特征提取，将频谱图映射至高维特征空间</a:t>
            </a:r>
          </a:p>
        </p:txBody>
      </p:sp>
      <p:sp>
        <p:nvSpPr>
          <p:cNvPr id="33" name="TextBox 33"/>
          <p:cNvSpPr txBox="1"/>
          <p:nvPr/>
        </p:nvSpPr>
        <p:spPr>
          <a:xfrm>
            <a:off x="7131368" y="5847874"/>
            <a:ext cx="3869649" cy="150041"/>
          </a:xfrm>
          <a:prstGeom prst="rect">
            <a:avLst/>
          </a:prstGeom>
          <a:noFill/>
          <a:ln>
            <a:noFill/>
          </a:ln>
        </p:spPr>
        <p:txBody>
          <a:bodyPr wrap="none" lIns="0" tIns="0" rIns="0" bIns="0" anchor="t" anchorCtr="0">
            <a:spAutoFit/>
          </a:bodyPr>
          <a:lstStyle/>
          <a:p>
            <a:pPr algn="l"/>
            <a:r>
              <a:rPr lang="zh-CN" sz="975" dirty="0">
                <a:solidFill>
                  <a:schemeClr val="bg1">
                    <a:lumMod val="65000"/>
                  </a:schemeClr>
                </a:solidFill>
                <a:latin typeface="Arial"/>
                <a:ea typeface="Microsoft YaHei"/>
                <a:cs typeface="Arial"/>
              </a:rPr>
              <a:t>AM和FM信号形成相互分离的特征簇，对角线数值越高，分类效果越好</a:t>
            </a:r>
          </a:p>
        </p:txBody>
      </p:sp>
      <p:sp>
        <p:nvSpPr>
          <p:cNvPr id="34" name="TextBox 34"/>
          <p:cNvSpPr txBox="1"/>
          <p:nvPr/>
        </p:nvSpPr>
        <p:spPr>
          <a:xfrm>
            <a:off x="560070" y="6379845"/>
            <a:ext cx="160877"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6268555"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SNR性能分析 Performance Analysis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7239000" cy="5238750"/>
          </a:xfrm>
          <a:prstGeom prst="roundRect">
            <a:avLst>
              <a:gd name="adj" fmla="val 2182"/>
            </a:avLst>
          </a:prstGeom>
          <a:solidFill>
            <a:srgbClr val="1E293B"/>
          </a:solidFill>
          <a:ln w="9525">
            <a:solidFill>
              <a:srgbClr val="334155"/>
            </a:solidFill>
          </a:ln>
        </p:spPr>
      </p:sp>
      <p:pic>
        <p:nvPicPr>
          <p:cNvPr id="7" name="Image 7"/>
          <p:cNvPicPr>
            <a:picLocks noChangeAspect="1"/>
          </p:cNvPicPr>
          <p:nvPr/>
        </p:nvPicPr>
        <p:blipFill>
          <a:blip r:embed="rId2"/>
          <a:stretch>
            <a:fillRect/>
          </a:stretch>
        </p:blipFill>
        <p:spPr>
          <a:xfrm>
            <a:off x="780239" y="1238250"/>
            <a:ext cx="6821521" cy="4857750"/>
          </a:xfrm>
          <a:prstGeom prst="rect">
            <a:avLst/>
          </a:prstGeom>
        </p:spPr>
      </p:pic>
      <p:sp>
        <p:nvSpPr>
          <p:cNvPr id="8" name="Rectangle 8"/>
          <p:cNvSpPr/>
          <p:nvPr/>
        </p:nvSpPr>
        <p:spPr>
          <a:xfrm>
            <a:off x="8001000" y="1047750"/>
            <a:ext cx="3619500" cy="5238750"/>
          </a:xfrm>
          <a:prstGeom prst="roundRect">
            <a:avLst>
              <a:gd name="adj" fmla="val 3158"/>
            </a:avLst>
          </a:prstGeom>
          <a:solidFill>
            <a:srgbClr val="1E293B"/>
          </a:solidFill>
          <a:ln w="9525">
            <a:solidFill>
              <a:srgbClr val="334155"/>
            </a:solidFill>
          </a:ln>
        </p:spPr>
      </p:sp>
      <p:sp>
        <p:nvSpPr>
          <p:cNvPr id="9" name="TextBox 9"/>
          <p:cNvSpPr txBox="1"/>
          <p:nvPr/>
        </p:nvSpPr>
        <p:spPr>
          <a:xfrm>
            <a:off x="8269605" y="1235392"/>
            <a:ext cx="1669344"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不同SNR下的准确率</a:t>
            </a:r>
          </a:p>
        </p:txBody>
      </p:sp>
      <p:grpSp>
        <p:nvGrpSpPr>
          <p:cNvPr id="13" name="Group 13"/>
          <p:cNvGrpSpPr/>
          <p:nvPr/>
        </p:nvGrpSpPr>
        <p:grpSpPr>
          <a:xfrm>
            <a:off x="8286750" y="1666875"/>
            <a:ext cx="3048000" cy="381000"/>
            <a:chOff x="8286750" y="1666875"/>
            <a:chExt cx="3048000" cy="381000"/>
          </a:xfrm>
        </p:grpSpPr>
        <p:sp>
          <p:nvSpPr>
            <p:cNvPr id="10" name="Rectangle 10"/>
            <p:cNvSpPr/>
            <p:nvPr/>
          </p:nvSpPr>
          <p:spPr>
            <a:xfrm>
              <a:off x="8286750" y="1666875"/>
              <a:ext cx="3048000" cy="381000"/>
            </a:xfrm>
            <a:prstGeom prst="roundRect">
              <a:avLst>
                <a:gd name="adj" fmla="val 15000"/>
              </a:avLst>
            </a:prstGeom>
            <a:solidFill>
              <a:srgbClr val="0F172A"/>
            </a:solidFill>
            <a:ln w="9525">
              <a:solidFill>
                <a:srgbClr val="334155"/>
              </a:solidFill>
            </a:ln>
          </p:spPr>
        </p:sp>
        <p:sp>
          <p:nvSpPr>
            <p:cNvPr id="11" name="TextBox 11"/>
            <p:cNvSpPr txBox="1"/>
            <p:nvPr/>
          </p:nvSpPr>
          <p:spPr>
            <a:xfrm>
              <a:off x="8416290" y="1791652"/>
              <a:ext cx="72936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0 dB</a:t>
              </a:r>
            </a:p>
          </p:txBody>
        </p:sp>
        <p:sp>
          <p:nvSpPr>
            <p:cNvPr id="12" name="TextBox 12"/>
            <p:cNvSpPr txBox="1"/>
            <p:nvPr/>
          </p:nvSpPr>
          <p:spPr>
            <a:xfrm>
              <a:off x="10367010" y="1775460"/>
              <a:ext cx="584949" cy="243840"/>
            </a:xfrm>
            <a:prstGeom prst="rect">
              <a:avLst/>
            </a:prstGeom>
            <a:noFill/>
            <a:ln>
              <a:noFill/>
            </a:ln>
          </p:spPr>
          <p:txBody>
            <a:bodyPr wrap="none" lIns="0" tIns="0" rIns="0" bIns="0" anchor="t" anchorCtr="0">
              <a:spAutoFit/>
            </a:bodyPr>
            <a:lstStyle/>
            <a:p>
              <a:pPr algn="l"/>
              <a:r>
                <a:rPr lang="zh-CN" sz="1200" b="1" dirty="0">
                  <a:gradFill>
                    <a:gsLst>
                      <a:gs pos="0">
                        <a:srgbClr val="2563EB"/>
                      </a:gs>
                      <a:gs pos="100000">
                        <a:srgbClr val="8B5CF6"/>
                      </a:gs>
                    </a:gsLst>
                    <a:lin ang="0" scaled="1"/>
                  </a:gradFill>
                  <a:latin typeface="Arial"/>
                  <a:ea typeface="Microsoft YaHei"/>
                  <a:cs typeface="Arial"/>
                </a:rPr>
                <a:t>94.25%</a:t>
              </a:r>
            </a:p>
          </p:txBody>
        </p:sp>
      </p:grpSp>
      <p:grpSp>
        <p:nvGrpSpPr>
          <p:cNvPr id="17" name="Group 17"/>
          <p:cNvGrpSpPr/>
          <p:nvPr/>
        </p:nvGrpSpPr>
        <p:grpSpPr>
          <a:xfrm>
            <a:off x="8286750" y="2143125"/>
            <a:ext cx="3048000" cy="381000"/>
            <a:chOff x="8286750" y="2143125"/>
            <a:chExt cx="3048000" cy="381000"/>
          </a:xfrm>
        </p:grpSpPr>
        <p:sp>
          <p:nvSpPr>
            <p:cNvPr id="14" name="Rectangle 14"/>
            <p:cNvSpPr/>
            <p:nvPr/>
          </p:nvSpPr>
          <p:spPr>
            <a:xfrm>
              <a:off x="8286750" y="2143125"/>
              <a:ext cx="3048000" cy="381000"/>
            </a:xfrm>
            <a:prstGeom prst="roundRect">
              <a:avLst>
                <a:gd name="adj" fmla="val 15000"/>
              </a:avLst>
            </a:prstGeom>
            <a:solidFill>
              <a:srgbClr val="0F172A"/>
            </a:solidFill>
            <a:ln w="9525">
              <a:solidFill>
                <a:srgbClr val="334155"/>
              </a:solidFill>
            </a:ln>
          </p:spPr>
        </p:sp>
        <p:sp>
          <p:nvSpPr>
            <p:cNvPr id="15" name="TextBox 15"/>
            <p:cNvSpPr txBox="1"/>
            <p:nvPr/>
          </p:nvSpPr>
          <p:spPr>
            <a:xfrm>
              <a:off x="8416290" y="2267902"/>
              <a:ext cx="72936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5 dB</a:t>
              </a:r>
            </a:p>
          </p:txBody>
        </p:sp>
        <p:sp>
          <p:nvSpPr>
            <p:cNvPr id="16" name="TextBox 16"/>
            <p:cNvSpPr txBox="1"/>
            <p:nvPr/>
          </p:nvSpPr>
          <p:spPr>
            <a:xfrm>
              <a:off x="10367010" y="2251710"/>
              <a:ext cx="584949" cy="243840"/>
            </a:xfrm>
            <a:prstGeom prst="rect">
              <a:avLst/>
            </a:prstGeom>
            <a:noFill/>
            <a:ln>
              <a:noFill/>
            </a:ln>
          </p:spPr>
          <p:txBody>
            <a:bodyPr wrap="none" lIns="0" tIns="0" rIns="0" bIns="0" anchor="t" anchorCtr="0">
              <a:spAutoFit/>
            </a:bodyPr>
            <a:lstStyle/>
            <a:p>
              <a:pPr algn="l"/>
              <a:r>
                <a:rPr lang="zh-CN" sz="1200" b="1" dirty="0">
                  <a:gradFill>
                    <a:gsLst>
                      <a:gs pos="0">
                        <a:srgbClr val="2563EB"/>
                      </a:gs>
                      <a:gs pos="100000">
                        <a:srgbClr val="8B5CF6"/>
                      </a:gs>
                    </a:gsLst>
                    <a:lin ang="0" scaled="1"/>
                  </a:gradFill>
                  <a:latin typeface="Arial"/>
                  <a:ea typeface="Microsoft YaHei"/>
                  <a:cs typeface="Arial"/>
                </a:rPr>
                <a:t>99.00%</a:t>
              </a:r>
            </a:p>
          </p:txBody>
        </p:sp>
      </p:grpSp>
      <p:grpSp>
        <p:nvGrpSpPr>
          <p:cNvPr id="21" name="Group 21"/>
          <p:cNvGrpSpPr/>
          <p:nvPr/>
        </p:nvGrpSpPr>
        <p:grpSpPr>
          <a:xfrm>
            <a:off x="8286750" y="2619375"/>
            <a:ext cx="3048000" cy="381000"/>
            <a:chOff x="8286750" y="2619375"/>
            <a:chExt cx="3048000" cy="381000"/>
          </a:xfrm>
        </p:grpSpPr>
        <p:sp>
          <p:nvSpPr>
            <p:cNvPr id="18" name="Rectangle 18"/>
            <p:cNvSpPr/>
            <p:nvPr/>
          </p:nvSpPr>
          <p:spPr>
            <a:xfrm>
              <a:off x="8286750" y="2619375"/>
              <a:ext cx="3048000" cy="381000"/>
            </a:xfrm>
            <a:prstGeom prst="roundRect">
              <a:avLst>
                <a:gd name="adj" fmla="val 15000"/>
              </a:avLst>
            </a:prstGeom>
            <a:solidFill>
              <a:srgbClr val="0F172A"/>
            </a:solidFill>
            <a:ln w="9525">
              <a:solidFill>
                <a:srgbClr val="334155"/>
              </a:solidFill>
            </a:ln>
          </p:spPr>
        </p:sp>
        <p:sp>
          <p:nvSpPr>
            <p:cNvPr id="19" name="TextBox 19"/>
            <p:cNvSpPr txBox="1"/>
            <p:nvPr/>
          </p:nvSpPr>
          <p:spPr>
            <a:xfrm>
              <a:off x="8416290" y="2744152"/>
              <a:ext cx="80470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10 dB</a:t>
              </a:r>
            </a:p>
          </p:txBody>
        </p:sp>
        <p:sp>
          <p:nvSpPr>
            <p:cNvPr id="20" name="TextBox 20"/>
            <p:cNvSpPr txBox="1"/>
            <p:nvPr/>
          </p:nvSpPr>
          <p:spPr>
            <a:xfrm>
              <a:off x="10367010" y="2727960"/>
              <a:ext cx="584949"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99.75%</a:t>
              </a:r>
            </a:p>
          </p:txBody>
        </p:sp>
      </p:grpSp>
      <p:grpSp>
        <p:nvGrpSpPr>
          <p:cNvPr id="25" name="Group 25"/>
          <p:cNvGrpSpPr/>
          <p:nvPr/>
        </p:nvGrpSpPr>
        <p:grpSpPr>
          <a:xfrm>
            <a:off x="8286750" y="3095625"/>
            <a:ext cx="3048000" cy="381000"/>
            <a:chOff x="8286750" y="3095625"/>
            <a:chExt cx="3048000" cy="381000"/>
          </a:xfrm>
        </p:grpSpPr>
        <p:sp>
          <p:nvSpPr>
            <p:cNvPr id="22" name="Rectangle 22"/>
            <p:cNvSpPr/>
            <p:nvPr/>
          </p:nvSpPr>
          <p:spPr>
            <a:xfrm>
              <a:off x="8286750" y="3095625"/>
              <a:ext cx="3048000" cy="381000"/>
            </a:xfrm>
            <a:prstGeom prst="roundRect">
              <a:avLst>
                <a:gd name="adj" fmla="val 15000"/>
              </a:avLst>
            </a:prstGeom>
            <a:solidFill>
              <a:srgbClr val="0F172A"/>
            </a:solidFill>
            <a:ln w="9525">
              <a:solidFill>
                <a:srgbClr val="334155"/>
              </a:solidFill>
            </a:ln>
          </p:spPr>
        </p:sp>
        <p:sp>
          <p:nvSpPr>
            <p:cNvPr id="23" name="TextBox 23"/>
            <p:cNvSpPr txBox="1"/>
            <p:nvPr/>
          </p:nvSpPr>
          <p:spPr>
            <a:xfrm>
              <a:off x="8416290" y="3220402"/>
              <a:ext cx="80470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15 dB</a:t>
              </a:r>
            </a:p>
          </p:txBody>
        </p:sp>
        <p:sp>
          <p:nvSpPr>
            <p:cNvPr id="24" name="TextBox 24"/>
            <p:cNvSpPr txBox="1"/>
            <p:nvPr/>
          </p:nvSpPr>
          <p:spPr>
            <a:xfrm>
              <a:off x="10367010" y="3204210"/>
              <a:ext cx="584949"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99.75%</a:t>
              </a:r>
            </a:p>
          </p:txBody>
        </p:sp>
      </p:grpSp>
      <p:grpSp>
        <p:nvGrpSpPr>
          <p:cNvPr id="29" name="Group 29"/>
          <p:cNvGrpSpPr/>
          <p:nvPr/>
        </p:nvGrpSpPr>
        <p:grpSpPr>
          <a:xfrm>
            <a:off x="8286750" y="3571875"/>
            <a:ext cx="3048000" cy="381000"/>
            <a:chOff x="8286750" y="3571875"/>
            <a:chExt cx="3048000" cy="381000"/>
          </a:xfrm>
        </p:grpSpPr>
        <p:sp>
          <p:nvSpPr>
            <p:cNvPr id="26" name="Rectangle 26"/>
            <p:cNvSpPr/>
            <p:nvPr/>
          </p:nvSpPr>
          <p:spPr>
            <a:xfrm>
              <a:off x="8286750" y="3571875"/>
              <a:ext cx="3048000" cy="381000"/>
            </a:xfrm>
            <a:prstGeom prst="roundRect">
              <a:avLst>
                <a:gd name="adj" fmla="val 15000"/>
              </a:avLst>
            </a:prstGeom>
            <a:solidFill>
              <a:srgbClr val="0F172A"/>
            </a:solidFill>
            <a:ln w="9525">
              <a:solidFill>
                <a:srgbClr val="334155"/>
              </a:solidFill>
            </a:ln>
          </p:spPr>
        </p:sp>
        <p:sp>
          <p:nvSpPr>
            <p:cNvPr id="27" name="TextBox 27"/>
            <p:cNvSpPr txBox="1"/>
            <p:nvPr/>
          </p:nvSpPr>
          <p:spPr>
            <a:xfrm>
              <a:off x="8416290" y="3696652"/>
              <a:ext cx="80470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20 dB</a:t>
              </a:r>
            </a:p>
          </p:txBody>
        </p:sp>
        <p:sp>
          <p:nvSpPr>
            <p:cNvPr id="28" name="TextBox 28"/>
            <p:cNvSpPr txBox="1"/>
            <p:nvPr/>
          </p:nvSpPr>
          <p:spPr>
            <a:xfrm>
              <a:off x="10367010" y="3680460"/>
              <a:ext cx="584949"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99.75%</a:t>
              </a:r>
            </a:p>
          </p:txBody>
        </p:sp>
      </p:grpSp>
      <p:grpSp>
        <p:nvGrpSpPr>
          <p:cNvPr id="33" name="Group 33"/>
          <p:cNvGrpSpPr/>
          <p:nvPr/>
        </p:nvGrpSpPr>
        <p:grpSpPr>
          <a:xfrm>
            <a:off x="8286750" y="4048125"/>
            <a:ext cx="3048000" cy="381000"/>
            <a:chOff x="8286750" y="4048125"/>
            <a:chExt cx="3048000" cy="381000"/>
          </a:xfrm>
        </p:grpSpPr>
        <p:sp>
          <p:nvSpPr>
            <p:cNvPr id="30" name="Rectangle 30"/>
            <p:cNvSpPr/>
            <p:nvPr/>
          </p:nvSpPr>
          <p:spPr>
            <a:xfrm>
              <a:off x="8286750" y="4048125"/>
              <a:ext cx="3048000" cy="381000"/>
            </a:xfrm>
            <a:prstGeom prst="roundRect">
              <a:avLst>
                <a:gd name="adj" fmla="val 15000"/>
              </a:avLst>
            </a:prstGeom>
            <a:solidFill>
              <a:srgbClr val="0F172A"/>
            </a:solidFill>
            <a:ln w="9525">
              <a:solidFill>
                <a:srgbClr val="334155"/>
              </a:solidFill>
            </a:ln>
          </p:spPr>
        </p:sp>
        <p:sp>
          <p:nvSpPr>
            <p:cNvPr id="31" name="TextBox 31"/>
            <p:cNvSpPr txBox="1"/>
            <p:nvPr/>
          </p:nvSpPr>
          <p:spPr>
            <a:xfrm>
              <a:off x="8416290" y="4172902"/>
              <a:ext cx="80470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25 dB</a:t>
              </a:r>
            </a:p>
          </p:txBody>
        </p:sp>
        <p:sp>
          <p:nvSpPr>
            <p:cNvPr id="32" name="TextBox 32"/>
            <p:cNvSpPr txBox="1"/>
            <p:nvPr/>
          </p:nvSpPr>
          <p:spPr>
            <a:xfrm>
              <a:off x="10367010" y="4156710"/>
              <a:ext cx="635356"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100.00%</a:t>
              </a:r>
            </a:p>
          </p:txBody>
        </p:sp>
      </p:grpSp>
      <p:grpSp>
        <p:nvGrpSpPr>
          <p:cNvPr id="37" name="Group 37"/>
          <p:cNvGrpSpPr/>
          <p:nvPr/>
        </p:nvGrpSpPr>
        <p:grpSpPr>
          <a:xfrm>
            <a:off x="8286750" y="4524375"/>
            <a:ext cx="3048000" cy="381000"/>
            <a:chOff x="8286750" y="4524375"/>
            <a:chExt cx="3048000" cy="381000"/>
          </a:xfrm>
        </p:grpSpPr>
        <p:sp>
          <p:nvSpPr>
            <p:cNvPr id="34" name="Rectangle 34"/>
            <p:cNvSpPr/>
            <p:nvPr/>
          </p:nvSpPr>
          <p:spPr>
            <a:xfrm>
              <a:off x="8286750" y="4524375"/>
              <a:ext cx="3048000" cy="381000"/>
            </a:xfrm>
            <a:prstGeom prst="roundRect">
              <a:avLst>
                <a:gd name="adj" fmla="val 15000"/>
              </a:avLst>
            </a:prstGeom>
            <a:solidFill>
              <a:srgbClr val="0F172A"/>
            </a:solidFill>
            <a:ln w="9525">
              <a:solidFill>
                <a:srgbClr val="334155"/>
              </a:solidFill>
            </a:ln>
          </p:spPr>
        </p:sp>
        <p:sp>
          <p:nvSpPr>
            <p:cNvPr id="35" name="TextBox 35"/>
            <p:cNvSpPr txBox="1"/>
            <p:nvPr/>
          </p:nvSpPr>
          <p:spPr>
            <a:xfrm>
              <a:off x="8416290" y="4649152"/>
              <a:ext cx="804707" cy="161583"/>
            </a:xfrm>
            <a:prstGeom prst="rect">
              <a:avLst/>
            </a:prstGeom>
            <a:noFill/>
            <a:ln>
              <a:noFill/>
            </a:ln>
          </p:spPr>
          <p:txBody>
            <a:bodyPr wrap="none" lIns="0" tIns="0" rIns="0" bIns="0" anchor="t" anchorCtr="0">
              <a:spAutoFit/>
            </a:bodyPr>
            <a:lstStyle/>
            <a:p>
              <a:pPr algn="l"/>
              <a:r>
                <a:rPr lang="zh-CN" sz="1050" b="1" dirty="0">
                  <a:solidFill>
                    <a:schemeClr val="bg1">
                      <a:lumMod val="65000"/>
                    </a:schemeClr>
                  </a:solidFill>
                  <a:latin typeface="Arial"/>
                  <a:ea typeface="Microsoft YaHei"/>
                  <a:cs typeface="Arial"/>
                </a:rPr>
                <a:t>SNR = 30 dB</a:t>
              </a:r>
            </a:p>
          </p:txBody>
        </p:sp>
        <p:sp>
          <p:nvSpPr>
            <p:cNvPr id="36" name="TextBox 36"/>
            <p:cNvSpPr txBox="1"/>
            <p:nvPr/>
          </p:nvSpPr>
          <p:spPr>
            <a:xfrm>
              <a:off x="10367010" y="4632960"/>
              <a:ext cx="584949" cy="243840"/>
            </a:xfrm>
            <a:prstGeom prst="rect">
              <a:avLst/>
            </a:prstGeom>
            <a:noFill/>
            <a:ln>
              <a:noFill/>
            </a:ln>
          </p:spPr>
          <p:txBody>
            <a:bodyPr wrap="none" lIns="0" tIns="0" rIns="0" bIns="0" anchor="t" anchorCtr="0">
              <a:spAutoFit/>
            </a:bodyPr>
            <a:lstStyle/>
            <a:p>
              <a:pPr algn="l"/>
              <a:r>
                <a:rPr lang="zh-CN" sz="1200" b="1" dirty="0">
                  <a:solidFill>
                    <a:srgbClr val="818CF8"/>
                  </a:solidFill>
                  <a:latin typeface="Arial"/>
                  <a:ea typeface="Microsoft YaHei"/>
                  <a:cs typeface="Arial"/>
                </a:rPr>
                <a:t>99.25%</a:t>
              </a:r>
            </a:p>
          </p:txBody>
        </p:sp>
      </p:grpSp>
      <p:sp>
        <p:nvSpPr>
          <p:cNvPr id="38" name="Rectangle 38"/>
          <p:cNvSpPr/>
          <p:nvPr/>
        </p:nvSpPr>
        <p:spPr>
          <a:xfrm>
            <a:off x="8286750" y="5143500"/>
            <a:ext cx="3048000" cy="952500"/>
          </a:xfrm>
          <a:prstGeom prst="roundRect">
            <a:avLst>
              <a:gd name="adj" fmla="val 8000"/>
            </a:avLst>
          </a:prstGeom>
          <a:solidFill>
            <a:srgbClr val="10B981"/>
          </a:solidFill>
          <a:ln>
            <a:noFill/>
          </a:ln>
        </p:spPr>
      </p:sp>
      <p:sp>
        <p:nvSpPr>
          <p:cNvPr id="39" name="TextBox 39"/>
          <p:cNvSpPr txBox="1"/>
          <p:nvPr/>
        </p:nvSpPr>
        <p:spPr>
          <a:xfrm>
            <a:off x="9527881" y="5315902"/>
            <a:ext cx="565737" cy="213360"/>
          </a:xfrm>
          <a:prstGeom prst="rect">
            <a:avLst/>
          </a:prstGeom>
          <a:noFill/>
          <a:ln>
            <a:noFill/>
          </a:ln>
        </p:spPr>
        <p:txBody>
          <a:bodyPr wrap="none" lIns="0" tIns="0" rIns="0" bIns="0" anchor="t" anchorCtr="0">
            <a:spAutoFit/>
          </a:bodyPr>
          <a:lstStyle/>
          <a:p>
            <a:pPr algn="ctr"/>
            <a:r>
              <a:rPr lang="zh-CN" sz="1050" dirty="0">
                <a:solidFill>
                  <a:srgbClr val="0F172A"/>
                </a:solidFill>
                <a:latin typeface="Arial"/>
                <a:ea typeface="Microsoft YaHei"/>
                <a:cs typeface="Arial"/>
              </a:rPr>
              <a:t>SNR≥5dB</a:t>
            </a:r>
          </a:p>
        </p:txBody>
      </p:sp>
      <p:sp>
        <p:nvSpPr>
          <p:cNvPr id="40" name="TextBox 40"/>
          <p:cNvSpPr txBox="1"/>
          <p:nvPr/>
        </p:nvSpPr>
        <p:spPr>
          <a:xfrm>
            <a:off x="9094803" y="5473065"/>
            <a:ext cx="1431893" cy="365760"/>
          </a:xfrm>
          <a:prstGeom prst="rect">
            <a:avLst/>
          </a:prstGeom>
          <a:noFill/>
          <a:ln>
            <a:noFill/>
          </a:ln>
        </p:spPr>
        <p:txBody>
          <a:bodyPr wrap="none" lIns="0" tIns="0" rIns="0" bIns="0" anchor="t" anchorCtr="0">
            <a:spAutoFit/>
          </a:bodyPr>
          <a:lstStyle/>
          <a:p>
            <a:pPr algn="ctr"/>
            <a:r>
              <a:rPr lang="zh-CN" sz="1800" b="1" dirty="0">
                <a:solidFill>
                  <a:srgbClr val="0F172A"/>
                </a:solidFill>
                <a:latin typeface="Arial"/>
                <a:ea typeface="Microsoft YaHei"/>
                <a:cs typeface="Arial"/>
              </a:rPr>
              <a:t>准确率 &gt;99%</a:t>
            </a:r>
          </a:p>
        </p:txBody>
      </p:sp>
      <p:sp>
        <p:nvSpPr>
          <p:cNvPr id="41" name="TextBox 41"/>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6230750"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实验对比 Performance Comparison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4355" y="997268"/>
            <a:ext cx="2899833" cy="207749"/>
          </a:xfrm>
          <a:prstGeom prst="rect">
            <a:avLst/>
          </a:prstGeom>
          <a:noFill/>
          <a:ln>
            <a:noFill/>
          </a:ln>
        </p:spPr>
        <p:txBody>
          <a:bodyPr wrap="none" lIns="0" tIns="0" rIns="0" bIns="0" anchor="t" anchorCtr="0">
            <a:spAutoFit/>
          </a:bodyPr>
          <a:lstStyle/>
          <a:p>
            <a:pPr algn="l"/>
            <a:r>
              <a:rPr lang="zh-CN" sz="1350" dirty="0">
                <a:solidFill>
                  <a:schemeClr val="bg1">
                    <a:lumMod val="65000"/>
                  </a:schemeClr>
                </a:solidFill>
                <a:latin typeface="Arial"/>
                <a:ea typeface="Microsoft YaHei"/>
                <a:cs typeface="Arial"/>
              </a:rPr>
              <a:t>SNR=0dB 极限噪声环境下的方法对比</a:t>
            </a:r>
          </a:p>
        </p:txBody>
      </p:sp>
      <p:grpSp>
        <p:nvGrpSpPr>
          <p:cNvPr id="16" name="Group 16"/>
          <p:cNvGrpSpPr/>
          <p:nvPr/>
        </p:nvGrpSpPr>
        <p:grpSpPr>
          <a:xfrm>
            <a:off x="571500" y="1524000"/>
            <a:ext cx="3333750" cy="2667000"/>
            <a:chOff x="571500" y="1524000"/>
            <a:chExt cx="3333750" cy="2667000"/>
          </a:xfrm>
        </p:grpSpPr>
        <p:sp>
          <p:nvSpPr>
            <p:cNvPr id="7" name="Rectangle 7"/>
            <p:cNvSpPr/>
            <p:nvPr/>
          </p:nvSpPr>
          <p:spPr>
            <a:xfrm>
              <a:off x="571500" y="1524000"/>
              <a:ext cx="3333750" cy="2667000"/>
            </a:xfrm>
            <a:prstGeom prst="roundRect">
              <a:avLst>
                <a:gd name="adj" fmla="val 4286"/>
              </a:avLst>
            </a:prstGeom>
            <a:solidFill>
              <a:srgbClr val="1E293B"/>
            </a:solidFill>
            <a:ln w="9525">
              <a:solidFill>
                <a:srgbClr val="334155"/>
              </a:solidFill>
            </a:ln>
          </p:spPr>
        </p:sp>
        <p:sp>
          <p:nvSpPr>
            <p:cNvPr id="8" name="TextBox 8"/>
            <p:cNvSpPr txBox="1"/>
            <p:nvPr/>
          </p:nvSpPr>
          <p:spPr>
            <a:xfrm>
              <a:off x="746760" y="1680210"/>
              <a:ext cx="702564"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传统方法</a:t>
              </a:r>
            </a:p>
          </p:txBody>
        </p:sp>
        <p:sp>
          <p:nvSpPr>
            <p:cNvPr id="9" name="TextBox 9"/>
            <p:cNvSpPr txBox="1"/>
            <p:nvPr/>
          </p:nvSpPr>
          <p:spPr>
            <a:xfrm>
              <a:off x="748665" y="1934528"/>
              <a:ext cx="67326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高阶累积量</a:t>
              </a:r>
            </a:p>
          </p:txBody>
        </p:sp>
        <p:sp>
          <p:nvSpPr>
            <p:cNvPr id="10" name="TextBox 10"/>
            <p:cNvSpPr txBox="1"/>
            <p:nvPr/>
          </p:nvSpPr>
          <p:spPr>
            <a:xfrm>
              <a:off x="750570" y="2188845"/>
              <a:ext cx="1269578"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人工精心设计的统计特征</a:t>
              </a:r>
            </a:p>
          </p:txBody>
        </p:sp>
        <p:sp>
          <p:nvSpPr>
            <p:cNvPr id="11" name="TextBox 11"/>
            <p:cNvSpPr txBox="1"/>
            <p:nvPr/>
          </p:nvSpPr>
          <p:spPr>
            <a:xfrm>
              <a:off x="750570" y="2426970"/>
              <a:ext cx="1500411"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不依赖深度网络自动学习能力</a:t>
              </a:r>
            </a:p>
          </p:txBody>
        </p:sp>
        <p:sp>
          <p:nvSpPr>
            <p:cNvPr id="12" name="TextBox 12"/>
            <p:cNvSpPr txBox="1"/>
            <p:nvPr/>
          </p:nvSpPr>
          <p:spPr>
            <a:xfrm>
              <a:off x="750570" y="2665095"/>
              <a:ext cx="1384995"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信号处理领域经典基线方案</a:t>
              </a:r>
            </a:p>
          </p:txBody>
        </p:sp>
        <p:sp>
          <p:nvSpPr>
            <p:cNvPr id="13" name="Rectangle 13"/>
            <p:cNvSpPr/>
            <p:nvPr/>
          </p:nvSpPr>
          <p:spPr>
            <a:xfrm>
              <a:off x="762000" y="3048000"/>
              <a:ext cx="2952750" cy="952500"/>
            </a:xfrm>
            <a:prstGeom prst="roundRect">
              <a:avLst>
                <a:gd name="adj" fmla="val 8000"/>
              </a:avLst>
            </a:prstGeom>
            <a:solidFill>
              <a:srgbClr val="FEF2F2"/>
            </a:solidFill>
            <a:ln>
              <a:noFill/>
            </a:ln>
          </p:spPr>
        </p:sp>
        <p:sp>
          <p:nvSpPr>
            <p:cNvPr id="14" name="TextBox 14"/>
            <p:cNvSpPr txBox="1"/>
            <p:nvPr/>
          </p:nvSpPr>
          <p:spPr>
            <a:xfrm>
              <a:off x="1724477" y="3220402"/>
              <a:ext cx="1027795"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SNR=0dB 准确率</a:t>
              </a:r>
            </a:p>
          </p:txBody>
        </p:sp>
        <p:sp>
          <p:nvSpPr>
            <p:cNvPr id="15" name="TextBox 15"/>
            <p:cNvSpPr txBox="1"/>
            <p:nvPr/>
          </p:nvSpPr>
          <p:spPr>
            <a:xfrm>
              <a:off x="1684270" y="3423285"/>
              <a:ext cx="1108210" cy="548640"/>
            </a:xfrm>
            <a:prstGeom prst="rect">
              <a:avLst/>
            </a:prstGeom>
            <a:noFill/>
            <a:ln>
              <a:noFill/>
            </a:ln>
          </p:spPr>
          <p:txBody>
            <a:bodyPr wrap="none" lIns="0" tIns="0" rIns="0" bIns="0" anchor="t" anchorCtr="0">
              <a:spAutoFit/>
            </a:bodyPr>
            <a:lstStyle/>
            <a:p>
              <a:pPr algn="ctr"/>
              <a:r>
                <a:rPr lang="zh-CN" sz="2700" b="1" dirty="0">
                  <a:solidFill>
                    <a:srgbClr val="F87171"/>
                  </a:solidFill>
                  <a:latin typeface="Arial"/>
                  <a:ea typeface="Microsoft YaHei"/>
                  <a:cs typeface="Arial"/>
                </a:rPr>
                <a:t>75.3%</a:t>
              </a:r>
            </a:p>
          </p:txBody>
        </p:sp>
      </p:grpSp>
      <p:grpSp>
        <p:nvGrpSpPr>
          <p:cNvPr id="26" name="Group 26"/>
          <p:cNvGrpSpPr/>
          <p:nvPr/>
        </p:nvGrpSpPr>
        <p:grpSpPr>
          <a:xfrm>
            <a:off x="4191000" y="1524000"/>
            <a:ext cx="3333750" cy="2667000"/>
            <a:chOff x="4191000" y="1524000"/>
            <a:chExt cx="3333750" cy="2667000"/>
          </a:xfrm>
        </p:grpSpPr>
        <p:sp>
          <p:nvSpPr>
            <p:cNvPr id="17" name="Rectangle 17"/>
            <p:cNvSpPr/>
            <p:nvPr/>
          </p:nvSpPr>
          <p:spPr>
            <a:xfrm>
              <a:off x="4191000" y="1524000"/>
              <a:ext cx="3333750" cy="2667000"/>
            </a:xfrm>
            <a:prstGeom prst="roundRect">
              <a:avLst>
                <a:gd name="adj" fmla="val 4286"/>
              </a:avLst>
            </a:prstGeom>
            <a:solidFill>
              <a:srgbClr val="1E293B"/>
            </a:solidFill>
            <a:ln w="9525">
              <a:solidFill>
                <a:srgbClr val="334155"/>
              </a:solidFill>
            </a:ln>
          </p:spPr>
        </p:sp>
        <p:sp>
          <p:nvSpPr>
            <p:cNvPr id="18" name="TextBox 18"/>
            <p:cNvSpPr txBox="1"/>
            <p:nvPr/>
          </p:nvSpPr>
          <p:spPr>
            <a:xfrm>
              <a:off x="4366260" y="1680210"/>
              <a:ext cx="979799"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经典CNN模型</a:t>
              </a:r>
            </a:p>
          </p:txBody>
        </p:sp>
        <p:sp>
          <p:nvSpPr>
            <p:cNvPr id="19" name="TextBox 19"/>
            <p:cNvSpPr txBox="1"/>
            <p:nvPr/>
          </p:nvSpPr>
          <p:spPr>
            <a:xfrm>
              <a:off x="4368165" y="1934528"/>
              <a:ext cx="64601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ResNet-18</a:t>
              </a:r>
            </a:p>
          </p:txBody>
        </p:sp>
        <p:sp>
          <p:nvSpPr>
            <p:cNvPr id="20" name="TextBox 20"/>
            <p:cNvSpPr txBox="1"/>
            <p:nvPr/>
          </p:nvSpPr>
          <p:spPr>
            <a:xfrm>
              <a:off x="4370070" y="2188845"/>
              <a:ext cx="1538883"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ImageNet预训练通用骨干网络</a:t>
              </a:r>
            </a:p>
          </p:txBody>
        </p:sp>
        <p:sp>
          <p:nvSpPr>
            <p:cNvPr id="21" name="TextBox 21"/>
            <p:cNvSpPr txBox="1"/>
            <p:nvPr/>
          </p:nvSpPr>
          <p:spPr>
            <a:xfrm>
              <a:off x="4370070" y="2426970"/>
              <a:ext cx="1154162"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迁移学习进行特征提取</a:t>
              </a:r>
            </a:p>
          </p:txBody>
        </p:sp>
        <p:sp>
          <p:nvSpPr>
            <p:cNvPr id="22" name="TextBox 22"/>
            <p:cNvSpPr txBox="1"/>
            <p:nvPr/>
          </p:nvSpPr>
          <p:spPr>
            <a:xfrm>
              <a:off x="4370070" y="2665095"/>
              <a:ext cx="92333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具备较强泛化能力</a:t>
              </a:r>
            </a:p>
          </p:txBody>
        </p:sp>
        <p:sp>
          <p:nvSpPr>
            <p:cNvPr id="23" name="Rectangle 23"/>
            <p:cNvSpPr/>
            <p:nvPr/>
          </p:nvSpPr>
          <p:spPr>
            <a:xfrm>
              <a:off x="4381500" y="3048000"/>
              <a:ext cx="2952750" cy="952500"/>
            </a:xfrm>
            <a:prstGeom prst="roundRect">
              <a:avLst>
                <a:gd name="adj" fmla="val 8000"/>
              </a:avLst>
            </a:prstGeom>
            <a:solidFill>
              <a:srgbClr val="F3E8FF"/>
            </a:solidFill>
            <a:ln>
              <a:noFill/>
            </a:ln>
          </p:spPr>
        </p:sp>
        <p:sp>
          <p:nvSpPr>
            <p:cNvPr id="24" name="TextBox 24"/>
            <p:cNvSpPr txBox="1"/>
            <p:nvPr/>
          </p:nvSpPr>
          <p:spPr>
            <a:xfrm>
              <a:off x="5343977" y="3220402"/>
              <a:ext cx="1027795" cy="213360"/>
            </a:xfrm>
            <a:prstGeom prst="rect">
              <a:avLst/>
            </a:prstGeom>
            <a:noFill/>
            <a:ln>
              <a:noFill/>
            </a:ln>
          </p:spPr>
          <p:txBody>
            <a:bodyPr wrap="none" lIns="0" tIns="0" rIns="0" bIns="0" anchor="t" anchorCtr="0">
              <a:spAutoFit/>
            </a:bodyPr>
            <a:lstStyle/>
            <a:p>
              <a:pPr algn="ctr"/>
              <a:r>
                <a:rPr lang="zh-CN" sz="1050" dirty="0">
                  <a:solidFill>
                    <a:srgbClr val="475569"/>
                  </a:solidFill>
                  <a:latin typeface="Arial"/>
                  <a:ea typeface="Microsoft YaHei"/>
                  <a:cs typeface="Arial"/>
                </a:rPr>
                <a:t>SNR=0dB 准确率</a:t>
              </a:r>
            </a:p>
          </p:txBody>
        </p:sp>
        <p:sp>
          <p:nvSpPr>
            <p:cNvPr id="25" name="TextBox 25"/>
            <p:cNvSpPr txBox="1"/>
            <p:nvPr/>
          </p:nvSpPr>
          <p:spPr>
            <a:xfrm>
              <a:off x="5351026" y="3423285"/>
              <a:ext cx="1013698" cy="548640"/>
            </a:xfrm>
            <a:prstGeom prst="rect">
              <a:avLst/>
            </a:prstGeom>
            <a:noFill/>
            <a:ln>
              <a:noFill/>
            </a:ln>
          </p:spPr>
          <p:txBody>
            <a:bodyPr wrap="none" lIns="0" tIns="0" rIns="0" bIns="0" anchor="t" anchorCtr="0">
              <a:spAutoFit/>
            </a:bodyPr>
            <a:lstStyle/>
            <a:p>
              <a:pPr algn="ctr"/>
              <a:r>
                <a:rPr lang="zh-CN" sz="2700" b="1" dirty="0">
                  <a:solidFill>
                    <a:srgbClr val="818CF8"/>
                  </a:solidFill>
                  <a:latin typeface="Arial"/>
                  <a:ea typeface="Microsoft YaHei"/>
                  <a:cs typeface="Arial"/>
                </a:rPr>
                <a:t>91.5%</a:t>
              </a:r>
            </a:p>
          </p:txBody>
        </p:sp>
      </p:grpSp>
      <p:grpSp>
        <p:nvGrpSpPr>
          <p:cNvPr id="36" name="Group 36"/>
          <p:cNvGrpSpPr/>
          <p:nvPr/>
        </p:nvGrpSpPr>
        <p:grpSpPr>
          <a:xfrm>
            <a:off x="7810500" y="1524000"/>
            <a:ext cx="3619500" cy="2667000"/>
            <a:chOff x="7810500" y="1524000"/>
            <a:chExt cx="3619500" cy="2667000"/>
          </a:xfrm>
        </p:grpSpPr>
        <p:sp>
          <p:nvSpPr>
            <p:cNvPr id="27" name="Rectangle 27"/>
            <p:cNvSpPr/>
            <p:nvPr/>
          </p:nvSpPr>
          <p:spPr>
            <a:xfrm>
              <a:off x="7810500" y="1524000"/>
              <a:ext cx="3619500" cy="2667000"/>
            </a:xfrm>
            <a:prstGeom prst="roundRect">
              <a:avLst>
                <a:gd name="adj" fmla="val 4286"/>
              </a:avLst>
            </a:prstGeom>
            <a:solidFill>
              <a:srgbClr val="ECFDF5"/>
            </a:solidFill>
            <a:ln w="19050">
              <a:solidFill>
                <a:srgbClr val="10B981"/>
              </a:solidFill>
            </a:ln>
          </p:spPr>
        </p:sp>
        <p:sp>
          <p:nvSpPr>
            <p:cNvPr id="28" name="TextBox 28"/>
            <p:cNvSpPr txBox="1"/>
            <p:nvPr/>
          </p:nvSpPr>
          <p:spPr>
            <a:xfrm>
              <a:off x="7985760" y="1680210"/>
              <a:ext cx="870585"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本研究模型</a:t>
              </a:r>
            </a:p>
          </p:txBody>
        </p:sp>
        <p:sp>
          <p:nvSpPr>
            <p:cNvPr id="29" name="TextBox 29"/>
            <p:cNvSpPr txBox="1"/>
            <p:nvPr/>
          </p:nvSpPr>
          <p:spPr>
            <a:xfrm>
              <a:off x="7987665" y="1934528"/>
              <a:ext cx="1013098" cy="161583"/>
            </a:xfrm>
            <a:prstGeom prst="rect">
              <a:avLst/>
            </a:prstGeom>
            <a:noFill/>
            <a:ln>
              <a:noFill/>
            </a:ln>
          </p:spPr>
          <p:txBody>
            <a:bodyPr wrap="none" lIns="0" tIns="0" rIns="0" bIns="0" anchor="t" anchorCtr="0">
              <a:spAutoFit/>
            </a:bodyPr>
            <a:lstStyle/>
            <a:p>
              <a:pPr algn="l"/>
              <a:r>
                <a:rPr lang="zh-CN" sz="1050" dirty="0">
                  <a:solidFill>
                    <a:schemeClr val="tx1">
                      <a:lumMod val="50000"/>
                      <a:lumOff val="50000"/>
                    </a:schemeClr>
                  </a:solidFill>
                  <a:latin typeface="Arial"/>
                  <a:ea typeface="Microsoft YaHei"/>
                  <a:cs typeface="Arial"/>
                </a:rPr>
                <a:t>Custom 2D-CNN</a:t>
              </a:r>
            </a:p>
          </p:txBody>
        </p:sp>
        <p:sp>
          <p:nvSpPr>
            <p:cNvPr id="30" name="TextBox 30"/>
            <p:cNvSpPr txBox="1"/>
            <p:nvPr/>
          </p:nvSpPr>
          <p:spPr>
            <a:xfrm>
              <a:off x="7989570" y="2188845"/>
              <a:ext cx="122301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专为低信噪比场景定制</a:t>
              </a:r>
            </a:p>
          </p:txBody>
        </p:sp>
        <p:sp>
          <p:nvSpPr>
            <p:cNvPr id="31" name="TextBox 31"/>
            <p:cNvSpPr txBox="1"/>
            <p:nvPr/>
          </p:nvSpPr>
          <p:spPr>
            <a:xfrm>
              <a:off x="7989570" y="2426970"/>
              <a:ext cx="86296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轻量化网络架构</a:t>
              </a:r>
            </a:p>
          </p:txBody>
        </p:sp>
        <p:sp>
          <p:nvSpPr>
            <p:cNvPr id="32" name="TextBox 32"/>
            <p:cNvSpPr txBox="1"/>
            <p:nvPr/>
          </p:nvSpPr>
          <p:spPr>
            <a:xfrm>
              <a:off x="7989570" y="2665095"/>
              <a:ext cx="1463040"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优化感受野与特征融合策略</a:t>
              </a:r>
            </a:p>
          </p:txBody>
        </p:sp>
        <p:sp>
          <p:nvSpPr>
            <p:cNvPr id="33" name="Rectangle 33"/>
            <p:cNvSpPr/>
            <p:nvPr/>
          </p:nvSpPr>
          <p:spPr>
            <a:xfrm>
              <a:off x="8001000" y="3048000"/>
              <a:ext cx="3238500" cy="952500"/>
            </a:xfrm>
            <a:prstGeom prst="roundRect">
              <a:avLst>
                <a:gd name="adj" fmla="val 8000"/>
              </a:avLst>
            </a:prstGeom>
            <a:solidFill>
              <a:srgbClr val="10B981"/>
            </a:solidFill>
            <a:ln>
              <a:noFill/>
            </a:ln>
          </p:spPr>
        </p:sp>
        <p:sp>
          <p:nvSpPr>
            <p:cNvPr id="34" name="TextBox 34"/>
            <p:cNvSpPr txBox="1"/>
            <p:nvPr/>
          </p:nvSpPr>
          <p:spPr>
            <a:xfrm>
              <a:off x="9106352" y="3220402"/>
              <a:ext cx="1027795" cy="213360"/>
            </a:xfrm>
            <a:prstGeom prst="rect">
              <a:avLst/>
            </a:prstGeom>
            <a:noFill/>
            <a:ln>
              <a:noFill/>
            </a:ln>
          </p:spPr>
          <p:txBody>
            <a:bodyPr wrap="none" lIns="0" tIns="0" rIns="0" bIns="0" anchor="t" anchorCtr="0">
              <a:spAutoFit/>
            </a:bodyPr>
            <a:lstStyle/>
            <a:p>
              <a:pPr algn="ctr"/>
              <a:r>
                <a:rPr lang="zh-CN" sz="1050" dirty="0">
                  <a:solidFill>
                    <a:srgbClr val="0F172A"/>
                  </a:solidFill>
                  <a:latin typeface="Arial"/>
                  <a:ea typeface="Microsoft YaHei"/>
                  <a:cs typeface="Arial"/>
                </a:rPr>
                <a:t>SNR=0dB 准确率</a:t>
              </a:r>
            </a:p>
          </p:txBody>
        </p:sp>
        <p:sp>
          <p:nvSpPr>
            <p:cNvPr id="35" name="TextBox 35"/>
            <p:cNvSpPr txBox="1"/>
            <p:nvPr/>
          </p:nvSpPr>
          <p:spPr>
            <a:xfrm>
              <a:off x="8962182" y="3423285"/>
              <a:ext cx="1316136" cy="548640"/>
            </a:xfrm>
            <a:prstGeom prst="rect">
              <a:avLst/>
            </a:prstGeom>
            <a:noFill/>
            <a:ln>
              <a:noFill/>
            </a:ln>
          </p:spPr>
          <p:txBody>
            <a:bodyPr wrap="none" lIns="0" tIns="0" rIns="0" bIns="0" anchor="t" anchorCtr="0">
              <a:spAutoFit/>
            </a:bodyPr>
            <a:lstStyle/>
            <a:p>
              <a:pPr algn="ctr"/>
              <a:r>
                <a:rPr lang="zh-CN" sz="2700" b="1" dirty="0">
                  <a:solidFill>
                    <a:srgbClr val="0F172A"/>
                  </a:solidFill>
                  <a:latin typeface="Arial"/>
                  <a:ea typeface="Microsoft YaHei"/>
                  <a:cs typeface="Arial"/>
                </a:rPr>
                <a:t>94.25%</a:t>
              </a:r>
            </a:p>
          </p:txBody>
        </p:sp>
      </p:grpSp>
      <p:sp>
        <p:nvSpPr>
          <p:cNvPr id="37" name="Rectangle 37"/>
          <p:cNvSpPr/>
          <p:nvPr/>
        </p:nvSpPr>
        <p:spPr>
          <a:xfrm>
            <a:off x="571500" y="4381500"/>
            <a:ext cx="11049000" cy="2286000"/>
          </a:xfrm>
          <a:prstGeom prst="roundRect">
            <a:avLst>
              <a:gd name="adj" fmla="val 5000"/>
            </a:avLst>
          </a:prstGeom>
          <a:solidFill>
            <a:srgbClr val="1E293B"/>
          </a:solidFill>
          <a:ln w="9525">
            <a:solidFill>
              <a:srgbClr val="334155"/>
            </a:solidFill>
          </a:ln>
        </p:spPr>
      </p:sp>
      <p:sp>
        <p:nvSpPr>
          <p:cNvPr id="38" name="TextBox 38"/>
          <p:cNvSpPr txBox="1"/>
          <p:nvPr/>
        </p:nvSpPr>
        <p:spPr>
          <a:xfrm>
            <a:off x="838200" y="4552950"/>
            <a:ext cx="1298258"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性能提升对比</a:t>
            </a:r>
          </a:p>
        </p:txBody>
      </p:sp>
      <p:grpSp>
        <p:nvGrpSpPr>
          <p:cNvPr id="42" name="Group 42"/>
          <p:cNvGrpSpPr/>
          <p:nvPr/>
        </p:nvGrpSpPr>
        <p:grpSpPr>
          <a:xfrm>
            <a:off x="857250" y="4953000"/>
            <a:ext cx="4762766" cy="571500"/>
            <a:chOff x="857250" y="4953000"/>
            <a:chExt cx="4762766" cy="571500"/>
          </a:xfrm>
        </p:grpSpPr>
        <p:sp>
          <p:nvSpPr>
            <p:cNvPr id="39" name="Rectangle 39"/>
            <p:cNvSpPr/>
            <p:nvPr/>
          </p:nvSpPr>
          <p:spPr>
            <a:xfrm>
              <a:off x="857250" y="4953000"/>
              <a:ext cx="4762500" cy="571500"/>
            </a:xfrm>
            <a:prstGeom prst="roundRect">
              <a:avLst>
                <a:gd name="adj" fmla="val 13333"/>
              </a:avLst>
            </a:prstGeom>
            <a:solidFill>
              <a:srgbClr val="0F172A"/>
            </a:solidFill>
            <a:ln w="9525">
              <a:solidFill>
                <a:srgbClr val="334155"/>
              </a:solidFill>
            </a:ln>
          </p:spPr>
        </p:sp>
        <p:sp>
          <p:nvSpPr>
            <p:cNvPr id="40" name="TextBox 40"/>
            <p:cNvSpPr txBox="1"/>
            <p:nvPr/>
          </p:nvSpPr>
          <p:spPr>
            <a:xfrm>
              <a:off x="1034415" y="5077778"/>
              <a:ext cx="1678877"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vs 传统方法 (高阶累积量)</a:t>
              </a:r>
            </a:p>
          </p:txBody>
        </p:sp>
        <p:sp>
          <p:nvSpPr>
            <p:cNvPr id="41" name="TextBox 41"/>
            <p:cNvSpPr txBox="1"/>
            <p:nvPr/>
          </p:nvSpPr>
          <p:spPr>
            <a:xfrm>
              <a:off x="4666983" y="5092065"/>
              <a:ext cx="953033" cy="365760"/>
            </a:xfrm>
            <a:prstGeom prst="rect">
              <a:avLst/>
            </a:prstGeom>
            <a:noFill/>
            <a:ln>
              <a:noFill/>
            </a:ln>
          </p:spPr>
          <p:txBody>
            <a:bodyPr wrap="none" lIns="0" tIns="0" rIns="0" bIns="0" anchor="t" anchorCtr="0">
              <a:spAutoFit/>
            </a:bodyPr>
            <a:lstStyle/>
            <a:p>
              <a:pPr algn="ctr"/>
              <a:r>
                <a:rPr lang="zh-CN" sz="1800" b="1" dirty="0">
                  <a:solidFill>
                    <a:srgbClr val="10B981"/>
                  </a:solidFill>
                  <a:latin typeface="Arial"/>
                  <a:ea typeface="Microsoft YaHei"/>
                  <a:cs typeface="Arial"/>
                </a:rPr>
                <a:t>+18.95%</a:t>
              </a:r>
            </a:p>
          </p:txBody>
        </p:sp>
      </p:grpSp>
      <p:grpSp>
        <p:nvGrpSpPr>
          <p:cNvPr id="46" name="Group 46"/>
          <p:cNvGrpSpPr/>
          <p:nvPr/>
        </p:nvGrpSpPr>
        <p:grpSpPr>
          <a:xfrm>
            <a:off x="857250" y="5619750"/>
            <a:ext cx="4762500" cy="571500"/>
            <a:chOff x="857250" y="5619750"/>
            <a:chExt cx="4762500" cy="571500"/>
          </a:xfrm>
        </p:grpSpPr>
        <p:sp>
          <p:nvSpPr>
            <p:cNvPr id="43" name="Rectangle 43"/>
            <p:cNvSpPr/>
            <p:nvPr/>
          </p:nvSpPr>
          <p:spPr>
            <a:xfrm>
              <a:off x="857250" y="5619750"/>
              <a:ext cx="4762500" cy="571500"/>
            </a:xfrm>
            <a:prstGeom prst="roundRect">
              <a:avLst>
                <a:gd name="adj" fmla="val 13333"/>
              </a:avLst>
            </a:prstGeom>
            <a:solidFill>
              <a:srgbClr val="0F172A"/>
            </a:solidFill>
            <a:ln w="9525">
              <a:solidFill>
                <a:srgbClr val="334155"/>
              </a:solidFill>
            </a:ln>
          </p:spPr>
        </p:sp>
        <p:sp>
          <p:nvSpPr>
            <p:cNvPr id="44" name="TextBox 44"/>
            <p:cNvSpPr txBox="1"/>
            <p:nvPr/>
          </p:nvSpPr>
          <p:spPr>
            <a:xfrm>
              <a:off x="1034415" y="5744528"/>
              <a:ext cx="1636871"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vs 经典模型 (ResNet-18)</a:t>
              </a:r>
            </a:p>
          </p:txBody>
        </p:sp>
        <p:sp>
          <p:nvSpPr>
            <p:cNvPr id="45" name="TextBox 45"/>
            <p:cNvSpPr txBox="1"/>
            <p:nvPr/>
          </p:nvSpPr>
          <p:spPr>
            <a:xfrm>
              <a:off x="4704788" y="5758815"/>
              <a:ext cx="877424" cy="365760"/>
            </a:xfrm>
            <a:prstGeom prst="rect">
              <a:avLst/>
            </a:prstGeom>
            <a:noFill/>
            <a:ln>
              <a:noFill/>
            </a:ln>
          </p:spPr>
          <p:txBody>
            <a:bodyPr wrap="none" lIns="0" tIns="0" rIns="0" bIns="0" anchor="t" anchorCtr="0">
              <a:spAutoFit/>
            </a:bodyPr>
            <a:lstStyle/>
            <a:p>
              <a:pPr algn="ctr"/>
              <a:r>
                <a:rPr lang="zh-CN" sz="1800" b="1" dirty="0">
                  <a:solidFill>
                    <a:srgbClr val="10B981"/>
                  </a:solidFill>
                  <a:latin typeface="Arial"/>
                  <a:ea typeface="Microsoft YaHei"/>
                  <a:cs typeface="Arial"/>
                </a:rPr>
                <a:t>+2.75%</a:t>
              </a:r>
            </a:p>
          </p:txBody>
        </p:sp>
      </p:grpSp>
      <p:sp>
        <p:nvSpPr>
          <p:cNvPr id="47" name="Rectangle 47"/>
          <p:cNvSpPr/>
          <p:nvPr/>
        </p:nvSpPr>
        <p:spPr>
          <a:xfrm>
            <a:off x="5905500" y="4953000"/>
            <a:ext cx="5524500" cy="1238250"/>
          </a:xfrm>
          <a:prstGeom prst="roundRect">
            <a:avLst>
              <a:gd name="adj" fmla="val 9231"/>
            </a:avLst>
          </a:prstGeom>
          <a:solidFill>
            <a:srgbClr val="10B981"/>
          </a:solidFill>
          <a:ln>
            <a:noFill/>
          </a:ln>
        </p:spPr>
      </p:sp>
      <p:sp>
        <p:nvSpPr>
          <p:cNvPr id="48" name="TextBox 48"/>
          <p:cNvSpPr txBox="1"/>
          <p:nvPr/>
        </p:nvSpPr>
        <p:spPr>
          <a:xfrm>
            <a:off x="8272558" y="5140642"/>
            <a:ext cx="790384" cy="274320"/>
          </a:xfrm>
          <a:prstGeom prst="rect">
            <a:avLst/>
          </a:prstGeom>
          <a:noFill/>
          <a:ln>
            <a:noFill/>
          </a:ln>
        </p:spPr>
        <p:txBody>
          <a:bodyPr wrap="none" lIns="0" tIns="0" rIns="0" bIns="0" anchor="t" anchorCtr="0">
            <a:spAutoFit/>
          </a:bodyPr>
          <a:lstStyle/>
          <a:p>
            <a:pPr algn="ctr"/>
            <a:r>
              <a:rPr lang="zh-CN" sz="1350" b="1" dirty="0">
                <a:solidFill>
                  <a:srgbClr val="0F172A"/>
                </a:solidFill>
                <a:latin typeface="Arial"/>
                <a:ea typeface="Microsoft YaHei"/>
                <a:cs typeface="Arial"/>
              </a:rPr>
              <a:t>核心结论</a:t>
            </a:r>
          </a:p>
        </p:txBody>
      </p:sp>
      <p:sp>
        <p:nvSpPr>
          <p:cNvPr id="49" name="TextBox 49"/>
          <p:cNvSpPr txBox="1"/>
          <p:nvPr/>
        </p:nvSpPr>
        <p:spPr>
          <a:xfrm>
            <a:off x="7464266" y="5506402"/>
            <a:ext cx="2406968" cy="213360"/>
          </a:xfrm>
          <a:prstGeom prst="rect">
            <a:avLst/>
          </a:prstGeom>
          <a:noFill/>
          <a:ln>
            <a:noFill/>
          </a:ln>
        </p:spPr>
        <p:txBody>
          <a:bodyPr wrap="none" lIns="0" tIns="0" rIns="0" bIns="0" anchor="t" anchorCtr="0">
            <a:spAutoFit/>
          </a:bodyPr>
          <a:lstStyle/>
          <a:p>
            <a:pPr algn="ctr"/>
            <a:r>
              <a:rPr lang="zh-CN" sz="1050" dirty="0">
                <a:solidFill>
                  <a:srgbClr val="0F172A"/>
                </a:solidFill>
                <a:latin typeface="Arial"/>
                <a:ea typeface="Microsoft YaHei"/>
                <a:cs typeface="Arial"/>
              </a:rPr>
              <a:t>针对特定任务的架构优化能够有效提升</a:t>
            </a:r>
          </a:p>
        </p:txBody>
      </p:sp>
      <p:sp>
        <p:nvSpPr>
          <p:cNvPr id="50" name="TextBox 50"/>
          <p:cNvSpPr txBox="1"/>
          <p:nvPr/>
        </p:nvSpPr>
        <p:spPr>
          <a:xfrm>
            <a:off x="7674292" y="5744528"/>
            <a:ext cx="1986915" cy="213360"/>
          </a:xfrm>
          <a:prstGeom prst="rect">
            <a:avLst/>
          </a:prstGeom>
          <a:noFill/>
          <a:ln>
            <a:noFill/>
          </a:ln>
        </p:spPr>
        <p:txBody>
          <a:bodyPr wrap="none" lIns="0" tIns="0" rIns="0" bIns="0" anchor="t" anchorCtr="0">
            <a:spAutoFit/>
          </a:bodyPr>
          <a:lstStyle/>
          <a:p>
            <a:pPr algn="ctr"/>
            <a:r>
              <a:rPr lang="zh-CN" sz="1050" dirty="0">
                <a:solidFill>
                  <a:srgbClr val="0F172A"/>
                </a:solidFill>
                <a:latin typeface="Arial"/>
                <a:ea typeface="Microsoft YaHei"/>
                <a:cs typeface="Arial"/>
              </a:rPr>
              <a:t>低信噪比环境下的目标识别性能</a:t>
            </a:r>
          </a:p>
        </p:txBody>
      </p:sp>
      <p:sp>
        <p:nvSpPr>
          <p:cNvPr id="51" name="TextBox 51"/>
          <p:cNvSpPr txBox="1"/>
          <p:nvPr/>
        </p:nvSpPr>
        <p:spPr>
          <a:xfrm>
            <a:off x="7744301" y="5982652"/>
            <a:ext cx="1846898" cy="213360"/>
          </a:xfrm>
          <a:prstGeom prst="rect">
            <a:avLst/>
          </a:prstGeom>
          <a:noFill/>
          <a:ln>
            <a:noFill/>
          </a:ln>
        </p:spPr>
        <p:txBody>
          <a:bodyPr wrap="none" lIns="0" tIns="0" rIns="0" bIns="0" anchor="t" anchorCtr="0">
            <a:spAutoFit/>
          </a:bodyPr>
          <a:lstStyle/>
          <a:p>
            <a:pPr algn="ctr"/>
            <a:r>
              <a:rPr lang="zh-CN" sz="1050" dirty="0">
                <a:solidFill>
                  <a:srgbClr val="0F172A"/>
                </a:solidFill>
                <a:latin typeface="Arial"/>
                <a:ea typeface="Microsoft YaHei"/>
                <a:cs typeface="Arial"/>
              </a:rPr>
              <a:t>同时避免通用模型的冗余计算</a:t>
            </a:r>
          </a:p>
        </p:txBody>
      </p:sp>
      <p:sp>
        <p:nvSpPr>
          <p:cNvPr id="52" name="TextBox 52"/>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228925"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实时演示 Live Demonstration</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1714500"/>
          </a:xfrm>
          <a:prstGeom prst="roundRect">
            <a:avLst>
              <a:gd name="adj" fmla="val 6667"/>
            </a:avLst>
          </a:prstGeom>
          <a:solidFill>
            <a:srgbClr val="1E293B"/>
          </a:solidFill>
          <a:ln w="9525">
            <a:solidFill>
              <a:srgbClr val="334155"/>
            </a:solidFill>
          </a:ln>
        </p:spPr>
      </p:sp>
      <p:sp>
        <p:nvSpPr>
          <p:cNvPr id="7" name="TextBox 7"/>
          <p:cNvSpPr txBox="1"/>
          <p:nvPr/>
        </p:nvSpPr>
        <p:spPr>
          <a:xfrm>
            <a:off x="840105" y="1235392"/>
            <a:ext cx="1546479"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随机信号识别演示</a:t>
            </a:r>
          </a:p>
        </p:txBody>
      </p:sp>
      <p:sp>
        <p:nvSpPr>
          <p:cNvPr id="8" name="TextBox 8"/>
          <p:cNvSpPr txBox="1"/>
          <p:nvPr/>
        </p:nvSpPr>
        <p:spPr>
          <a:xfrm>
            <a:off x="843915" y="1601152"/>
            <a:ext cx="2930289"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随机生成 AM/FM 信号，添加随机噪声后进行识别</a:t>
            </a:r>
          </a:p>
        </p:txBody>
      </p:sp>
      <p:grpSp>
        <p:nvGrpSpPr>
          <p:cNvPr id="13" name="Group 13"/>
          <p:cNvGrpSpPr/>
          <p:nvPr/>
        </p:nvGrpSpPr>
        <p:grpSpPr>
          <a:xfrm>
            <a:off x="857250" y="2000250"/>
            <a:ext cx="5238750" cy="571500"/>
            <a:chOff x="857250" y="2000250"/>
            <a:chExt cx="5238750" cy="571500"/>
          </a:xfrm>
        </p:grpSpPr>
        <p:sp>
          <p:nvSpPr>
            <p:cNvPr id="9" name="Rectangle 9"/>
            <p:cNvSpPr/>
            <p:nvPr/>
          </p:nvSpPr>
          <p:spPr>
            <a:xfrm>
              <a:off x="857250" y="2000250"/>
              <a:ext cx="5238750" cy="571500"/>
            </a:xfrm>
            <a:prstGeom prst="roundRect">
              <a:avLst>
                <a:gd name="adj" fmla="val 13333"/>
              </a:avLst>
            </a:prstGeom>
            <a:solidFill>
              <a:srgbClr val="0F172A"/>
            </a:solidFill>
            <a:ln w="19050">
              <a:solidFill>
                <a:srgbClr val="10B981"/>
              </a:solidFill>
            </a:ln>
          </p:spPr>
        </p:sp>
        <p:sp>
          <p:nvSpPr>
            <p:cNvPr id="10" name="TextBox 10"/>
            <p:cNvSpPr txBox="1"/>
            <p:nvPr/>
          </p:nvSpPr>
          <p:spPr>
            <a:xfrm>
              <a:off x="1024890" y="2044065"/>
              <a:ext cx="18433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a:t>
              </a:r>
            </a:p>
          </p:txBody>
        </p:sp>
        <p:sp>
          <p:nvSpPr>
            <p:cNvPr id="11" name="TextBox 11"/>
            <p:cNvSpPr txBox="1"/>
            <p:nvPr/>
          </p:nvSpPr>
          <p:spPr>
            <a:xfrm>
              <a:off x="1415415" y="2153602"/>
              <a:ext cx="106280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Test 1: AM → AM</a:t>
              </a:r>
            </a:p>
          </p:txBody>
        </p:sp>
        <p:sp>
          <p:nvSpPr>
            <p:cNvPr id="12" name="TextBox 12"/>
            <p:cNvSpPr txBox="1"/>
            <p:nvPr/>
          </p:nvSpPr>
          <p:spPr>
            <a:xfrm>
              <a:off x="1417320" y="2360295"/>
              <a:ext cx="147316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置信度: 99.9% | SNR: 5.1 dB</a:t>
              </a:r>
            </a:p>
          </p:txBody>
        </p:sp>
      </p:grpSp>
      <p:grpSp>
        <p:nvGrpSpPr>
          <p:cNvPr id="18" name="Group 18"/>
          <p:cNvGrpSpPr/>
          <p:nvPr/>
        </p:nvGrpSpPr>
        <p:grpSpPr>
          <a:xfrm>
            <a:off x="6286500" y="2000250"/>
            <a:ext cx="5238750" cy="571500"/>
            <a:chOff x="6286500" y="2000250"/>
            <a:chExt cx="5238750" cy="571500"/>
          </a:xfrm>
        </p:grpSpPr>
        <p:sp>
          <p:nvSpPr>
            <p:cNvPr id="14" name="Rectangle 14"/>
            <p:cNvSpPr/>
            <p:nvPr/>
          </p:nvSpPr>
          <p:spPr>
            <a:xfrm>
              <a:off x="6286500" y="2000250"/>
              <a:ext cx="5238750" cy="571500"/>
            </a:xfrm>
            <a:prstGeom prst="roundRect">
              <a:avLst>
                <a:gd name="adj" fmla="val 13333"/>
              </a:avLst>
            </a:prstGeom>
            <a:solidFill>
              <a:srgbClr val="0F172A"/>
            </a:solidFill>
            <a:ln w="19050">
              <a:solidFill>
                <a:srgbClr val="10B981"/>
              </a:solidFill>
            </a:ln>
          </p:spPr>
        </p:sp>
        <p:sp>
          <p:nvSpPr>
            <p:cNvPr id="15" name="TextBox 15"/>
            <p:cNvSpPr txBox="1"/>
            <p:nvPr/>
          </p:nvSpPr>
          <p:spPr>
            <a:xfrm>
              <a:off x="6454140" y="2044065"/>
              <a:ext cx="18433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a:t>
              </a:r>
            </a:p>
          </p:txBody>
        </p:sp>
        <p:sp>
          <p:nvSpPr>
            <p:cNvPr id="16" name="TextBox 16"/>
            <p:cNvSpPr txBox="1"/>
            <p:nvPr/>
          </p:nvSpPr>
          <p:spPr>
            <a:xfrm>
              <a:off x="6844665" y="2153602"/>
              <a:ext cx="109780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Test 2: FM → FM</a:t>
              </a:r>
            </a:p>
          </p:txBody>
        </p:sp>
        <p:sp>
          <p:nvSpPr>
            <p:cNvPr id="17" name="TextBox 17"/>
            <p:cNvSpPr txBox="1"/>
            <p:nvPr/>
          </p:nvSpPr>
          <p:spPr>
            <a:xfrm>
              <a:off x="6846570" y="2360295"/>
              <a:ext cx="147316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置信度: 99.9% | SNR: 6.3 dB</a:t>
              </a:r>
            </a:p>
          </p:txBody>
        </p:sp>
      </p:grpSp>
      <p:grpSp>
        <p:nvGrpSpPr>
          <p:cNvPr id="23" name="Group 23"/>
          <p:cNvGrpSpPr/>
          <p:nvPr/>
        </p:nvGrpSpPr>
        <p:grpSpPr>
          <a:xfrm>
            <a:off x="857250" y="2714625"/>
            <a:ext cx="5238750" cy="571500"/>
            <a:chOff x="857250" y="2714625"/>
            <a:chExt cx="5238750" cy="571500"/>
          </a:xfrm>
        </p:grpSpPr>
        <p:sp>
          <p:nvSpPr>
            <p:cNvPr id="19" name="Rectangle 19"/>
            <p:cNvSpPr/>
            <p:nvPr/>
          </p:nvSpPr>
          <p:spPr>
            <a:xfrm>
              <a:off x="857250" y="2714625"/>
              <a:ext cx="5238750" cy="571500"/>
            </a:xfrm>
            <a:prstGeom prst="roundRect">
              <a:avLst>
                <a:gd name="adj" fmla="val 13333"/>
              </a:avLst>
            </a:prstGeom>
            <a:solidFill>
              <a:srgbClr val="0F172A"/>
            </a:solidFill>
            <a:ln w="19050">
              <a:solidFill>
                <a:srgbClr val="10B981"/>
              </a:solidFill>
            </a:ln>
          </p:spPr>
        </p:sp>
        <p:sp>
          <p:nvSpPr>
            <p:cNvPr id="20" name="TextBox 20"/>
            <p:cNvSpPr txBox="1"/>
            <p:nvPr/>
          </p:nvSpPr>
          <p:spPr>
            <a:xfrm>
              <a:off x="1024890" y="2758440"/>
              <a:ext cx="18433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a:t>
              </a:r>
            </a:p>
          </p:txBody>
        </p:sp>
        <p:sp>
          <p:nvSpPr>
            <p:cNvPr id="21" name="TextBox 21"/>
            <p:cNvSpPr txBox="1"/>
            <p:nvPr/>
          </p:nvSpPr>
          <p:spPr>
            <a:xfrm>
              <a:off x="1415415" y="2867978"/>
              <a:ext cx="109780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Test 3: AM → AM</a:t>
              </a:r>
            </a:p>
          </p:txBody>
        </p:sp>
        <p:sp>
          <p:nvSpPr>
            <p:cNvPr id="22" name="TextBox 22"/>
            <p:cNvSpPr txBox="1"/>
            <p:nvPr/>
          </p:nvSpPr>
          <p:spPr>
            <a:xfrm>
              <a:off x="1417320" y="3074670"/>
              <a:ext cx="160140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置信度: 100.0% | SNR: 14.2 dB</a:t>
              </a:r>
            </a:p>
          </p:txBody>
        </p:sp>
      </p:grpSp>
      <p:grpSp>
        <p:nvGrpSpPr>
          <p:cNvPr id="28" name="Group 28"/>
          <p:cNvGrpSpPr/>
          <p:nvPr/>
        </p:nvGrpSpPr>
        <p:grpSpPr>
          <a:xfrm>
            <a:off x="6286500" y="2714625"/>
            <a:ext cx="5238750" cy="571500"/>
            <a:chOff x="6286500" y="2714625"/>
            <a:chExt cx="5238750" cy="571500"/>
          </a:xfrm>
        </p:grpSpPr>
        <p:sp>
          <p:nvSpPr>
            <p:cNvPr id="24" name="Rectangle 24"/>
            <p:cNvSpPr/>
            <p:nvPr/>
          </p:nvSpPr>
          <p:spPr>
            <a:xfrm>
              <a:off x="6286500" y="2714625"/>
              <a:ext cx="5238750" cy="571500"/>
            </a:xfrm>
            <a:prstGeom prst="roundRect">
              <a:avLst>
                <a:gd name="adj" fmla="val 13333"/>
              </a:avLst>
            </a:prstGeom>
            <a:solidFill>
              <a:srgbClr val="0F172A"/>
            </a:solidFill>
            <a:ln w="19050">
              <a:solidFill>
                <a:srgbClr val="10B981"/>
              </a:solidFill>
            </a:ln>
          </p:spPr>
        </p:sp>
        <p:sp>
          <p:nvSpPr>
            <p:cNvPr id="25" name="TextBox 25"/>
            <p:cNvSpPr txBox="1"/>
            <p:nvPr/>
          </p:nvSpPr>
          <p:spPr>
            <a:xfrm>
              <a:off x="6454140" y="2758440"/>
              <a:ext cx="18433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a:t>
              </a:r>
            </a:p>
          </p:txBody>
        </p:sp>
        <p:sp>
          <p:nvSpPr>
            <p:cNvPr id="26" name="TextBox 26"/>
            <p:cNvSpPr txBox="1"/>
            <p:nvPr/>
          </p:nvSpPr>
          <p:spPr>
            <a:xfrm>
              <a:off x="6844665" y="2867978"/>
              <a:ext cx="109780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Test 4: FM → FM</a:t>
              </a:r>
            </a:p>
          </p:txBody>
        </p:sp>
        <p:sp>
          <p:nvSpPr>
            <p:cNvPr id="27" name="TextBox 27"/>
            <p:cNvSpPr txBox="1"/>
            <p:nvPr/>
          </p:nvSpPr>
          <p:spPr>
            <a:xfrm>
              <a:off x="6846570" y="3074670"/>
              <a:ext cx="160140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置信度: 100.0% | SNR: 12.1 dB</a:t>
              </a:r>
            </a:p>
          </p:txBody>
        </p:sp>
      </p:grpSp>
      <p:grpSp>
        <p:nvGrpSpPr>
          <p:cNvPr id="33" name="Group 33"/>
          <p:cNvGrpSpPr/>
          <p:nvPr/>
        </p:nvGrpSpPr>
        <p:grpSpPr>
          <a:xfrm>
            <a:off x="857250" y="3429000"/>
            <a:ext cx="5238750" cy="571500"/>
            <a:chOff x="857250" y="3429000"/>
            <a:chExt cx="5238750" cy="571500"/>
          </a:xfrm>
        </p:grpSpPr>
        <p:sp>
          <p:nvSpPr>
            <p:cNvPr id="29" name="Rectangle 29"/>
            <p:cNvSpPr/>
            <p:nvPr/>
          </p:nvSpPr>
          <p:spPr>
            <a:xfrm>
              <a:off x="857250" y="3429000"/>
              <a:ext cx="5238750" cy="571500"/>
            </a:xfrm>
            <a:prstGeom prst="roundRect">
              <a:avLst>
                <a:gd name="adj" fmla="val 13333"/>
              </a:avLst>
            </a:prstGeom>
            <a:solidFill>
              <a:srgbClr val="0F172A"/>
            </a:solidFill>
            <a:ln w="19050">
              <a:solidFill>
                <a:srgbClr val="10B981"/>
              </a:solidFill>
            </a:ln>
          </p:spPr>
        </p:sp>
        <p:sp>
          <p:nvSpPr>
            <p:cNvPr id="30" name="TextBox 30"/>
            <p:cNvSpPr txBox="1"/>
            <p:nvPr/>
          </p:nvSpPr>
          <p:spPr>
            <a:xfrm>
              <a:off x="1024890" y="3472815"/>
              <a:ext cx="18433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a:t>
              </a:r>
            </a:p>
          </p:txBody>
        </p:sp>
        <p:sp>
          <p:nvSpPr>
            <p:cNvPr id="31" name="TextBox 31"/>
            <p:cNvSpPr txBox="1"/>
            <p:nvPr/>
          </p:nvSpPr>
          <p:spPr>
            <a:xfrm>
              <a:off x="1415415" y="3582352"/>
              <a:ext cx="109780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Test 5: AM → AM</a:t>
              </a:r>
            </a:p>
          </p:txBody>
        </p:sp>
        <p:sp>
          <p:nvSpPr>
            <p:cNvPr id="32" name="TextBox 32"/>
            <p:cNvSpPr txBox="1"/>
            <p:nvPr/>
          </p:nvSpPr>
          <p:spPr>
            <a:xfrm>
              <a:off x="1417320" y="3789045"/>
              <a:ext cx="1601400" cy="138499"/>
            </a:xfrm>
            <a:prstGeom prst="rect">
              <a:avLst/>
            </a:prstGeom>
            <a:noFill/>
            <a:ln>
              <a:noFill/>
            </a:ln>
          </p:spPr>
          <p:txBody>
            <a:bodyPr wrap="none" lIns="0" tIns="0" rIns="0" bIns="0" anchor="t" anchorCtr="0">
              <a:spAutoFit/>
            </a:bodyPr>
            <a:lstStyle/>
            <a:p>
              <a:pPr algn="l"/>
              <a:r>
                <a:rPr lang="zh-CN" sz="900" dirty="0">
                  <a:solidFill>
                    <a:schemeClr val="bg1">
                      <a:lumMod val="65000"/>
                    </a:schemeClr>
                  </a:solidFill>
                  <a:latin typeface="Arial"/>
                  <a:ea typeface="Microsoft YaHei"/>
                  <a:cs typeface="Arial"/>
                </a:rPr>
                <a:t>置信度: 100.0% | SNR: 14.0 dB</a:t>
              </a:r>
            </a:p>
          </p:txBody>
        </p:sp>
      </p:grpSp>
      <p:sp>
        <p:nvSpPr>
          <p:cNvPr id="34" name="Rectangle 34"/>
          <p:cNvSpPr/>
          <p:nvPr/>
        </p:nvSpPr>
        <p:spPr>
          <a:xfrm>
            <a:off x="571500" y="4286250"/>
            <a:ext cx="11049000" cy="571500"/>
          </a:xfrm>
          <a:prstGeom prst="roundRect">
            <a:avLst>
              <a:gd name="adj" fmla="val 20000"/>
            </a:avLst>
          </a:prstGeom>
          <a:solidFill>
            <a:srgbClr val="10B981"/>
          </a:solidFill>
          <a:ln>
            <a:noFill/>
          </a:ln>
        </p:spPr>
      </p:sp>
      <p:sp>
        <p:nvSpPr>
          <p:cNvPr id="35" name="TextBox 35"/>
          <p:cNvSpPr txBox="1"/>
          <p:nvPr/>
        </p:nvSpPr>
        <p:spPr>
          <a:xfrm>
            <a:off x="4705869" y="4377690"/>
            <a:ext cx="2780262" cy="365760"/>
          </a:xfrm>
          <a:prstGeom prst="rect">
            <a:avLst/>
          </a:prstGeom>
          <a:noFill/>
          <a:ln>
            <a:noFill/>
          </a:ln>
        </p:spPr>
        <p:txBody>
          <a:bodyPr wrap="none" lIns="0" tIns="0" rIns="0" bIns="0" anchor="t" anchorCtr="0">
            <a:spAutoFit/>
          </a:bodyPr>
          <a:lstStyle/>
          <a:p>
            <a:pPr algn="ctr"/>
            <a:r>
              <a:rPr lang="zh-CN" sz="1800" b="1" dirty="0">
                <a:solidFill>
                  <a:srgbClr val="0F172A"/>
                </a:solidFill>
                <a:latin typeface="Arial"/>
                <a:ea typeface="Microsoft YaHei"/>
                <a:cs typeface="Arial"/>
              </a:rPr>
              <a:t>演示准确率: 5/5 (100%)</a:t>
            </a:r>
          </a:p>
        </p:txBody>
      </p:sp>
      <p:sp>
        <p:nvSpPr>
          <p:cNvPr id="36" name="Rectangle 36"/>
          <p:cNvSpPr/>
          <p:nvPr/>
        </p:nvSpPr>
        <p:spPr>
          <a:xfrm>
            <a:off x="571500" y="5143500"/>
            <a:ext cx="11049000" cy="1333500"/>
          </a:xfrm>
          <a:prstGeom prst="roundRect">
            <a:avLst>
              <a:gd name="adj" fmla="val 8571"/>
            </a:avLst>
          </a:prstGeom>
          <a:solidFill>
            <a:srgbClr val="1E293B"/>
          </a:solidFill>
          <a:ln w="9525">
            <a:solidFill>
              <a:srgbClr val="334155"/>
            </a:solidFill>
          </a:ln>
        </p:spPr>
      </p:sp>
      <p:sp>
        <p:nvSpPr>
          <p:cNvPr id="37" name="TextBox 37"/>
          <p:cNvSpPr txBox="1"/>
          <p:nvPr/>
        </p:nvSpPr>
        <p:spPr>
          <a:xfrm>
            <a:off x="840105" y="5331142"/>
            <a:ext cx="1357455" cy="274320"/>
          </a:xfrm>
          <a:prstGeom prst="rect">
            <a:avLst/>
          </a:prstGeom>
          <a:noFill/>
          <a:ln>
            <a:noFill/>
          </a:ln>
        </p:spPr>
        <p:txBody>
          <a:bodyPr wrap="none" lIns="0" tIns="0" rIns="0" bIns="0" anchor="t" anchorCtr="0">
            <a:spAutoFit/>
          </a:bodyPr>
          <a:lstStyle/>
          <a:p>
            <a:pPr algn="l"/>
            <a:r>
              <a:rPr lang="zh-CN" sz="1350" b="1" dirty="0">
                <a:solidFill>
                  <a:srgbClr val="CBD5E1"/>
                </a:solidFill>
                <a:latin typeface="Arial"/>
                <a:ea typeface="Microsoft YaHei"/>
                <a:cs typeface="Arial"/>
              </a:rPr>
              <a:t>误分类案例分析</a:t>
            </a:r>
          </a:p>
        </p:txBody>
      </p:sp>
      <p:sp>
        <p:nvSpPr>
          <p:cNvPr id="38" name="TextBox 38"/>
          <p:cNvSpPr txBox="1"/>
          <p:nvPr/>
        </p:nvSpPr>
        <p:spPr>
          <a:xfrm>
            <a:off x="843915" y="5696902"/>
            <a:ext cx="1083802" cy="213360"/>
          </a:xfrm>
          <a:prstGeom prst="rect">
            <a:avLst/>
          </a:prstGeom>
          <a:noFill/>
          <a:ln>
            <a:noFill/>
          </a:ln>
        </p:spPr>
        <p:txBody>
          <a:bodyPr wrap="none" lIns="0" tIns="0" rIns="0" bIns="0" anchor="t" anchorCtr="0">
            <a:spAutoFit/>
          </a:bodyPr>
          <a:lstStyle/>
          <a:p>
            <a:pPr algn="l"/>
            <a:r>
              <a:rPr lang="zh-CN" sz="1050" b="1" dirty="0">
                <a:solidFill>
                  <a:srgbClr val="CBD5E1"/>
                </a:solidFill>
                <a:latin typeface="Arial"/>
                <a:ea typeface="Microsoft YaHei"/>
                <a:cs typeface="Arial"/>
              </a:rPr>
              <a:t>典型误分类样本:</a:t>
            </a:r>
          </a:p>
        </p:txBody>
      </p:sp>
      <p:sp>
        <p:nvSpPr>
          <p:cNvPr id="39" name="TextBox 39"/>
          <p:cNvSpPr txBox="1"/>
          <p:nvPr/>
        </p:nvSpPr>
        <p:spPr>
          <a:xfrm>
            <a:off x="843915" y="5935028"/>
            <a:ext cx="5466240"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真实: FM | 预测: AM | 置信度: 56.0% | SNR: 11.9 dB | 载波频率: 147.6 Hz | 消息频率: 2.7 Hz</a:t>
            </a:r>
          </a:p>
        </p:txBody>
      </p:sp>
      <p:sp>
        <p:nvSpPr>
          <p:cNvPr id="40" name="TextBox 40"/>
          <p:cNvSpPr txBox="1"/>
          <p:nvPr/>
        </p:nvSpPr>
        <p:spPr>
          <a:xfrm>
            <a:off x="843915" y="6173152"/>
            <a:ext cx="410529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原因: FM信号频偏幅度较小，叠加噪声后频谱特征与AM信号高度相似</a:t>
            </a:r>
          </a:p>
        </p:txBody>
      </p:sp>
      <p:sp>
        <p:nvSpPr>
          <p:cNvPr id="41" name="TextBox 41"/>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5739289"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局限性分析 Limitations Analysis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TextBox 6"/>
          <p:cNvSpPr txBox="1"/>
          <p:nvPr/>
        </p:nvSpPr>
        <p:spPr>
          <a:xfrm>
            <a:off x="554355" y="997268"/>
            <a:ext cx="2769989" cy="207749"/>
          </a:xfrm>
          <a:prstGeom prst="rect">
            <a:avLst/>
          </a:prstGeom>
          <a:noFill/>
          <a:ln>
            <a:noFill/>
          </a:ln>
        </p:spPr>
        <p:txBody>
          <a:bodyPr wrap="none" lIns="0" tIns="0" rIns="0" bIns="0" anchor="t" anchorCtr="0">
            <a:spAutoFit/>
          </a:bodyPr>
          <a:lstStyle/>
          <a:p>
            <a:pPr algn="l"/>
            <a:r>
              <a:rPr lang="zh-CN" sz="1350" dirty="0">
                <a:solidFill>
                  <a:schemeClr val="bg1">
                    <a:lumMod val="65000"/>
                  </a:schemeClr>
                </a:solidFill>
                <a:latin typeface="Arial"/>
                <a:ea typeface="Microsoft YaHei"/>
                <a:cs typeface="Arial"/>
              </a:rPr>
              <a:t>当前研究存在的主要局限与改进方向</a:t>
            </a:r>
          </a:p>
        </p:txBody>
      </p:sp>
      <p:grpSp>
        <p:nvGrpSpPr>
          <p:cNvPr id="18" name="Group 18"/>
          <p:cNvGrpSpPr/>
          <p:nvPr/>
        </p:nvGrpSpPr>
        <p:grpSpPr>
          <a:xfrm>
            <a:off x="571500" y="1524000"/>
            <a:ext cx="5334000" cy="2667000"/>
            <a:chOff x="571500" y="1524000"/>
            <a:chExt cx="5334000" cy="2667000"/>
          </a:xfrm>
        </p:grpSpPr>
        <p:sp>
          <p:nvSpPr>
            <p:cNvPr id="7" name="Rectangle 7"/>
            <p:cNvSpPr/>
            <p:nvPr/>
          </p:nvSpPr>
          <p:spPr>
            <a:xfrm>
              <a:off x="571500" y="1524000"/>
              <a:ext cx="5334000" cy="2667000"/>
            </a:xfrm>
            <a:prstGeom prst="roundRect">
              <a:avLst>
                <a:gd name="adj" fmla="val 4286"/>
              </a:avLst>
            </a:prstGeom>
            <a:solidFill>
              <a:srgbClr val="FEF2F2"/>
            </a:solidFill>
            <a:ln w="19050">
              <a:solidFill>
                <a:srgbClr val="EF4444"/>
              </a:solidFill>
            </a:ln>
          </p:spPr>
        </p:sp>
        <p:sp>
          <p:nvSpPr>
            <p:cNvPr id="8" name="TextBox 8"/>
            <p:cNvSpPr txBox="1"/>
            <p:nvPr/>
          </p:nvSpPr>
          <p:spPr>
            <a:xfrm>
              <a:off x="744855" y="1664018"/>
              <a:ext cx="2037940" cy="274320"/>
            </a:xfrm>
            <a:prstGeom prst="rect">
              <a:avLst/>
            </a:prstGeom>
            <a:noFill/>
            <a:ln>
              <a:noFill/>
            </a:ln>
          </p:spPr>
          <p:txBody>
            <a:bodyPr wrap="none" lIns="0" tIns="0" rIns="0" bIns="0" anchor="t" anchorCtr="0">
              <a:spAutoFit/>
            </a:bodyPr>
            <a:lstStyle/>
            <a:p>
              <a:pPr algn="l"/>
              <a:r>
                <a:rPr lang="zh-CN" sz="1350" b="1" dirty="0">
                  <a:solidFill>
                    <a:srgbClr val="F87171"/>
                  </a:solidFill>
                  <a:latin typeface="Arial"/>
                  <a:ea typeface="Microsoft YaHei"/>
                  <a:cs typeface="Arial"/>
                </a:rPr>
                <a:t>局限性 1：调制方式单一</a:t>
              </a:r>
            </a:p>
          </p:txBody>
        </p:sp>
        <p:sp>
          <p:nvSpPr>
            <p:cNvPr id="9" name="Rectangle 9"/>
            <p:cNvSpPr/>
            <p:nvPr/>
          </p:nvSpPr>
          <p:spPr>
            <a:xfrm>
              <a:off x="762000" y="1952625"/>
              <a:ext cx="4953000" cy="28575"/>
            </a:xfrm>
            <a:prstGeom prst="rect">
              <a:avLst/>
            </a:prstGeom>
            <a:solidFill>
              <a:srgbClr val="F87171"/>
            </a:solidFill>
            <a:ln>
              <a:noFill/>
            </a:ln>
          </p:spPr>
        </p:sp>
        <p:sp>
          <p:nvSpPr>
            <p:cNvPr id="10" name="TextBox 10"/>
            <p:cNvSpPr txBox="1"/>
            <p:nvPr/>
          </p:nvSpPr>
          <p:spPr>
            <a:xfrm>
              <a:off x="748665" y="2172652"/>
              <a:ext cx="1620636"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目前仅支持 AM 和 FM 两种</a:t>
              </a:r>
            </a:p>
          </p:txBody>
        </p:sp>
        <p:sp>
          <p:nvSpPr>
            <p:cNvPr id="11" name="TextBox 11"/>
            <p:cNvSpPr txBox="1"/>
            <p:nvPr/>
          </p:nvSpPr>
          <p:spPr>
            <a:xfrm>
              <a:off x="748665" y="2410778"/>
              <a:ext cx="1481175"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基础模拟调制方式的识别</a:t>
              </a:r>
            </a:p>
          </p:txBody>
        </p:sp>
        <p:sp>
          <p:nvSpPr>
            <p:cNvPr id="12" name="TextBox 12"/>
            <p:cNvSpPr txBox="1"/>
            <p:nvPr/>
          </p:nvSpPr>
          <p:spPr>
            <a:xfrm>
              <a:off x="749618" y="2704624"/>
              <a:ext cx="210502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尚未覆盖现代数字通信中广泛使用的</a:t>
              </a:r>
            </a:p>
          </p:txBody>
        </p:sp>
        <p:sp>
          <p:nvSpPr>
            <p:cNvPr id="13" name="TextBox 13"/>
            <p:cNvSpPr txBox="1"/>
            <p:nvPr/>
          </p:nvSpPr>
          <p:spPr>
            <a:xfrm>
              <a:off x="749618" y="2942749"/>
              <a:ext cx="170847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高阶调制体系 (PSK, QAM等)</a:t>
              </a:r>
            </a:p>
          </p:txBody>
        </p:sp>
        <p:sp>
          <p:nvSpPr>
            <p:cNvPr id="14" name="TextBox 14"/>
            <p:cNvSpPr txBox="1"/>
            <p:nvPr/>
          </p:nvSpPr>
          <p:spPr>
            <a:xfrm>
              <a:off x="749618" y="3228499"/>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面对复杂现代无线通信信号时</a:t>
              </a:r>
            </a:p>
          </p:txBody>
        </p:sp>
        <p:sp>
          <p:nvSpPr>
            <p:cNvPr id="15" name="TextBox 15"/>
            <p:cNvSpPr txBox="1"/>
            <p:nvPr/>
          </p:nvSpPr>
          <p:spPr>
            <a:xfrm>
              <a:off x="749618" y="3466624"/>
              <a:ext cx="132492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应用场景受到明显限制</a:t>
              </a:r>
            </a:p>
          </p:txBody>
        </p:sp>
        <p:sp>
          <p:nvSpPr>
            <p:cNvPr id="16" name="TextBox 16"/>
            <p:cNvSpPr txBox="1"/>
            <p:nvPr/>
          </p:nvSpPr>
          <p:spPr>
            <a:xfrm>
              <a:off x="749618" y="3752374"/>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无法满足实际工程中多样化的</a:t>
              </a:r>
            </a:p>
          </p:txBody>
        </p:sp>
        <p:sp>
          <p:nvSpPr>
            <p:cNvPr id="17" name="TextBox 17"/>
            <p:cNvSpPr txBox="1"/>
            <p:nvPr/>
          </p:nvSpPr>
          <p:spPr>
            <a:xfrm>
              <a:off x="749618" y="3990499"/>
              <a:ext cx="804862"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信号处理需求</a:t>
              </a:r>
            </a:p>
          </p:txBody>
        </p:sp>
      </p:grpSp>
      <p:grpSp>
        <p:nvGrpSpPr>
          <p:cNvPr id="30" name="Group 30"/>
          <p:cNvGrpSpPr/>
          <p:nvPr/>
        </p:nvGrpSpPr>
        <p:grpSpPr>
          <a:xfrm>
            <a:off x="6286500" y="1524000"/>
            <a:ext cx="5334000" cy="2667000"/>
            <a:chOff x="6286500" y="1524000"/>
            <a:chExt cx="5334000" cy="2667000"/>
          </a:xfrm>
        </p:grpSpPr>
        <p:sp>
          <p:nvSpPr>
            <p:cNvPr id="19" name="Rectangle 19"/>
            <p:cNvSpPr/>
            <p:nvPr/>
          </p:nvSpPr>
          <p:spPr>
            <a:xfrm>
              <a:off x="6286500" y="1524000"/>
              <a:ext cx="5334000" cy="2667000"/>
            </a:xfrm>
            <a:prstGeom prst="roundRect">
              <a:avLst>
                <a:gd name="adj" fmla="val 4286"/>
              </a:avLst>
            </a:prstGeom>
            <a:solidFill>
              <a:srgbClr val="FEF2F2"/>
            </a:solidFill>
            <a:ln w="19050">
              <a:solidFill>
                <a:srgbClr val="EF4444"/>
              </a:solidFill>
            </a:ln>
          </p:spPr>
        </p:sp>
        <p:sp>
          <p:nvSpPr>
            <p:cNvPr id="20" name="TextBox 20"/>
            <p:cNvSpPr txBox="1"/>
            <p:nvPr/>
          </p:nvSpPr>
          <p:spPr>
            <a:xfrm>
              <a:off x="6459855" y="1664018"/>
              <a:ext cx="2274220" cy="274320"/>
            </a:xfrm>
            <a:prstGeom prst="rect">
              <a:avLst/>
            </a:prstGeom>
            <a:noFill/>
            <a:ln>
              <a:noFill/>
            </a:ln>
          </p:spPr>
          <p:txBody>
            <a:bodyPr wrap="none" lIns="0" tIns="0" rIns="0" bIns="0" anchor="t" anchorCtr="0">
              <a:spAutoFit/>
            </a:bodyPr>
            <a:lstStyle/>
            <a:p>
              <a:pPr algn="l"/>
              <a:r>
                <a:rPr lang="zh-CN" sz="1350" b="1" dirty="0">
                  <a:solidFill>
                    <a:srgbClr val="F87171"/>
                  </a:solidFill>
                  <a:latin typeface="Arial"/>
                  <a:ea typeface="Microsoft YaHei"/>
                  <a:cs typeface="Arial"/>
                </a:rPr>
                <a:t>局限性 2：信道模型理想化</a:t>
              </a:r>
            </a:p>
          </p:txBody>
        </p:sp>
        <p:sp>
          <p:nvSpPr>
            <p:cNvPr id="21" name="Rectangle 21"/>
            <p:cNvSpPr/>
            <p:nvPr/>
          </p:nvSpPr>
          <p:spPr>
            <a:xfrm>
              <a:off x="6477000" y="1952625"/>
              <a:ext cx="4953000" cy="28575"/>
            </a:xfrm>
            <a:prstGeom prst="rect">
              <a:avLst/>
            </a:prstGeom>
            <a:solidFill>
              <a:srgbClr val="F87171"/>
            </a:solidFill>
            <a:ln>
              <a:noFill/>
            </a:ln>
          </p:spPr>
        </p:sp>
        <p:sp>
          <p:nvSpPr>
            <p:cNvPr id="22" name="TextBox 22"/>
            <p:cNvSpPr txBox="1"/>
            <p:nvPr/>
          </p:nvSpPr>
          <p:spPr>
            <a:xfrm>
              <a:off x="6463665" y="2172652"/>
              <a:ext cx="170399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基于理想的 AWGN 信道假设</a:t>
              </a:r>
            </a:p>
          </p:txBody>
        </p:sp>
        <p:sp>
          <p:nvSpPr>
            <p:cNvPr id="23" name="TextBox 23"/>
            <p:cNvSpPr txBox="1"/>
            <p:nvPr/>
          </p:nvSpPr>
          <p:spPr>
            <a:xfrm>
              <a:off x="6463665" y="2410778"/>
              <a:ext cx="1481175"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未充分考虑真实无线环境</a:t>
              </a:r>
            </a:p>
          </p:txBody>
        </p:sp>
        <p:sp>
          <p:nvSpPr>
            <p:cNvPr id="24" name="TextBox 24"/>
            <p:cNvSpPr txBox="1"/>
            <p:nvPr/>
          </p:nvSpPr>
          <p:spPr>
            <a:xfrm>
              <a:off x="6464618" y="2704624"/>
              <a:ext cx="132492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多径衰落、多普勒频移</a:t>
              </a:r>
            </a:p>
          </p:txBody>
        </p:sp>
        <p:sp>
          <p:nvSpPr>
            <p:cNvPr id="25" name="TextBox 25"/>
            <p:cNvSpPr txBox="1"/>
            <p:nvPr/>
          </p:nvSpPr>
          <p:spPr>
            <a:xfrm>
              <a:off x="6464618" y="2942749"/>
              <a:ext cx="145494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随机噪声干扰等复杂因素</a:t>
              </a:r>
            </a:p>
          </p:txBody>
        </p:sp>
        <p:sp>
          <p:nvSpPr>
            <p:cNvPr id="26" name="TextBox 26"/>
            <p:cNvSpPr txBox="1"/>
            <p:nvPr/>
          </p:nvSpPr>
          <p:spPr>
            <a:xfrm>
              <a:off x="6464618" y="3228499"/>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简化处理降低了初期建模难度</a:t>
              </a:r>
            </a:p>
          </p:txBody>
        </p:sp>
        <p:sp>
          <p:nvSpPr>
            <p:cNvPr id="27" name="TextBox 27"/>
            <p:cNvSpPr txBox="1"/>
            <p:nvPr/>
          </p:nvSpPr>
          <p:spPr>
            <a:xfrm>
              <a:off x="6464618" y="3466624"/>
              <a:ext cx="171497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但导致模型在实际复杂信道下</a:t>
              </a:r>
            </a:p>
          </p:txBody>
        </p:sp>
        <p:sp>
          <p:nvSpPr>
            <p:cNvPr id="28" name="TextBox 28"/>
            <p:cNvSpPr txBox="1"/>
            <p:nvPr/>
          </p:nvSpPr>
          <p:spPr>
            <a:xfrm>
              <a:off x="6464618" y="3752374"/>
              <a:ext cx="804862"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泛化能力不足</a:t>
              </a:r>
            </a:p>
          </p:txBody>
        </p:sp>
        <p:sp>
          <p:nvSpPr>
            <p:cNvPr id="29" name="TextBox 29"/>
            <p:cNvSpPr txBox="1"/>
            <p:nvPr/>
          </p:nvSpPr>
          <p:spPr>
            <a:xfrm>
              <a:off x="6464618" y="3990499"/>
              <a:ext cx="145494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a:ea typeface="Microsoft YaHei"/>
                  <a:cs typeface="Arial"/>
                </a:rPr>
                <a:t>与工程落地应用存在差距</a:t>
              </a:r>
            </a:p>
          </p:txBody>
        </p:sp>
      </p:grpSp>
      <p:sp>
        <p:nvSpPr>
          <p:cNvPr id="31" name="Rectangle 31"/>
          <p:cNvSpPr/>
          <p:nvPr/>
        </p:nvSpPr>
        <p:spPr>
          <a:xfrm>
            <a:off x="571500" y="4381500"/>
            <a:ext cx="11049000" cy="2095500"/>
          </a:xfrm>
          <a:prstGeom prst="roundRect">
            <a:avLst>
              <a:gd name="adj" fmla="val 5455"/>
            </a:avLst>
          </a:prstGeom>
          <a:solidFill>
            <a:srgbClr val="1E293B"/>
          </a:solidFill>
          <a:ln w="9525">
            <a:solidFill>
              <a:srgbClr val="334155"/>
            </a:solidFill>
          </a:ln>
        </p:spPr>
      </p:sp>
      <p:sp>
        <p:nvSpPr>
          <p:cNvPr id="32" name="TextBox 32"/>
          <p:cNvSpPr txBox="1"/>
          <p:nvPr/>
        </p:nvSpPr>
        <p:spPr>
          <a:xfrm>
            <a:off x="838200" y="4552950"/>
            <a:ext cx="878205" cy="304800"/>
          </a:xfrm>
          <a:prstGeom prst="rect">
            <a:avLst/>
          </a:prstGeom>
          <a:noFill/>
          <a:ln>
            <a:noFill/>
          </a:ln>
        </p:spPr>
        <p:txBody>
          <a:bodyPr wrap="none" lIns="0" tIns="0" rIns="0" bIns="0" anchor="t" anchorCtr="0">
            <a:spAutoFit/>
          </a:bodyPr>
          <a:lstStyle/>
          <a:p>
            <a:pPr algn="l"/>
            <a:r>
              <a:rPr lang="zh-CN" sz="1500" b="1" dirty="0">
                <a:solidFill>
                  <a:srgbClr val="CBD5E1"/>
                </a:solidFill>
                <a:latin typeface="Arial"/>
                <a:ea typeface="Microsoft YaHei"/>
                <a:cs typeface="Arial"/>
              </a:rPr>
              <a:t>改进方向</a:t>
            </a:r>
          </a:p>
        </p:txBody>
      </p:sp>
      <p:grpSp>
        <p:nvGrpSpPr>
          <p:cNvPr id="39" name="Group 39"/>
          <p:cNvGrpSpPr/>
          <p:nvPr/>
        </p:nvGrpSpPr>
        <p:grpSpPr>
          <a:xfrm>
            <a:off x="857250" y="4953000"/>
            <a:ext cx="2476500" cy="1333500"/>
            <a:chOff x="857250" y="4953000"/>
            <a:chExt cx="2476500" cy="1333500"/>
          </a:xfrm>
        </p:grpSpPr>
        <p:sp>
          <p:nvSpPr>
            <p:cNvPr id="33" name="Rectangle 33"/>
            <p:cNvSpPr/>
            <p:nvPr/>
          </p:nvSpPr>
          <p:spPr>
            <a:xfrm>
              <a:off x="857250" y="4953000"/>
              <a:ext cx="2476500" cy="1333500"/>
            </a:xfrm>
            <a:prstGeom prst="roundRect">
              <a:avLst>
                <a:gd name="adj" fmla="val 5714"/>
              </a:avLst>
            </a:prstGeom>
            <a:solidFill>
              <a:srgbClr val="0F172A"/>
            </a:solidFill>
            <a:ln w="19050">
              <a:solidFill>
                <a:srgbClr val="2563EB"/>
              </a:solidFill>
            </a:ln>
          </p:spPr>
        </p:sp>
        <p:sp>
          <p:nvSpPr>
            <p:cNvPr id="34" name="TextBox 34"/>
            <p:cNvSpPr txBox="1"/>
            <p:nvPr/>
          </p:nvSpPr>
          <p:spPr>
            <a:xfrm>
              <a:off x="1641110" y="5077778"/>
              <a:ext cx="908780" cy="213360"/>
            </a:xfrm>
            <a:prstGeom prst="rect">
              <a:avLst/>
            </a:prstGeom>
            <a:noFill/>
            <a:ln>
              <a:noFill/>
            </a:ln>
          </p:spPr>
          <p:txBody>
            <a:bodyPr wrap="none" lIns="0" tIns="0" rIns="0" bIns="0" anchor="t" anchorCtr="0">
              <a:spAutoFit/>
            </a:bodyPr>
            <a:lstStyle/>
            <a:p>
              <a:pPr algn="ctr"/>
              <a:r>
                <a:rPr lang="zh-CN" sz="1050" b="1" dirty="0">
                  <a:gradFill>
                    <a:gsLst>
                      <a:gs pos="0">
                        <a:srgbClr val="2563EB"/>
                      </a:gs>
                      <a:gs pos="100000">
                        <a:srgbClr val="8B5CF6"/>
                      </a:gs>
                    </a:gsLst>
                    <a:lin ang="0" scaled="1"/>
                  </a:gradFill>
                  <a:latin typeface="Arial"/>
                  <a:ea typeface="Microsoft YaHei"/>
                  <a:cs typeface="Arial"/>
                </a:rPr>
                <a:t>扩展调制维度</a:t>
              </a:r>
            </a:p>
          </p:txBody>
        </p:sp>
        <p:sp>
          <p:nvSpPr>
            <p:cNvPr id="35" name="TextBox 35"/>
            <p:cNvSpPr txBox="1"/>
            <p:nvPr/>
          </p:nvSpPr>
          <p:spPr>
            <a:xfrm>
              <a:off x="1617805" y="5332095"/>
              <a:ext cx="95539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适配PSK、QAM等</a:t>
              </a:r>
            </a:p>
          </p:txBody>
        </p:sp>
        <p:sp>
          <p:nvSpPr>
            <p:cNvPr id="36" name="TextBox 36"/>
            <p:cNvSpPr txBox="1"/>
            <p:nvPr/>
          </p:nvSpPr>
          <p:spPr>
            <a:xfrm>
              <a:off x="1633835" y="5570220"/>
              <a:ext cx="92333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主流数字调制方式</a:t>
              </a:r>
            </a:p>
          </p:txBody>
        </p:sp>
        <p:sp>
          <p:nvSpPr>
            <p:cNvPr id="37" name="TextBox 37"/>
            <p:cNvSpPr txBox="1"/>
            <p:nvPr/>
          </p:nvSpPr>
          <p:spPr>
            <a:xfrm>
              <a:off x="1633835" y="5808345"/>
              <a:ext cx="92333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扩充多样化数据集</a:t>
              </a:r>
            </a:p>
          </p:txBody>
        </p:sp>
        <p:sp>
          <p:nvSpPr>
            <p:cNvPr id="38" name="TextBox 38"/>
            <p:cNvSpPr txBox="1"/>
            <p:nvPr/>
          </p:nvSpPr>
          <p:spPr>
            <a:xfrm>
              <a:off x="1576127" y="6046470"/>
              <a:ext cx="1038746"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提升技术落地普适性</a:t>
              </a:r>
            </a:p>
          </p:txBody>
        </p:sp>
      </p:grpSp>
      <p:grpSp>
        <p:nvGrpSpPr>
          <p:cNvPr id="46" name="Group 46"/>
          <p:cNvGrpSpPr/>
          <p:nvPr/>
        </p:nvGrpSpPr>
        <p:grpSpPr>
          <a:xfrm>
            <a:off x="3524250" y="4953000"/>
            <a:ext cx="2476500" cy="1333500"/>
            <a:chOff x="3524250" y="4953000"/>
            <a:chExt cx="2476500" cy="1333500"/>
          </a:xfrm>
        </p:grpSpPr>
        <p:sp>
          <p:nvSpPr>
            <p:cNvPr id="40" name="Rectangle 40"/>
            <p:cNvSpPr/>
            <p:nvPr/>
          </p:nvSpPr>
          <p:spPr>
            <a:xfrm>
              <a:off x="3524250" y="4953000"/>
              <a:ext cx="2476500" cy="1333500"/>
            </a:xfrm>
            <a:prstGeom prst="roundRect">
              <a:avLst>
                <a:gd name="adj" fmla="val 5714"/>
              </a:avLst>
            </a:prstGeom>
            <a:solidFill>
              <a:srgbClr val="0F172A"/>
            </a:solidFill>
            <a:ln w="19050">
              <a:solidFill>
                <a:srgbClr val="8B5CF6"/>
              </a:solidFill>
            </a:ln>
          </p:spPr>
        </p:sp>
        <p:sp>
          <p:nvSpPr>
            <p:cNvPr id="41" name="TextBox 41"/>
            <p:cNvSpPr txBox="1"/>
            <p:nvPr/>
          </p:nvSpPr>
          <p:spPr>
            <a:xfrm>
              <a:off x="4308110" y="5077778"/>
              <a:ext cx="908780" cy="213360"/>
            </a:xfrm>
            <a:prstGeom prst="rect">
              <a:avLst/>
            </a:prstGeom>
            <a:noFill/>
            <a:ln>
              <a:noFill/>
            </a:ln>
          </p:spPr>
          <p:txBody>
            <a:bodyPr wrap="none" lIns="0" tIns="0" rIns="0" bIns="0" anchor="t" anchorCtr="0">
              <a:spAutoFit/>
            </a:bodyPr>
            <a:lstStyle/>
            <a:p>
              <a:pPr algn="ctr"/>
              <a:r>
                <a:rPr lang="zh-CN" sz="1050" b="1" dirty="0">
                  <a:solidFill>
                    <a:srgbClr val="818CF8"/>
                  </a:solidFill>
                  <a:latin typeface="Arial"/>
                  <a:ea typeface="Microsoft YaHei"/>
                  <a:cs typeface="Arial"/>
                </a:rPr>
                <a:t>升级网络架构</a:t>
              </a:r>
            </a:p>
          </p:txBody>
        </p:sp>
        <p:sp>
          <p:nvSpPr>
            <p:cNvPr id="42" name="TextBox 42"/>
            <p:cNvSpPr txBox="1"/>
            <p:nvPr/>
          </p:nvSpPr>
          <p:spPr>
            <a:xfrm>
              <a:off x="4223891" y="5332095"/>
              <a:ext cx="1077218"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引入ResNet残差网络</a:t>
              </a:r>
            </a:p>
          </p:txBody>
        </p:sp>
        <p:sp>
          <p:nvSpPr>
            <p:cNvPr id="43" name="TextBox 43"/>
            <p:cNvSpPr txBox="1"/>
            <p:nvPr/>
          </p:nvSpPr>
          <p:spPr>
            <a:xfrm>
              <a:off x="4102063" y="5570220"/>
              <a:ext cx="1320874"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或Transformer注意力机制</a:t>
              </a:r>
            </a:p>
          </p:txBody>
        </p:sp>
        <p:sp>
          <p:nvSpPr>
            <p:cNvPr id="44" name="TextBox 44"/>
            <p:cNvSpPr txBox="1"/>
            <p:nvPr/>
          </p:nvSpPr>
          <p:spPr>
            <a:xfrm>
              <a:off x="4185419" y="5808345"/>
              <a:ext cx="1154162"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优化深层特征提取能力</a:t>
              </a:r>
            </a:p>
          </p:txBody>
        </p:sp>
        <p:sp>
          <p:nvSpPr>
            <p:cNvPr id="45" name="TextBox 45"/>
            <p:cNvSpPr txBox="1"/>
            <p:nvPr/>
          </p:nvSpPr>
          <p:spPr>
            <a:xfrm>
              <a:off x="4243126" y="6046470"/>
              <a:ext cx="1038746"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解决小样本识别瓶颈</a:t>
              </a:r>
            </a:p>
          </p:txBody>
        </p:sp>
      </p:grpSp>
      <p:grpSp>
        <p:nvGrpSpPr>
          <p:cNvPr id="53" name="Group 53"/>
          <p:cNvGrpSpPr/>
          <p:nvPr/>
        </p:nvGrpSpPr>
        <p:grpSpPr>
          <a:xfrm>
            <a:off x="6191250" y="4953000"/>
            <a:ext cx="2476500" cy="1333500"/>
            <a:chOff x="6191250" y="4953000"/>
            <a:chExt cx="2476500" cy="1333500"/>
          </a:xfrm>
        </p:grpSpPr>
        <p:sp>
          <p:nvSpPr>
            <p:cNvPr id="47" name="Rectangle 47"/>
            <p:cNvSpPr/>
            <p:nvPr/>
          </p:nvSpPr>
          <p:spPr>
            <a:xfrm>
              <a:off x="6191250" y="4953000"/>
              <a:ext cx="2476500" cy="1333500"/>
            </a:xfrm>
            <a:prstGeom prst="roundRect">
              <a:avLst>
                <a:gd name="adj" fmla="val 5714"/>
              </a:avLst>
            </a:prstGeom>
            <a:solidFill>
              <a:srgbClr val="0F172A"/>
            </a:solidFill>
            <a:ln w="19050">
              <a:solidFill>
                <a:srgbClr val="10B981"/>
              </a:solidFill>
            </a:ln>
          </p:spPr>
        </p:sp>
        <p:sp>
          <p:nvSpPr>
            <p:cNvPr id="48" name="TextBox 48"/>
            <p:cNvSpPr txBox="1"/>
            <p:nvPr/>
          </p:nvSpPr>
          <p:spPr>
            <a:xfrm>
              <a:off x="6975110" y="5077778"/>
              <a:ext cx="908780"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a:ea typeface="Microsoft YaHei"/>
                  <a:cs typeface="Arial"/>
                </a:rPr>
                <a:t>真实信道仿真</a:t>
              </a:r>
            </a:p>
          </p:txBody>
        </p:sp>
        <p:sp>
          <p:nvSpPr>
            <p:cNvPr id="49" name="TextBox 49"/>
            <p:cNvSpPr txBox="1"/>
            <p:nvPr/>
          </p:nvSpPr>
          <p:spPr>
            <a:xfrm>
              <a:off x="6894097" y="5332095"/>
              <a:ext cx="1070806"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利用NS-3等专业平台</a:t>
              </a:r>
            </a:p>
          </p:txBody>
        </p:sp>
        <p:sp>
          <p:nvSpPr>
            <p:cNvPr id="50" name="TextBox 50"/>
            <p:cNvSpPr txBox="1"/>
            <p:nvPr/>
          </p:nvSpPr>
          <p:spPr>
            <a:xfrm>
              <a:off x="6794711" y="5570220"/>
              <a:ext cx="1269578"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构建多径效应与动态干扰</a:t>
              </a:r>
            </a:p>
          </p:txBody>
        </p:sp>
        <p:sp>
          <p:nvSpPr>
            <p:cNvPr id="51" name="TextBox 51"/>
            <p:cNvSpPr txBox="1"/>
            <p:nvPr/>
          </p:nvSpPr>
          <p:spPr>
            <a:xfrm>
              <a:off x="6852419" y="5808345"/>
              <a:ext cx="1154162"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验证非理想传输条件下</a:t>
              </a:r>
            </a:p>
          </p:txBody>
        </p:sp>
        <p:sp>
          <p:nvSpPr>
            <p:cNvPr id="52" name="TextBox 52"/>
            <p:cNvSpPr txBox="1"/>
            <p:nvPr/>
          </p:nvSpPr>
          <p:spPr>
            <a:xfrm>
              <a:off x="7083251" y="6046470"/>
              <a:ext cx="692497"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模型的鲁棒性</a:t>
              </a:r>
            </a:p>
          </p:txBody>
        </p:sp>
      </p:grpSp>
      <p:grpSp>
        <p:nvGrpSpPr>
          <p:cNvPr id="60" name="Group 60"/>
          <p:cNvGrpSpPr/>
          <p:nvPr/>
        </p:nvGrpSpPr>
        <p:grpSpPr>
          <a:xfrm>
            <a:off x="8858250" y="4953000"/>
            <a:ext cx="2476500" cy="1333500"/>
            <a:chOff x="8858250" y="4953000"/>
            <a:chExt cx="2476500" cy="1333500"/>
          </a:xfrm>
        </p:grpSpPr>
        <p:sp>
          <p:nvSpPr>
            <p:cNvPr id="54" name="Rectangle 54"/>
            <p:cNvSpPr/>
            <p:nvPr/>
          </p:nvSpPr>
          <p:spPr>
            <a:xfrm>
              <a:off x="8858250" y="4953000"/>
              <a:ext cx="2476500" cy="1333500"/>
            </a:xfrm>
            <a:prstGeom prst="roundRect">
              <a:avLst>
                <a:gd name="adj" fmla="val 5714"/>
              </a:avLst>
            </a:prstGeom>
            <a:solidFill>
              <a:srgbClr val="0F172A"/>
            </a:solidFill>
            <a:ln w="19050">
              <a:solidFill>
                <a:srgbClr val="EF4444"/>
              </a:solidFill>
            </a:ln>
          </p:spPr>
        </p:sp>
        <p:sp>
          <p:nvSpPr>
            <p:cNvPr id="55" name="TextBox 55"/>
            <p:cNvSpPr txBox="1"/>
            <p:nvPr/>
          </p:nvSpPr>
          <p:spPr>
            <a:xfrm>
              <a:off x="9642110" y="5077778"/>
              <a:ext cx="908780" cy="213360"/>
            </a:xfrm>
            <a:prstGeom prst="rect">
              <a:avLst/>
            </a:prstGeom>
            <a:noFill/>
            <a:ln>
              <a:noFill/>
            </a:ln>
          </p:spPr>
          <p:txBody>
            <a:bodyPr wrap="none" lIns="0" tIns="0" rIns="0" bIns="0" anchor="t" anchorCtr="0">
              <a:spAutoFit/>
            </a:bodyPr>
            <a:lstStyle/>
            <a:p>
              <a:pPr algn="ctr"/>
              <a:r>
                <a:rPr lang="zh-CN" sz="1050" b="1" dirty="0">
                  <a:solidFill>
                    <a:srgbClr val="F87171"/>
                  </a:solidFill>
                  <a:latin typeface="Arial"/>
                  <a:ea typeface="Microsoft YaHei"/>
                  <a:cs typeface="Arial"/>
                </a:rPr>
                <a:t>端侧硬件落地</a:t>
              </a:r>
            </a:p>
          </p:txBody>
        </p:sp>
        <p:sp>
          <p:nvSpPr>
            <p:cNvPr id="56" name="TextBox 56"/>
            <p:cNvSpPr txBox="1"/>
            <p:nvPr/>
          </p:nvSpPr>
          <p:spPr>
            <a:xfrm>
              <a:off x="9519419" y="5332095"/>
              <a:ext cx="1154162"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算法轻量化与剪枝优化</a:t>
              </a:r>
            </a:p>
          </p:txBody>
        </p:sp>
        <p:sp>
          <p:nvSpPr>
            <p:cNvPr id="57" name="TextBox 57"/>
            <p:cNvSpPr txBox="1"/>
            <p:nvPr/>
          </p:nvSpPr>
          <p:spPr>
            <a:xfrm>
              <a:off x="9474535" y="5570220"/>
              <a:ext cx="124393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探索嵌入式DSP或FPGA</a:t>
              </a:r>
            </a:p>
          </p:txBody>
        </p:sp>
        <p:sp>
          <p:nvSpPr>
            <p:cNvPr id="58" name="TextBox 58"/>
            <p:cNvSpPr txBox="1"/>
            <p:nvPr/>
          </p:nvSpPr>
          <p:spPr>
            <a:xfrm>
              <a:off x="9634835" y="5808345"/>
              <a:ext cx="92333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实现低延迟低功耗</a:t>
              </a:r>
            </a:p>
          </p:txBody>
        </p:sp>
        <p:sp>
          <p:nvSpPr>
            <p:cNvPr id="59" name="TextBox 59"/>
            <p:cNvSpPr txBox="1"/>
            <p:nvPr/>
          </p:nvSpPr>
          <p:spPr>
            <a:xfrm>
              <a:off x="9634835" y="6046470"/>
              <a:ext cx="923330" cy="138499"/>
            </a:xfrm>
            <a:prstGeom prst="rect">
              <a:avLst/>
            </a:prstGeom>
            <a:noFill/>
            <a:ln>
              <a:noFill/>
            </a:ln>
          </p:spPr>
          <p:txBody>
            <a:bodyPr wrap="none" lIns="0" tIns="0" rIns="0" bIns="0" anchor="t" anchorCtr="0">
              <a:spAutoFit/>
            </a:bodyPr>
            <a:lstStyle/>
            <a:p>
              <a:pPr algn="ctr"/>
              <a:r>
                <a:rPr lang="zh-CN" sz="900" dirty="0">
                  <a:solidFill>
                    <a:schemeClr val="bg1">
                      <a:lumMod val="65000"/>
                    </a:schemeClr>
                  </a:solidFill>
                  <a:latin typeface="Arial"/>
                  <a:ea typeface="Microsoft YaHei"/>
                  <a:cs typeface="Arial"/>
                </a:rPr>
                <a:t>实时信号识别系统</a:t>
              </a:r>
            </a:p>
          </p:txBody>
        </p:sp>
      </p:grpSp>
      <p:sp>
        <p:nvSpPr>
          <p:cNvPr id="61" name="TextBox 61"/>
          <p:cNvSpPr txBox="1"/>
          <p:nvPr/>
        </p:nvSpPr>
        <p:spPr>
          <a:xfrm>
            <a:off x="560070" y="6379845"/>
            <a:ext cx="220885"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6665505"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结论与展望 Conclusion &amp; Future Work</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5334000" cy="5334000"/>
          </a:xfrm>
          <a:prstGeom prst="roundRect">
            <a:avLst>
              <a:gd name="adj" fmla="val 2143"/>
            </a:avLst>
          </a:prstGeom>
          <a:solidFill>
            <a:srgbClr val="1E293B"/>
          </a:solidFill>
          <a:ln w="9525">
            <a:solidFill>
              <a:srgbClr val="334155"/>
            </a:solidFill>
          </a:ln>
        </p:spPr>
      </p:sp>
      <p:sp>
        <p:nvSpPr>
          <p:cNvPr id="7" name="TextBox 7"/>
          <p:cNvSpPr txBox="1"/>
          <p:nvPr/>
        </p:nvSpPr>
        <p:spPr>
          <a:xfrm>
            <a:off x="836295" y="1203008"/>
            <a:ext cx="966026" cy="335280"/>
          </a:xfrm>
          <a:prstGeom prst="rect">
            <a:avLst/>
          </a:prstGeom>
          <a:noFill/>
          <a:ln>
            <a:noFill/>
          </a:ln>
        </p:spPr>
        <p:txBody>
          <a:bodyPr wrap="none" lIns="0" tIns="0" rIns="0" bIns="0" anchor="t" anchorCtr="0">
            <a:spAutoFit/>
          </a:bodyPr>
          <a:lstStyle/>
          <a:p>
            <a:pPr algn="l"/>
            <a:r>
              <a:rPr lang="zh-CN" sz="1650" b="1" dirty="0">
                <a:gradFill>
                  <a:gsLst>
                    <a:gs pos="0">
                      <a:srgbClr val="2563EB"/>
                    </a:gs>
                    <a:gs pos="100000">
                      <a:srgbClr val="8B5CF6"/>
                    </a:gs>
                  </a:gsLst>
                  <a:lin ang="0" scaled="1"/>
                </a:gradFill>
                <a:latin typeface="Arial"/>
                <a:ea typeface="Microsoft YaHei"/>
                <a:cs typeface="Arial"/>
              </a:rPr>
              <a:t>主要成果</a:t>
            </a:r>
          </a:p>
        </p:txBody>
      </p:sp>
      <p:sp>
        <p:nvSpPr>
          <p:cNvPr id="8" name="Rectangle 8"/>
          <p:cNvSpPr/>
          <p:nvPr/>
        </p:nvSpPr>
        <p:spPr>
          <a:xfrm>
            <a:off x="857250" y="1524000"/>
            <a:ext cx="762000" cy="28575"/>
          </a:xfrm>
          <a:prstGeom prst="rect">
            <a:avLst/>
          </a:prstGeom>
          <a:gradFill>
            <a:gsLst>
              <a:gs pos="0">
                <a:srgbClr val="2563EB"/>
              </a:gs>
              <a:gs pos="100000">
                <a:srgbClr val="8B5CF6"/>
              </a:gs>
            </a:gsLst>
            <a:lin ang="0" scaled="1"/>
          </a:gradFill>
          <a:ln>
            <a:noFill/>
          </a:ln>
        </p:spPr>
      </p:sp>
      <p:grpSp>
        <p:nvGrpSpPr>
          <p:cNvPr id="12" name="Group 12"/>
          <p:cNvGrpSpPr/>
          <p:nvPr/>
        </p:nvGrpSpPr>
        <p:grpSpPr>
          <a:xfrm>
            <a:off x="923925" y="1775460"/>
            <a:ext cx="2080788" cy="368275"/>
            <a:chOff x="923925" y="1775460"/>
            <a:chExt cx="2080788" cy="368275"/>
          </a:xfrm>
        </p:grpSpPr>
        <p:sp>
          <p:nvSpPr>
            <p:cNvPr id="9" name="Ellipse 9"/>
            <p:cNvSpPr/>
            <p:nvPr/>
          </p:nvSpPr>
          <p:spPr>
            <a:xfrm>
              <a:off x="923925" y="1781175"/>
              <a:ext cx="152400" cy="152400"/>
            </a:xfrm>
            <a:prstGeom prst="ellipse">
              <a:avLst/>
            </a:prstGeom>
            <a:solidFill>
              <a:srgbClr val="10B981"/>
            </a:solidFill>
            <a:ln>
              <a:noFill/>
            </a:ln>
          </p:spPr>
        </p:sp>
        <p:sp>
          <p:nvSpPr>
            <p:cNvPr id="10" name="TextBox 10"/>
            <p:cNvSpPr txBox="1"/>
            <p:nvPr/>
          </p:nvSpPr>
          <p:spPr>
            <a:xfrm>
              <a:off x="1175385" y="1775460"/>
              <a:ext cx="1038606"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信号表示创新</a:t>
              </a:r>
            </a:p>
          </p:txBody>
        </p:sp>
        <p:sp>
          <p:nvSpPr>
            <p:cNvPr id="11" name="TextBox 11"/>
            <p:cNvSpPr txBox="1"/>
            <p:nvPr/>
          </p:nvSpPr>
          <p:spPr>
            <a:xfrm>
              <a:off x="1177290" y="1982152"/>
              <a:ext cx="182742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将1D时间序列转换为2D频谱图</a:t>
              </a:r>
            </a:p>
          </p:txBody>
        </p:sp>
      </p:grpSp>
      <p:grpSp>
        <p:nvGrpSpPr>
          <p:cNvPr id="16" name="Group 16"/>
          <p:cNvGrpSpPr/>
          <p:nvPr/>
        </p:nvGrpSpPr>
        <p:grpSpPr>
          <a:xfrm>
            <a:off x="923925" y="2442210"/>
            <a:ext cx="2191396" cy="368275"/>
            <a:chOff x="923925" y="2442210"/>
            <a:chExt cx="2191396" cy="368275"/>
          </a:xfrm>
        </p:grpSpPr>
        <p:sp>
          <p:nvSpPr>
            <p:cNvPr id="13" name="Ellipse 13"/>
            <p:cNvSpPr/>
            <p:nvPr/>
          </p:nvSpPr>
          <p:spPr>
            <a:xfrm>
              <a:off x="923925" y="2447925"/>
              <a:ext cx="152400" cy="152400"/>
            </a:xfrm>
            <a:prstGeom prst="ellipse">
              <a:avLst/>
            </a:prstGeom>
            <a:solidFill>
              <a:srgbClr val="10B981"/>
            </a:solidFill>
            <a:ln>
              <a:noFill/>
            </a:ln>
          </p:spPr>
        </p:sp>
        <p:sp>
          <p:nvSpPr>
            <p:cNvPr id="14" name="TextBox 14"/>
            <p:cNvSpPr txBox="1"/>
            <p:nvPr/>
          </p:nvSpPr>
          <p:spPr>
            <a:xfrm>
              <a:off x="1175385" y="2442210"/>
              <a:ext cx="1215028"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2D CNN模型设计</a:t>
              </a:r>
            </a:p>
          </p:txBody>
        </p:sp>
        <p:sp>
          <p:nvSpPr>
            <p:cNvPr id="15" name="TextBox 15"/>
            <p:cNvSpPr txBox="1"/>
            <p:nvPr/>
          </p:nvSpPr>
          <p:spPr>
            <a:xfrm>
              <a:off x="1177290" y="2648902"/>
              <a:ext cx="193803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4层卷积 + 自适应池化 + Dropout</a:t>
              </a:r>
            </a:p>
          </p:txBody>
        </p:sp>
      </p:grpSp>
      <p:grpSp>
        <p:nvGrpSpPr>
          <p:cNvPr id="21" name="Group 21"/>
          <p:cNvGrpSpPr/>
          <p:nvPr/>
        </p:nvGrpSpPr>
        <p:grpSpPr>
          <a:xfrm>
            <a:off x="923925" y="3108960"/>
            <a:ext cx="1814690" cy="558775"/>
            <a:chOff x="923925" y="3108960"/>
            <a:chExt cx="1814690" cy="558775"/>
          </a:xfrm>
        </p:grpSpPr>
        <p:sp>
          <p:nvSpPr>
            <p:cNvPr id="17" name="Ellipse 17"/>
            <p:cNvSpPr/>
            <p:nvPr/>
          </p:nvSpPr>
          <p:spPr>
            <a:xfrm>
              <a:off x="923925" y="3114675"/>
              <a:ext cx="152400" cy="152400"/>
            </a:xfrm>
            <a:prstGeom prst="ellipse">
              <a:avLst/>
            </a:prstGeom>
            <a:solidFill>
              <a:srgbClr val="10B981"/>
            </a:solidFill>
            <a:ln>
              <a:noFill/>
            </a:ln>
          </p:spPr>
        </p:sp>
        <p:sp>
          <p:nvSpPr>
            <p:cNvPr id="18" name="TextBox 18"/>
            <p:cNvSpPr txBox="1"/>
            <p:nvPr/>
          </p:nvSpPr>
          <p:spPr>
            <a:xfrm>
              <a:off x="1175385" y="3108960"/>
              <a:ext cx="702564"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优异性能</a:t>
              </a:r>
            </a:p>
          </p:txBody>
        </p:sp>
        <p:sp>
          <p:nvSpPr>
            <p:cNvPr id="19" name="TextBox 19"/>
            <p:cNvSpPr txBox="1"/>
            <p:nvPr/>
          </p:nvSpPr>
          <p:spPr>
            <a:xfrm>
              <a:off x="1177290" y="3315652"/>
              <a:ext cx="1168590"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测试准确率 99.50%</a:t>
              </a:r>
            </a:p>
          </p:txBody>
        </p:sp>
        <p:sp>
          <p:nvSpPr>
            <p:cNvPr id="20" name="TextBox 20"/>
            <p:cNvSpPr txBox="1"/>
            <p:nvPr/>
          </p:nvSpPr>
          <p:spPr>
            <a:xfrm>
              <a:off x="1177290" y="3506152"/>
              <a:ext cx="1561325"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SNR≥5dB 时准确率 &gt;99%</a:t>
              </a:r>
            </a:p>
          </p:txBody>
        </p:sp>
      </p:grpSp>
      <p:grpSp>
        <p:nvGrpSpPr>
          <p:cNvPr id="26" name="Group 26"/>
          <p:cNvGrpSpPr/>
          <p:nvPr/>
        </p:nvGrpSpPr>
        <p:grpSpPr>
          <a:xfrm>
            <a:off x="923925" y="3775710"/>
            <a:ext cx="1877207" cy="558775"/>
            <a:chOff x="923925" y="3775710"/>
            <a:chExt cx="1877207" cy="558775"/>
          </a:xfrm>
        </p:grpSpPr>
        <p:sp>
          <p:nvSpPr>
            <p:cNvPr id="22" name="Ellipse 22"/>
            <p:cNvSpPr/>
            <p:nvPr/>
          </p:nvSpPr>
          <p:spPr>
            <a:xfrm>
              <a:off x="923925" y="3781425"/>
              <a:ext cx="152400" cy="152400"/>
            </a:xfrm>
            <a:prstGeom prst="ellipse">
              <a:avLst/>
            </a:prstGeom>
            <a:solidFill>
              <a:srgbClr val="10B981"/>
            </a:solidFill>
            <a:ln>
              <a:noFill/>
            </a:ln>
          </p:spPr>
        </p:sp>
        <p:sp>
          <p:nvSpPr>
            <p:cNvPr id="23" name="TextBox 23"/>
            <p:cNvSpPr txBox="1"/>
            <p:nvPr/>
          </p:nvSpPr>
          <p:spPr>
            <a:xfrm>
              <a:off x="1175385" y="3775710"/>
              <a:ext cx="870585"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交互式系统</a:t>
              </a:r>
            </a:p>
          </p:txBody>
        </p:sp>
        <p:sp>
          <p:nvSpPr>
            <p:cNvPr id="24" name="TextBox 24"/>
            <p:cNvSpPr txBox="1"/>
            <p:nvPr/>
          </p:nvSpPr>
          <p:spPr>
            <a:xfrm>
              <a:off x="1177290" y="3982402"/>
              <a:ext cx="1623842"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Web界面支持实时信号生成</a:t>
              </a:r>
            </a:p>
          </p:txBody>
        </p:sp>
        <p:sp>
          <p:nvSpPr>
            <p:cNvPr id="25" name="TextBox 25"/>
            <p:cNvSpPr txBox="1"/>
            <p:nvPr/>
          </p:nvSpPr>
          <p:spPr>
            <a:xfrm>
              <a:off x="1177290" y="4172902"/>
              <a:ext cx="106920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AI识别结果可视化</a:t>
              </a:r>
            </a:p>
          </p:txBody>
        </p:sp>
      </p:grpSp>
      <p:sp>
        <p:nvSpPr>
          <p:cNvPr id="27" name="Rectangle 27"/>
          <p:cNvSpPr/>
          <p:nvPr/>
        </p:nvSpPr>
        <p:spPr>
          <a:xfrm>
            <a:off x="6286500" y="1047750"/>
            <a:ext cx="5334000" cy="2667000"/>
          </a:xfrm>
          <a:prstGeom prst="roundRect">
            <a:avLst>
              <a:gd name="adj" fmla="val 4286"/>
            </a:avLst>
          </a:prstGeom>
          <a:solidFill>
            <a:srgbClr val="1E293B"/>
          </a:solidFill>
          <a:ln w="9525">
            <a:solidFill>
              <a:srgbClr val="334155"/>
            </a:solidFill>
          </a:ln>
        </p:spPr>
      </p:sp>
      <p:sp>
        <p:nvSpPr>
          <p:cNvPr id="28" name="TextBox 28"/>
          <p:cNvSpPr txBox="1"/>
          <p:nvPr/>
        </p:nvSpPr>
        <p:spPr>
          <a:xfrm>
            <a:off x="6551295" y="1203008"/>
            <a:ext cx="734997" cy="335280"/>
          </a:xfrm>
          <a:prstGeom prst="rect">
            <a:avLst/>
          </a:prstGeom>
          <a:noFill/>
          <a:ln>
            <a:noFill/>
          </a:ln>
        </p:spPr>
        <p:txBody>
          <a:bodyPr wrap="none" lIns="0" tIns="0" rIns="0" bIns="0" anchor="t" anchorCtr="0">
            <a:spAutoFit/>
          </a:bodyPr>
          <a:lstStyle/>
          <a:p>
            <a:pPr algn="l"/>
            <a:r>
              <a:rPr lang="zh-CN" sz="1650" b="1" dirty="0">
                <a:solidFill>
                  <a:srgbClr val="818CF8"/>
                </a:solidFill>
                <a:latin typeface="Arial"/>
                <a:ea typeface="Microsoft YaHei"/>
                <a:cs typeface="Arial"/>
              </a:rPr>
              <a:t>局限性</a:t>
            </a:r>
          </a:p>
        </p:txBody>
      </p:sp>
      <p:sp>
        <p:nvSpPr>
          <p:cNvPr id="29" name="Rectangle 29"/>
          <p:cNvSpPr/>
          <p:nvPr/>
        </p:nvSpPr>
        <p:spPr>
          <a:xfrm>
            <a:off x="6572250" y="1524000"/>
            <a:ext cx="762000" cy="28575"/>
          </a:xfrm>
          <a:prstGeom prst="rect">
            <a:avLst/>
          </a:prstGeom>
          <a:solidFill>
            <a:srgbClr val="818CF8"/>
          </a:solidFill>
          <a:ln>
            <a:noFill/>
          </a:ln>
        </p:spPr>
      </p:sp>
      <p:sp>
        <p:nvSpPr>
          <p:cNvPr id="30" name="TextBox 30"/>
          <p:cNvSpPr txBox="1"/>
          <p:nvPr/>
        </p:nvSpPr>
        <p:spPr>
          <a:xfrm>
            <a:off x="6558915" y="1744028"/>
            <a:ext cx="2077926"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仅支持 AM 和 FM 两种调制方式</a:t>
            </a:r>
          </a:p>
        </p:txBody>
      </p:sp>
      <p:sp>
        <p:nvSpPr>
          <p:cNvPr id="31" name="TextBox 31"/>
          <p:cNvSpPr txBox="1"/>
          <p:nvPr/>
        </p:nvSpPr>
        <p:spPr>
          <a:xfrm>
            <a:off x="6558915" y="2029778"/>
            <a:ext cx="154586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使用固定的频谱图参数</a:t>
            </a:r>
          </a:p>
        </p:txBody>
      </p:sp>
      <p:sp>
        <p:nvSpPr>
          <p:cNvPr id="32" name="TextBox 32"/>
          <p:cNvSpPr txBox="1"/>
          <p:nvPr/>
        </p:nvSpPr>
        <p:spPr>
          <a:xfrm>
            <a:off x="6558915" y="2315528"/>
            <a:ext cx="1405842"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未考虑复杂信道模型</a:t>
            </a:r>
          </a:p>
        </p:txBody>
      </p:sp>
      <p:sp>
        <p:nvSpPr>
          <p:cNvPr id="33" name="Rectangle 33"/>
          <p:cNvSpPr/>
          <p:nvPr/>
        </p:nvSpPr>
        <p:spPr>
          <a:xfrm>
            <a:off x="6286500" y="3905250"/>
            <a:ext cx="5334000" cy="2476500"/>
          </a:xfrm>
          <a:prstGeom prst="roundRect">
            <a:avLst>
              <a:gd name="adj" fmla="val 4615"/>
            </a:avLst>
          </a:prstGeom>
          <a:solidFill>
            <a:srgbClr val="1E293B"/>
          </a:solidFill>
          <a:ln w="9525">
            <a:solidFill>
              <a:srgbClr val="334155"/>
            </a:solidFill>
          </a:ln>
        </p:spPr>
      </p:sp>
      <p:sp>
        <p:nvSpPr>
          <p:cNvPr id="34" name="TextBox 34"/>
          <p:cNvSpPr txBox="1"/>
          <p:nvPr/>
        </p:nvSpPr>
        <p:spPr>
          <a:xfrm>
            <a:off x="6551295" y="4060508"/>
            <a:ext cx="966026" cy="335280"/>
          </a:xfrm>
          <a:prstGeom prst="rect">
            <a:avLst/>
          </a:prstGeom>
          <a:noFill/>
          <a:ln>
            <a:noFill/>
          </a:ln>
        </p:spPr>
        <p:txBody>
          <a:bodyPr wrap="none" lIns="0" tIns="0" rIns="0" bIns="0" anchor="t" anchorCtr="0">
            <a:spAutoFit/>
          </a:bodyPr>
          <a:lstStyle/>
          <a:p>
            <a:pPr algn="l"/>
            <a:r>
              <a:rPr lang="zh-CN" sz="1650" b="1" dirty="0">
                <a:solidFill>
                  <a:srgbClr val="F87171"/>
                </a:solidFill>
                <a:latin typeface="Arial"/>
                <a:ea typeface="Microsoft YaHei"/>
                <a:cs typeface="Arial"/>
              </a:rPr>
              <a:t>未来工作</a:t>
            </a:r>
          </a:p>
        </p:txBody>
      </p:sp>
      <p:sp>
        <p:nvSpPr>
          <p:cNvPr id="35" name="Rectangle 35"/>
          <p:cNvSpPr/>
          <p:nvPr/>
        </p:nvSpPr>
        <p:spPr>
          <a:xfrm>
            <a:off x="6572250" y="4381500"/>
            <a:ext cx="762000" cy="28575"/>
          </a:xfrm>
          <a:prstGeom prst="rect">
            <a:avLst/>
          </a:prstGeom>
          <a:solidFill>
            <a:srgbClr val="F87171"/>
          </a:solidFill>
          <a:ln>
            <a:noFill/>
          </a:ln>
        </p:spPr>
      </p:sp>
      <p:sp>
        <p:nvSpPr>
          <p:cNvPr id="36" name="TextBox 36"/>
          <p:cNvSpPr txBox="1"/>
          <p:nvPr/>
        </p:nvSpPr>
        <p:spPr>
          <a:xfrm>
            <a:off x="6558915" y="4601528"/>
            <a:ext cx="2378964"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扩展到更多调制方式 (PSK, QAM等)</a:t>
            </a:r>
          </a:p>
        </p:txBody>
      </p:sp>
      <p:sp>
        <p:nvSpPr>
          <p:cNvPr id="37" name="TextBox 37"/>
          <p:cNvSpPr txBox="1"/>
          <p:nvPr/>
        </p:nvSpPr>
        <p:spPr>
          <a:xfrm>
            <a:off x="6558915" y="4887278"/>
            <a:ext cx="3149060"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使用更先进的CNN架构 (ResNet, Transformer)</a:t>
            </a:r>
          </a:p>
        </p:txBody>
      </p:sp>
      <p:sp>
        <p:nvSpPr>
          <p:cNvPr id="38" name="TextBox 38"/>
          <p:cNvSpPr txBox="1"/>
          <p:nvPr/>
        </p:nvSpPr>
        <p:spPr>
          <a:xfrm>
            <a:off x="6558915" y="5173028"/>
            <a:ext cx="238596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增加数据增强技术，减少过拟合风险</a:t>
            </a:r>
          </a:p>
        </p:txBody>
      </p:sp>
      <p:sp>
        <p:nvSpPr>
          <p:cNvPr id="39" name="TextBox 39"/>
          <p:cNvSpPr txBox="1"/>
          <p:nvPr/>
        </p:nvSpPr>
        <p:spPr>
          <a:xfrm>
            <a:off x="6558915" y="5458778"/>
            <a:ext cx="1825895"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考虑多径衰落和多普勒频移</a:t>
            </a:r>
          </a:p>
        </p:txBody>
      </p:sp>
      <p:sp>
        <p:nvSpPr>
          <p:cNvPr id="40" name="TextBox 40"/>
          <p:cNvSpPr txBox="1"/>
          <p:nvPr/>
        </p:nvSpPr>
        <p:spPr>
          <a:xfrm>
            <a:off x="6558915" y="5744528"/>
            <a:ext cx="2715006" cy="213360"/>
          </a:xfrm>
          <a:prstGeom prst="rect">
            <a:avLst/>
          </a:prstGeom>
          <a:noFill/>
          <a:ln>
            <a:noFill/>
          </a:ln>
        </p:spPr>
        <p:txBody>
          <a:bodyPr wrap="none" lIns="0" tIns="0" rIns="0" bIns="0" anchor="t" anchorCtr="0">
            <a:spAutoFit/>
          </a:bodyPr>
          <a:lstStyle/>
          <a:p>
            <a:pPr algn="l"/>
            <a:r>
              <a:rPr lang="zh-CN" sz="1050" dirty="0">
                <a:solidFill>
                  <a:srgbClr val="CBD5E1"/>
                </a:solidFill>
                <a:latin typeface="Arial"/>
                <a:ea typeface="Microsoft YaHei"/>
                <a:cs typeface="Arial"/>
              </a:rPr>
              <a:t>• 使用Verilog语言实现模型，验证硬件性能</a:t>
            </a:r>
          </a:p>
        </p:txBody>
      </p:sp>
      <p:sp>
        <p:nvSpPr>
          <p:cNvPr id="41" name="TextBox 41"/>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76200"/>
          </a:xfrm>
          <a:prstGeom prst="rect">
            <a:avLst/>
          </a:prstGeom>
          <a:gradFill>
            <a:gsLst>
              <a:gs pos="0">
                <a:srgbClr val="2563EB"/>
              </a:gs>
              <a:gs pos="100000">
                <a:srgbClr val="8B5CF6"/>
              </a:gs>
            </a:gsLst>
            <a:lin ang="0" scaled="1"/>
          </a:gradFill>
          <a:ln>
            <a:noFill/>
          </a:ln>
        </p:spPr>
      </p:sp>
      <p:sp>
        <p:nvSpPr>
          <p:cNvPr id="4" name="TextBox 4"/>
          <p:cNvSpPr txBox="1"/>
          <p:nvPr/>
        </p:nvSpPr>
        <p:spPr>
          <a:xfrm>
            <a:off x="537210" y="280035"/>
            <a:ext cx="3773443" cy="548640"/>
          </a:xfrm>
          <a:prstGeom prst="rect">
            <a:avLst/>
          </a:prstGeom>
          <a:noFill/>
          <a:ln>
            <a:noFill/>
          </a:ln>
        </p:spPr>
        <p:txBody>
          <a:bodyPr wrap="none" lIns="0" tIns="0" rIns="0" bIns="0" anchor="t" anchorCtr="0">
            <a:spAutoFit/>
          </a:bodyPr>
          <a:lstStyle/>
          <a:p>
            <a:pPr algn="l"/>
            <a:r>
              <a:rPr lang="zh-CN" sz="2700" b="1" dirty="0">
                <a:solidFill>
                  <a:srgbClr val="CBD5E1"/>
                </a:solidFill>
                <a:latin typeface="Arial"/>
                <a:ea typeface="Microsoft YaHei"/>
                <a:cs typeface="Arial"/>
              </a:rPr>
              <a:t>参考文献 References</a:t>
            </a:r>
          </a:p>
        </p:txBody>
      </p:sp>
      <p:sp>
        <p:nvSpPr>
          <p:cNvPr id="5" name="Rectangle 5"/>
          <p:cNvSpPr/>
          <p:nvPr/>
        </p:nvSpPr>
        <p:spPr>
          <a:xfrm>
            <a:off x="571500" y="714375"/>
            <a:ext cx="762000" cy="38100"/>
          </a:xfrm>
          <a:prstGeom prst="rect">
            <a:avLst/>
          </a:prstGeom>
          <a:gradFill>
            <a:gsLst>
              <a:gs pos="0">
                <a:srgbClr val="2563EB"/>
              </a:gs>
              <a:gs pos="100000">
                <a:srgbClr val="8B5CF6"/>
              </a:gs>
            </a:gsLst>
            <a:lin ang="0" scaled="1"/>
          </a:gradFill>
          <a:ln>
            <a:noFill/>
          </a:ln>
        </p:spPr>
      </p:sp>
      <p:sp>
        <p:nvSpPr>
          <p:cNvPr id="6" name="Rectangle 6"/>
          <p:cNvSpPr/>
          <p:nvPr/>
        </p:nvSpPr>
        <p:spPr>
          <a:xfrm>
            <a:off x="571500" y="1047750"/>
            <a:ext cx="11049000" cy="5334000"/>
          </a:xfrm>
          <a:prstGeom prst="roundRect">
            <a:avLst>
              <a:gd name="adj" fmla="val 2143"/>
            </a:avLst>
          </a:prstGeom>
          <a:solidFill>
            <a:srgbClr val="1E293B"/>
          </a:solidFill>
          <a:ln w="9525">
            <a:solidFill>
              <a:srgbClr val="334155"/>
            </a:solidFill>
          </a:ln>
        </p:spPr>
      </p:sp>
      <p:sp>
        <p:nvSpPr>
          <p:cNvPr id="7" name="TextBox 7"/>
          <p:cNvSpPr txBox="1"/>
          <p:nvPr/>
        </p:nvSpPr>
        <p:spPr>
          <a:xfrm>
            <a:off x="842010" y="1299210"/>
            <a:ext cx="6887337"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[1] Proakis, J. G., &amp; Salehi, M. (2007). Digital Communications (5th ed.). McGraw-Hill.</a:t>
            </a:r>
          </a:p>
        </p:txBody>
      </p:sp>
      <p:sp>
        <p:nvSpPr>
          <p:cNvPr id="8" name="TextBox 8"/>
          <p:cNvSpPr txBox="1"/>
          <p:nvPr/>
        </p:nvSpPr>
        <p:spPr>
          <a:xfrm>
            <a:off x="842010" y="1775460"/>
            <a:ext cx="5991225"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[2] Haykin, S. (2001). Communication Systems (4th ed.). John Wiley &amp; Sons.</a:t>
            </a:r>
          </a:p>
        </p:txBody>
      </p:sp>
      <p:sp>
        <p:nvSpPr>
          <p:cNvPr id="9" name="TextBox 9"/>
          <p:cNvSpPr txBox="1"/>
          <p:nvPr/>
        </p:nvSpPr>
        <p:spPr>
          <a:xfrm>
            <a:off x="842010" y="2251710"/>
            <a:ext cx="7591425"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[3] O'Shea, T. J., &amp; Hoydis, J. (2017). An Introduction to Deep Learning for the Physical Layer.</a:t>
            </a:r>
          </a:p>
        </p:txBody>
      </p:sp>
      <p:sp>
        <p:nvSpPr>
          <p:cNvPr id="10" name="TextBox 10"/>
          <p:cNvSpPr txBox="1"/>
          <p:nvPr/>
        </p:nvSpPr>
        <p:spPr>
          <a:xfrm>
            <a:off x="1129665" y="2506028"/>
            <a:ext cx="3961021"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IEEE Transactions on Cognitive Communications and Networking.</a:t>
            </a:r>
          </a:p>
        </p:txBody>
      </p:sp>
      <p:sp>
        <p:nvSpPr>
          <p:cNvPr id="11" name="TextBox 11"/>
          <p:cNvSpPr txBox="1"/>
          <p:nvPr/>
        </p:nvSpPr>
        <p:spPr>
          <a:xfrm>
            <a:off x="842010" y="2966085"/>
            <a:ext cx="6343269"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[4] Goodfellow, I., Bengio, Y., &amp; Courville, A. (2016). Deep Learning. MIT Press.</a:t>
            </a:r>
          </a:p>
        </p:txBody>
      </p:sp>
      <p:sp>
        <p:nvSpPr>
          <p:cNvPr id="12" name="TextBox 12"/>
          <p:cNvSpPr txBox="1"/>
          <p:nvPr/>
        </p:nvSpPr>
        <p:spPr>
          <a:xfrm>
            <a:off x="842010" y="3442335"/>
            <a:ext cx="4479036"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[5] PyTorch Documentation. https://pytorch.org/docs/</a:t>
            </a:r>
          </a:p>
        </p:txBody>
      </p:sp>
      <p:sp>
        <p:nvSpPr>
          <p:cNvPr id="13" name="TextBox 13"/>
          <p:cNvSpPr txBox="1"/>
          <p:nvPr/>
        </p:nvSpPr>
        <p:spPr>
          <a:xfrm>
            <a:off x="842010" y="3918585"/>
            <a:ext cx="4679061"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[6] Scikit-learn Documentation. https://scikit-learn.org/</a:t>
            </a:r>
          </a:p>
        </p:txBody>
      </p:sp>
      <p:sp>
        <p:nvSpPr>
          <p:cNvPr id="14" name="Rectangle 14"/>
          <p:cNvSpPr/>
          <p:nvPr/>
        </p:nvSpPr>
        <p:spPr>
          <a:xfrm>
            <a:off x="857250" y="4572000"/>
            <a:ext cx="10382250" cy="1428750"/>
          </a:xfrm>
          <a:prstGeom prst="roundRect">
            <a:avLst>
              <a:gd name="adj" fmla="val 8000"/>
            </a:avLst>
          </a:prstGeom>
          <a:solidFill>
            <a:srgbClr val="EFF6FF"/>
          </a:solidFill>
          <a:ln w="19050">
            <a:solidFill>
              <a:srgbClr val="2563EB"/>
            </a:solidFill>
          </a:ln>
        </p:spPr>
      </p:sp>
      <p:sp>
        <p:nvSpPr>
          <p:cNvPr id="15" name="TextBox 15"/>
          <p:cNvSpPr txBox="1"/>
          <p:nvPr/>
        </p:nvSpPr>
        <p:spPr>
          <a:xfrm>
            <a:off x="1125855" y="4759642"/>
            <a:ext cx="790384" cy="274320"/>
          </a:xfrm>
          <a:prstGeom prst="rect">
            <a:avLst/>
          </a:prstGeom>
          <a:noFill/>
          <a:ln>
            <a:noFill/>
          </a:ln>
        </p:spPr>
        <p:txBody>
          <a:bodyPr wrap="none" lIns="0" tIns="0" rIns="0" bIns="0" anchor="t" anchorCtr="0">
            <a:spAutoFit/>
          </a:bodyPr>
          <a:lstStyle/>
          <a:p>
            <a:pPr algn="l"/>
            <a:r>
              <a:rPr lang="zh-CN" sz="1350" b="1" dirty="0">
                <a:gradFill>
                  <a:gsLst>
                    <a:gs pos="0">
                      <a:srgbClr val="2563EB"/>
                    </a:gs>
                    <a:gs pos="100000">
                      <a:srgbClr val="8B5CF6"/>
                    </a:gs>
                  </a:gsLst>
                  <a:lin ang="0" scaled="1"/>
                </a:gradFill>
                <a:latin typeface="Arial"/>
                <a:ea typeface="Microsoft YaHei"/>
                <a:cs typeface="Arial"/>
              </a:rPr>
              <a:t>论文总结</a:t>
            </a:r>
          </a:p>
        </p:txBody>
      </p:sp>
      <p:sp>
        <p:nvSpPr>
          <p:cNvPr id="16" name="TextBox 16"/>
          <p:cNvSpPr txBox="1"/>
          <p:nvPr/>
        </p:nvSpPr>
        <p:spPr>
          <a:xfrm>
            <a:off x="1129665" y="5125402"/>
            <a:ext cx="6129883"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本项目实现了一个基于2D CNN的AM/FM调制方式自动识别系统，通过将1D时域信号转换为2D频谱图，</a:t>
            </a:r>
          </a:p>
        </p:txBody>
      </p:sp>
      <p:sp>
        <p:nvSpPr>
          <p:cNvPr id="17" name="TextBox 17"/>
          <p:cNvSpPr txBox="1"/>
          <p:nvPr/>
        </p:nvSpPr>
        <p:spPr>
          <a:xfrm>
            <a:off x="1129665" y="5363528"/>
            <a:ext cx="5289910"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利用CNN的空间特征提取能力进行调制方式识别。实验结果表明，在AWGN信道条件下，</a:t>
            </a:r>
          </a:p>
        </p:txBody>
      </p:sp>
      <p:sp>
        <p:nvSpPr>
          <p:cNvPr id="18" name="TextBox 18"/>
          <p:cNvSpPr txBox="1"/>
          <p:nvPr/>
        </p:nvSpPr>
        <p:spPr>
          <a:xfrm>
            <a:off x="1129665" y="5601652"/>
            <a:ext cx="4445128" cy="161583"/>
          </a:xfrm>
          <a:prstGeom prst="rect">
            <a:avLst/>
          </a:prstGeom>
          <a:noFill/>
          <a:ln>
            <a:noFill/>
          </a:ln>
        </p:spPr>
        <p:txBody>
          <a:bodyPr wrap="none" lIns="0" tIns="0" rIns="0" bIns="0" anchor="t" anchorCtr="0">
            <a:spAutoFit/>
          </a:bodyPr>
          <a:lstStyle/>
          <a:p>
            <a:pPr algn="l"/>
            <a:r>
              <a:rPr lang="zh-CN" sz="1050" dirty="0">
                <a:solidFill>
                  <a:schemeClr val="bg1">
                    <a:lumMod val="65000"/>
                  </a:schemeClr>
                </a:solidFill>
                <a:latin typeface="Arial"/>
                <a:ea typeface="Microsoft YaHei"/>
                <a:cs typeface="Arial"/>
              </a:rPr>
              <a:t>模型识别准确率可达99%以上，为无线通信信号智能识别提供了新的思路。</a:t>
            </a:r>
          </a:p>
        </p:txBody>
      </p:sp>
      <p:sp>
        <p:nvSpPr>
          <p:cNvPr id="19" name="TextBox 19"/>
          <p:cNvSpPr txBox="1"/>
          <p:nvPr/>
        </p:nvSpPr>
        <p:spPr>
          <a:xfrm>
            <a:off x="560070" y="6379845"/>
            <a:ext cx="190881"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a:ea typeface="Microsoft YaHei"/>
                <a:cs typeface="Arial"/>
              </a:rPr>
              <a:t>P15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4146</Words>
  <Application>Microsoft Office PowerPoint</Application>
  <PresentationFormat>宽屏</PresentationFormat>
  <Paragraphs>664</Paragraphs>
  <Slides>24</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Arial</vt:lpstr>
      <vt:lpstr>Calibri</vt:lpstr>
      <vt:lpstr>Cambria Math</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8617768395937</cp:lastModifiedBy>
  <cp:revision>11</cp:revision>
  <dcterms:created xsi:type="dcterms:W3CDTF">2013-01-27T09:14:16Z</dcterms:created>
  <dcterms:modified xsi:type="dcterms:W3CDTF">2026-05-31T02:09:58Z</dcterms:modified>
  <cp:category/>
</cp:coreProperties>
</file>